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Default Extension="gif" ContentType="image/gif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61" r:id="rId5"/>
    <p:sldId id="262" r:id="rId6"/>
    <p:sldId id="259" r:id="rId7"/>
    <p:sldId id="271" r:id="rId8"/>
    <p:sldId id="264" r:id="rId9"/>
    <p:sldId id="274" r:id="rId10"/>
    <p:sldId id="272" r:id="rId11"/>
    <p:sldId id="273" r:id="rId12"/>
    <p:sldId id="275" r:id="rId13"/>
    <p:sldId id="276" r:id="rId14"/>
    <p:sldId id="277" r:id="rId15"/>
    <p:sldId id="278" r:id="rId16"/>
    <p:sldId id="279" r:id="rId17"/>
    <p:sldId id="280" r:id="rId18"/>
    <p:sldId id="282" r:id="rId19"/>
    <p:sldId id="281" r:id="rId20"/>
    <p:sldId id="263" r:id="rId21"/>
    <p:sldId id="270" r:id="rId22"/>
    <p:sldId id="265" r:id="rId23"/>
    <p:sldId id="266" r:id="rId24"/>
    <p:sldId id="267" r:id="rId25"/>
    <p:sldId id="268" r:id="rId26"/>
    <p:sldId id="269" r:id="rId27"/>
  </p:sldIdLst>
  <p:sldSz cx="9144000" cy="6858000" type="screen4x3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62722" autoAdjust="0"/>
  </p:normalViewPr>
  <p:slideViewPr>
    <p:cSldViewPr>
      <p:cViewPr varScale="1">
        <p:scale>
          <a:sx n="69" d="100"/>
          <a:sy n="69" d="100"/>
        </p:scale>
        <p:origin x="-1500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EEE7242-C745-477B-A1DA-2F8220FA0AAC}" type="datetimeFigureOut">
              <a:rPr lang="nb-NO" smtClean="0"/>
              <a:pPr/>
              <a:t>07.05.2010</a:t>
            </a:fld>
            <a:endParaRPr lang="nb-N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CD3C91-4279-4364-AB79-605A557812F6}" type="slidenum">
              <a:rPr lang="nb-NO" smtClean="0"/>
              <a:pPr/>
              <a:t>‹#›</a:t>
            </a:fld>
            <a:endParaRPr lang="nb-N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CD3C91-4279-4364-AB79-605A557812F6}" type="slidenum">
              <a:rPr lang="nb-NO" smtClean="0"/>
              <a:pPr/>
              <a:t>1</a:t>
            </a:fld>
            <a:endParaRPr lang="nb-NO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CD3C91-4279-4364-AB79-605A557812F6}" type="slidenum">
              <a:rPr lang="nb-NO" smtClean="0"/>
              <a:pPr/>
              <a:t>2</a:t>
            </a:fld>
            <a:endParaRPr lang="nb-NO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CD3C91-4279-4364-AB79-605A557812F6}" type="slidenum">
              <a:rPr lang="nb-NO" smtClean="0"/>
              <a:pPr/>
              <a:t>3</a:t>
            </a:fld>
            <a:endParaRPr lang="nb-NO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en-US" dirty="0" err="1" smtClean="0"/>
              <a:t>Eksempler</a:t>
            </a:r>
            <a:r>
              <a:rPr lang="en-US" dirty="0" smtClean="0"/>
              <a:t>:</a:t>
            </a:r>
          </a:p>
          <a:p>
            <a:r>
              <a:rPr lang="en-US" dirty="0" smtClean="0"/>
              <a:t>CS</a:t>
            </a:r>
            <a:r>
              <a:rPr lang="en-US" baseline="0" dirty="0" smtClean="0"/>
              <a:t> – </a:t>
            </a:r>
            <a:r>
              <a:rPr lang="en-US" baseline="0" dirty="0" err="1" smtClean="0"/>
              <a:t>Kunde</a:t>
            </a:r>
            <a:r>
              <a:rPr lang="nb-NO" baseline="0" dirty="0" smtClean="0"/>
              <a:t>, Ordre, Produkt</a:t>
            </a:r>
          </a:p>
          <a:p>
            <a:r>
              <a:rPr lang="nb-NO" baseline="0" dirty="0" smtClean="0"/>
              <a:t>ACS – Kundeoversikt, Ordredetaljer, </a:t>
            </a:r>
            <a:r>
              <a:rPr lang="nb-NO" baseline="0" dirty="0" err="1" smtClean="0"/>
              <a:t>Produktsøk</a:t>
            </a:r>
            <a:endParaRPr lang="nb-NO" baseline="0" dirty="0" smtClean="0"/>
          </a:p>
          <a:p>
            <a:r>
              <a:rPr lang="nb-NO" baseline="0" dirty="0" smtClean="0"/>
              <a:t>A2A – Bestilling</a:t>
            </a:r>
          </a:p>
          <a:p>
            <a:r>
              <a:rPr lang="nb-NO" baseline="0" dirty="0" smtClean="0"/>
              <a:t>H2A – Forhandlerportal, Min Side, Internettsider</a:t>
            </a:r>
          </a:p>
          <a:p>
            <a:endParaRPr lang="en-US" baseline="0" dirty="0" smtClean="0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DAB7F42-E240-4EAB-8B2B-9FF1C83EFBD6}" type="slidenum">
              <a:rPr lang="nb-NO" smtClean="0"/>
              <a:pPr/>
              <a:t>4</a:t>
            </a:fld>
            <a:endParaRPr lang="nb-NO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6A87AA-AE3E-4A57-9514-EBC1D4B73C00}" type="slidenum">
              <a:rPr lang="nb-NO" smtClean="0"/>
              <a:pPr>
                <a:defRPr/>
              </a:pPr>
              <a:t>5</a:t>
            </a:fld>
            <a:endParaRPr lang="nb-NO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CD3C91-4279-4364-AB79-605A557812F6}" type="slidenum">
              <a:rPr lang="nb-NO" smtClean="0"/>
              <a:pPr/>
              <a:t>6</a:t>
            </a:fld>
            <a:endParaRPr lang="nb-NO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CD3C91-4279-4364-AB79-605A557812F6}" type="slidenum">
              <a:rPr lang="nb-NO" smtClean="0"/>
              <a:pPr/>
              <a:t>7</a:t>
            </a:fld>
            <a:endParaRPr lang="nb-NO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nb-NO" smtClean="0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9916E02-4BB4-45E8-BCA4-042D511C2090}" type="slidenum">
              <a:rPr lang="nb-NO" smtClean="0"/>
              <a:pPr/>
              <a:t>8</a:t>
            </a:fld>
            <a:endParaRPr lang="nb-NO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CD3C91-4279-4364-AB79-605A557812F6}" type="slidenum">
              <a:rPr lang="nb-NO" smtClean="0"/>
              <a:pPr/>
              <a:t>9</a:t>
            </a:fld>
            <a:endParaRPr lang="nb-NO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nb-NO" dirty="0" smtClean="0"/>
              <a:t>Bedre</a:t>
            </a:r>
            <a:r>
              <a:rPr lang="nb-NO" baseline="0" dirty="0" smtClean="0"/>
              <a:t> innsikt i kjernedata:</a:t>
            </a:r>
          </a:p>
          <a:p>
            <a:pPr>
              <a:buFontTx/>
              <a:buChar char="-"/>
            </a:pPr>
            <a:r>
              <a:rPr lang="nb-NO" baseline="0" dirty="0" smtClean="0"/>
              <a:t>Enhetlig rapportering, kapasitetsplanlegging, </a:t>
            </a:r>
            <a:r>
              <a:rPr lang="nb-NO" baseline="0" dirty="0" err="1" smtClean="0"/>
              <a:t>transaksjonell</a:t>
            </a:r>
            <a:r>
              <a:rPr lang="nb-NO" baseline="0" dirty="0" smtClean="0"/>
              <a:t> effektivitet.</a:t>
            </a:r>
          </a:p>
          <a:p>
            <a:pPr>
              <a:buFontTx/>
              <a:buChar char="-"/>
            </a:pPr>
            <a:endParaRPr lang="nb-NO" baseline="0" dirty="0" smtClean="0"/>
          </a:p>
          <a:p>
            <a:pPr>
              <a:buFontTx/>
              <a:buNone/>
            </a:pPr>
            <a:r>
              <a:rPr lang="nb-NO" baseline="0" dirty="0" smtClean="0"/>
              <a:t>Data </a:t>
            </a:r>
            <a:r>
              <a:rPr lang="nb-NO" baseline="0" dirty="0" err="1" smtClean="0"/>
              <a:t>Mastering</a:t>
            </a:r>
            <a:r>
              <a:rPr lang="nb-NO" baseline="0" dirty="0" smtClean="0"/>
              <a:t> strategi:</a:t>
            </a:r>
          </a:p>
          <a:p>
            <a:pPr>
              <a:buFontTx/>
              <a:buChar char="-"/>
            </a:pPr>
            <a:r>
              <a:rPr lang="nb-NO" baseline="0" dirty="0" smtClean="0"/>
              <a:t>Med EDR kan du automatisk oppdage </a:t>
            </a:r>
            <a:r>
              <a:rPr lang="nb-NO" baseline="0" dirty="0" err="1" smtClean="0"/>
              <a:t>inkosistens</a:t>
            </a:r>
            <a:r>
              <a:rPr lang="nb-NO" baseline="0" dirty="0" smtClean="0"/>
              <a:t> i data mellom systemene dine. Du kan bli varslet om disse dataforskjellene, eller du kan automatisk endre data direkte ned i </a:t>
            </a:r>
            <a:r>
              <a:rPr lang="nb-NO" baseline="0" dirty="0" err="1" smtClean="0"/>
              <a:t>produksjonsystemene</a:t>
            </a:r>
            <a:r>
              <a:rPr lang="nb-NO" baseline="0" dirty="0" smtClean="0"/>
              <a:t>. Det blir ikke ett </a:t>
            </a:r>
            <a:r>
              <a:rPr lang="nb-NO" baseline="0" dirty="0" err="1" smtClean="0"/>
              <a:t>produksjonssytem</a:t>
            </a:r>
            <a:r>
              <a:rPr lang="nb-NO" baseline="0" dirty="0" smtClean="0"/>
              <a:t> som eier dataene, du setter selve Business </a:t>
            </a:r>
            <a:r>
              <a:rPr lang="nb-NO" baseline="0" dirty="0" err="1" smtClean="0"/>
              <a:t>Domain</a:t>
            </a:r>
            <a:r>
              <a:rPr lang="nb-NO" baseline="0" dirty="0" smtClean="0"/>
              <a:t> </a:t>
            </a:r>
            <a:r>
              <a:rPr lang="nb-NO" baseline="0" dirty="0" err="1" smtClean="0"/>
              <a:t>Object</a:t>
            </a:r>
            <a:r>
              <a:rPr lang="nb-NO" baseline="0" dirty="0" smtClean="0"/>
              <a:t> som eier av dataene. Så blir det de andre systemene som må forholde seg til DINE </a:t>
            </a:r>
            <a:r>
              <a:rPr lang="nb-NO" baseline="0" dirty="0" err="1" smtClean="0"/>
              <a:t>data-mastering</a:t>
            </a:r>
            <a:r>
              <a:rPr lang="nb-NO" baseline="0" dirty="0" smtClean="0"/>
              <a:t> regler.</a:t>
            </a:r>
          </a:p>
          <a:p>
            <a:pPr>
              <a:buFontTx/>
              <a:buChar char="-"/>
            </a:pPr>
            <a:endParaRPr lang="nb-NO" baseline="0" dirty="0" smtClean="0"/>
          </a:p>
          <a:p>
            <a:pPr>
              <a:buFontTx/>
              <a:buNone/>
            </a:pPr>
            <a:r>
              <a:rPr lang="nb-NO" baseline="0" dirty="0" smtClean="0"/>
              <a:t>Forbedret datakvalitet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CD3C91-4279-4364-AB79-605A557812F6}" type="slidenum">
              <a:rPr lang="nb-NO" smtClean="0"/>
              <a:pPr/>
              <a:t>10</a:t>
            </a:fld>
            <a:endParaRPr lang="nb-NO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CD3C91-4279-4364-AB79-605A557812F6}" type="slidenum">
              <a:rPr lang="nb-NO" smtClean="0"/>
              <a:pPr/>
              <a:t>11</a:t>
            </a:fld>
            <a:endParaRPr lang="nb-NO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CD3C91-4279-4364-AB79-605A557812F6}" type="slidenum">
              <a:rPr lang="nb-NO" smtClean="0"/>
              <a:pPr/>
              <a:t>12</a:t>
            </a:fld>
            <a:endParaRPr lang="nb-NO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CD3C91-4279-4364-AB79-605A557812F6}" type="slidenum">
              <a:rPr lang="nb-NO" smtClean="0"/>
              <a:pPr/>
              <a:t>13</a:t>
            </a:fld>
            <a:endParaRPr lang="nb-NO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CD3C91-4279-4364-AB79-605A557812F6}" type="slidenum">
              <a:rPr lang="nb-NO" smtClean="0"/>
              <a:pPr/>
              <a:t>14</a:t>
            </a:fld>
            <a:endParaRPr lang="nb-NO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CD3C91-4279-4364-AB79-605A557812F6}" type="slidenum">
              <a:rPr lang="nb-NO" smtClean="0"/>
              <a:pPr/>
              <a:t>15</a:t>
            </a:fld>
            <a:endParaRPr lang="nb-NO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CD3C91-4279-4364-AB79-605A557812F6}" type="slidenum">
              <a:rPr lang="nb-NO" smtClean="0"/>
              <a:pPr/>
              <a:t>16</a:t>
            </a:fld>
            <a:endParaRPr lang="nb-NO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CD3C91-4279-4364-AB79-605A557812F6}" type="slidenum">
              <a:rPr lang="nb-NO" smtClean="0"/>
              <a:pPr/>
              <a:t>17</a:t>
            </a:fld>
            <a:endParaRPr lang="nb-NO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CD3C91-4279-4364-AB79-605A557812F6}" type="slidenum">
              <a:rPr lang="nb-NO" smtClean="0"/>
              <a:pPr/>
              <a:t>18</a:t>
            </a:fld>
            <a:endParaRPr lang="nb-NO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CD3C91-4279-4364-AB79-605A557812F6}" type="slidenum">
              <a:rPr lang="nb-NO" smtClean="0"/>
              <a:pPr/>
              <a:t>19</a:t>
            </a:fld>
            <a:endParaRPr lang="nb-NO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6A87AA-AE3E-4A57-9514-EBC1D4B73C00}" type="slidenum">
              <a:rPr lang="nb-NO" smtClean="0"/>
              <a:pPr>
                <a:defRPr/>
              </a:pPr>
              <a:t>20</a:t>
            </a:fld>
            <a:endParaRPr lang="nb-NO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CD3C91-4279-4364-AB79-605A557812F6}" type="slidenum">
              <a:rPr lang="nb-NO" smtClean="0"/>
              <a:pPr/>
              <a:t>21</a:t>
            </a:fld>
            <a:endParaRPr lang="nb-NO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96A87AA-AE3E-4A57-9514-EBC1D4B73C00}" type="slidenum">
              <a:rPr lang="nb-NO" smtClean="0"/>
              <a:pPr>
                <a:defRPr/>
              </a:pPr>
              <a:t>22</a:t>
            </a:fld>
            <a:endParaRPr lang="nb-NO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05CD3B4-D6E7-4240-965B-5A6D93E27C94}" type="slidenum">
              <a:rPr lang="nb-NO" smtClean="0"/>
              <a:pPr/>
              <a:t>23</a:t>
            </a:fld>
            <a:endParaRPr lang="nb-NO" smtClean="0"/>
          </a:p>
        </p:txBody>
      </p:sp>
      <p:sp>
        <p:nvSpPr>
          <p:cNvPr id="716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28A187A-75E0-4224-92FB-10A46880A0FE}" type="slidenum">
              <a:rPr lang="nb-NO" smtClean="0"/>
              <a:pPr/>
              <a:t>24</a:t>
            </a:fld>
            <a:endParaRPr lang="nb-NO" smtClean="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28A187A-75E0-4224-92FB-10A46880A0FE}" type="slidenum">
              <a:rPr lang="nb-NO" smtClean="0"/>
              <a:pPr/>
              <a:t>25</a:t>
            </a:fld>
            <a:endParaRPr lang="nb-NO" smtClean="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28A187A-75E0-4224-92FB-10A46880A0FE}" type="slidenum">
              <a:rPr lang="nb-NO" smtClean="0"/>
              <a:pPr/>
              <a:t>26</a:t>
            </a:fld>
            <a:endParaRPr lang="nb-NO" smtClean="0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nb-NO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nb-N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7B21-4151-468F-B1E9-8136F32E8BB9}" type="datetimeFigureOut">
              <a:rPr lang="nb-NO" smtClean="0"/>
              <a:pPr/>
              <a:t>07.05.2010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D7826-683C-43FB-A107-EC77E5485DD1}" type="slidenum">
              <a:rPr lang="nb-NO" smtClean="0"/>
              <a:pPr/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b-N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b-N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7B21-4151-468F-B1E9-8136F32E8BB9}" type="datetimeFigureOut">
              <a:rPr lang="nb-NO" smtClean="0"/>
              <a:pPr/>
              <a:t>07.05.2010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D7826-683C-43FB-A107-EC77E5485DD1}" type="slidenum">
              <a:rPr lang="nb-NO" smtClean="0"/>
              <a:pPr/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nb-N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7B21-4151-468F-B1E9-8136F32E8BB9}" type="datetimeFigureOut">
              <a:rPr lang="nb-NO" smtClean="0"/>
              <a:pPr/>
              <a:t>07.05.2010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D7826-683C-43FB-A107-EC77E5485DD1}" type="slidenum">
              <a:rPr lang="nb-NO" smtClean="0"/>
              <a:pPr/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b-N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b-N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b-NO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7B21-4151-468F-B1E9-8136F32E8BB9}" type="datetimeFigureOut">
              <a:rPr lang="nb-NO" smtClean="0"/>
              <a:pPr/>
              <a:t>07.05.2010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D7826-683C-43FB-A107-EC77E5485DD1}" type="slidenum">
              <a:rPr lang="nb-NO" smtClean="0"/>
              <a:pPr/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nb-N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b-N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b-NO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7B21-4151-468F-B1E9-8136F32E8BB9}" type="datetimeFigureOut">
              <a:rPr lang="nb-NO" smtClean="0"/>
              <a:pPr/>
              <a:t>07.05.2010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D7826-683C-43FB-A107-EC77E5485DD1}" type="slidenum">
              <a:rPr lang="nb-NO" smtClean="0"/>
              <a:pPr/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7B21-4151-468F-B1E9-8136F32E8BB9}" type="datetimeFigureOut">
              <a:rPr lang="nb-NO" smtClean="0"/>
              <a:pPr/>
              <a:t>07.05.2010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D7826-683C-43FB-A107-EC77E5485DD1}" type="slidenum">
              <a:rPr lang="nb-NO" smtClean="0"/>
              <a:pPr/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7B21-4151-468F-B1E9-8136F32E8BB9}" type="datetimeFigureOut">
              <a:rPr lang="nb-NO" smtClean="0"/>
              <a:pPr/>
              <a:t>07.05.2010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D7826-683C-43FB-A107-EC77E5485DD1}" type="slidenum">
              <a:rPr lang="nb-NO" smtClean="0"/>
              <a:pPr/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b-N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b-N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7B21-4151-468F-B1E9-8136F32E8BB9}" type="datetimeFigureOut">
              <a:rPr lang="nb-NO" smtClean="0"/>
              <a:pPr/>
              <a:t>07.05.2010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D7826-683C-43FB-A107-EC77E5485DD1}" type="slidenum">
              <a:rPr lang="nb-NO" smtClean="0"/>
              <a:pPr/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nb-N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7B21-4151-468F-B1E9-8136F32E8BB9}" type="datetimeFigureOut">
              <a:rPr lang="nb-NO" smtClean="0"/>
              <a:pPr/>
              <a:t>07.05.2010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D7826-683C-43FB-A107-EC77E5485DD1}" type="slidenum">
              <a:rPr lang="nb-NO" smtClean="0"/>
              <a:pPr/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b-N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b-N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7B21-4151-468F-B1E9-8136F32E8BB9}" type="datetimeFigureOut">
              <a:rPr lang="nb-NO" smtClean="0"/>
              <a:pPr/>
              <a:t>07.05.2010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D7826-683C-43FB-A107-EC77E5485DD1}" type="slidenum">
              <a:rPr lang="nb-NO" smtClean="0"/>
              <a:pPr/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nb-N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b-N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A37B21-4151-468F-B1E9-8136F32E8BB9}" type="datetimeFigureOut">
              <a:rPr lang="nb-NO" smtClean="0"/>
              <a:pPr/>
              <a:t>07.05.2010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4D7826-683C-43FB-A107-EC77E5485DD1}" type="slidenum">
              <a:rPr lang="nb-NO" smtClean="0"/>
              <a:pPr/>
              <a:t>‹#›</a:t>
            </a:fld>
            <a:endParaRPr lang="nb-N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nb-N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lvl2pPr>
              <a:defRPr sz="1800"/>
            </a:lvl2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nb-NO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038B43-4BF8-426F-8915-9DF05ABF7A53}" type="slidenum">
              <a:rPr lang="nb-NO"/>
              <a:pPr>
                <a:defRPr/>
              </a:pPr>
              <a:t>‹#›</a:t>
            </a:fld>
            <a:endParaRPr lang="nb-NO"/>
          </a:p>
        </p:txBody>
      </p:sp>
      <p:sp>
        <p:nvSpPr>
          <p:cNvPr id="5" name="Rectangle 11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b-NO"/>
              <a:t>SOA i Praktiken: Lorentzen &amp; Stemoco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nb-N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nb-NO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A37B21-4151-468F-B1E9-8136F32E8BB9}" type="datetimeFigureOut">
              <a:rPr lang="nb-NO" smtClean="0"/>
              <a:pPr/>
              <a:t>07.05.2010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4D7826-683C-43FB-A107-EC77E5485DD1}" type="slidenum">
              <a:rPr lang="nb-NO" smtClean="0"/>
              <a:pPr/>
              <a:t>‹#›</a:t>
            </a:fld>
            <a:endParaRPr lang="nb-N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 smtClean="0"/>
              <a:t>Enterprise </a:t>
            </a:r>
            <a:r>
              <a:rPr lang="nb-NO" dirty="0" err="1" smtClean="0"/>
              <a:t>Domain</a:t>
            </a:r>
            <a:r>
              <a:rPr lang="nb-NO" dirty="0" smtClean="0"/>
              <a:t> </a:t>
            </a:r>
            <a:r>
              <a:rPr lang="nb-NO" dirty="0" err="1" smtClean="0"/>
              <a:t>Repository</a:t>
            </a:r>
            <a:r>
              <a:rPr lang="nb-NO" dirty="0" smtClean="0"/>
              <a:t/>
            </a:r>
            <a:br>
              <a:rPr lang="nb-NO" dirty="0" smtClean="0"/>
            </a:br>
            <a:r>
              <a:rPr lang="nb-NO" dirty="0" smtClean="0"/>
              <a:t>EDR</a:t>
            </a:r>
            <a:endParaRPr lang="nb-NO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b-NO" dirty="0" smtClean="0"/>
              <a:t>EDR som </a:t>
            </a:r>
            <a:r>
              <a:rPr lang="nb-NO" dirty="0" err="1" smtClean="0"/>
              <a:t>integrasjonstrategi</a:t>
            </a:r>
            <a:endParaRPr lang="nb-NO" dirty="0" smtClean="0"/>
          </a:p>
          <a:p>
            <a:r>
              <a:rPr lang="nb-NO" dirty="0" smtClean="0"/>
              <a:t>Bård Lind</a:t>
            </a:r>
            <a:endParaRPr lang="nb-N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Agenda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err="1" smtClean="0"/>
              <a:t>Intro</a:t>
            </a:r>
            <a:endParaRPr lang="nb-NO" dirty="0" smtClean="0"/>
          </a:p>
          <a:p>
            <a:r>
              <a:rPr lang="nb-NO" dirty="0" smtClean="0"/>
              <a:t>Problemet som må løses</a:t>
            </a:r>
          </a:p>
          <a:p>
            <a:r>
              <a:rPr lang="nb-NO" dirty="0" smtClean="0"/>
              <a:t>Løsningen</a:t>
            </a:r>
          </a:p>
          <a:p>
            <a:r>
              <a:rPr lang="nb-NO" dirty="0" smtClean="0"/>
              <a:t>Konsepter</a:t>
            </a:r>
          </a:p>
          <a:p>
            <a:r>
              <a:rPr lang="nb-NO" dirty="0" smtClean="0"/>
              <a:t>Komponenter</a:t>
            </a:r>
          </a:p>
          <a:p>
            <a:r>
              <a:rPr lang="nb-NO" dirty="0" smtClean="0"/>
              <a:t>Siloer – samhandling</a:t>
            </a:r>
          </a:p>
          <a:p>
            <a:r>
              <a:rPr lang="nb-NO" dirty="0" smtClean="0"/>
              <a:t>Verktøy</a:t>
            </a:r>
            <a:endParaRPr lang="nb-N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 smtClean="0"/>
              <a:t>Intro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smtClean="0"/>
              <a:t>Komplekse data </a:t>
            </a:r>
          </a:p>
          <a:p>
            <a:pPr lvl="1"/>
            <a:r>
              <a:rPr lang="nb-NO" dirty="0" smtClean="0"/>
              <a:t>fra forskjellige kilder.</a:t>
            </a:r>
          </a:p>
          <a:p>
            <a:r>
              <a:rPr lang="nb-NO" dirty="0" smtClean="0"/>
              <a:t>Oppdatering av riktig informasjon.</a:t>
            </a:r>
          </a:p>
          <a:p>
            <a:r>
              <a:rPr lang="nb-NO" dirty="0" smtClean="0"/>
              <a:t>Avgrensning</a:t>
            </a:r>
          </a:p>
          <a:p>
            <a:pPr lvl="1"/>
            <a:r>
              <a:rPr lang="nb-NO" dirty="0" smtClean="0"/>
              <a:t>DDD – Business </a:t>
            </a:r>
            <a:r>
              <a:rPr lang="nb-NO" dirty="0" err="1" smtClean="0"/>
              <a:t>Defined</a:t>
            </a:r>
            <a:r>
              <a:rPr lang="nb-NO" dirty="0" smtClean="0"/>
              <a:t> </a:t>
            </a:r>
            <a:r>
              <a:rPr lang="nb-NO" dirty="0" err="1" smtClean="0"/>
              <a:t>Domain</a:t>
            </a:r>
            <a:r>
              <a:rPr lang="nb-NO" dirty="0" smtClean="0"/>
              <a:t> </a:t>
            </a:r>
            <a:r>
              <a:rPr lang="nb-NO" dirty="0" err="1" smtClean="0"/>
              <a:t>Object</a:t>
            </a:r>
            <a:r>
              <a:rPr lang="nb-NO" dirty="0" smtClean="0"/>
              <a:t> (BDO)</a:t>
            </a:r>
          </a:p>
          <a:p>
            <a:pPr lvl="1"/>
            <a:r>
              <a:rPr lang="nb-NO" dirty="0" smtClean="0"/>
              <a:t>Nær kjernesystemene</a:t>
            </a:r>
          </a:p>
          <a:p>
            <a:pPr lvl="1"/>
            <a:r>
              <a:rPr lang="nb-NO" dirty="0" err="1" smtClean="0"/>
              <a:t>Core</a:t>
            </a:r>
            <a:r>
              <a:rPr lang="nb-NO" dirty="0" smtClean="0"/>
              <a:t> Service (CS)</a:t>
            </a:r>
          </a:p>
          <a:p>
            <a:pPr lvl="1"/>
            <a:r>
              <a:rPr lang="nb-NO" dirty="0" smtClean="0"/>
              <a:t>Ikke GUI nært. (H2A)</a:t>
            </a:r>
          </a:p>
          <a:p>
            <a:endParaRPr lang="nb-NO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A13F05F1-80AC-42A5-9E36-19CD0D0996B9}" type="slidenum">
              <a:rPr lang="nb-NO" smtClean="0"/>
              <a:pPr/>
              <a:t>4</a:t>
            </a:fld>
            <a:endParaRPr lang="nb-NO" smtClean="0"/>
          </a:p>
        </p:txBody>
      </p:sp>
      <p:sp>
        <p:nvSpPr>
          <p:cNvPr id="47107" name="Footer Placeholder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/>
          <a:p>
            <a:endParaRPr lang="nb-NO" smtClean="0"/>
          </a:p>
        </p:txBody>
      </p:sp>
      <p:pic>
        <p:nvPicPr>
          <p:cNvPr id="5" name="Picture 4" descr="SOA_Service_Categorization_v2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nb-NO" dirty="0" smtClean="0"/>
              <a:t>Telecommunication Company</a:t>
            </a:r>
            <a:br>
              <a:rPr lang="nb-NO" dirty="0" smtClean="0"/>
            </a:br>
            <a:endParaRPr lang="nb-NO" dirty="0"/>
          </a:p>
        </p:txBody>
      </p:sp>
      <p:pic>
        <p:nvPicPr>
          <p:cNvPr id="6" name="Content Placeholder 5" descr="Telecom architecture.gif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144000" cy="6858000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8C3032-8C92-4BFB-863F-CD0D1FF976EA}" type="slidenum">
              <a:rPr lang="nb-NO" smtClean="0"/>
              <a:pPr>
                <a:defRPr/>
              </a:pPr>
              <a:t>5</a:t>
            </a:fld>
            <a:endParaRPr lang="nb-NO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Problemet som må løses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smtClean="0"/>
              <a:t>Komplekse </a:t>
            </a:r>
            <a:r>
              <a:rPr lang="nb-NO" dirty="0" err="1" smtClean="0"/>
              <a:t>Domain</a:t>
            </a:r>
            <a:r>
              <a:rPr lang="nb-NO" dirty="0" smtClean="0"/>
              <a:t> </a:t>
            </a:r>
            <a:r>
              <a:rPr lang="nb-NO" dirty="0" err="1" smtClean="0"/>
              <a:t>Objects</a:t>
            </a:r>
            <a:r>
              <a:rPr lang="nb-NO" dirty="0" smtClean="0"/>
              <a:t> </a:t>
            </a:r>
          </a:p>
          <a:p>
            <a:pPr lvl="1"/>
            <a:r>
              <a:rPr lang="nb-NO" dirty="0" smtClean="0"/>
              <a:t>Fra flere kilder, tunge å </a:t>
            </a:r>
            <a:r>
              <a:rPr lang="nb-NO" dirty="0" err="1" smtClean="0"/>
              <a:t>initialisere</a:t>
            </a:r>
            <a:r>
              <a:rPr lang="nb-NO" dirty="0" smtClean="0"/>
              <a:t>.</a:t>
            </a:r>
          </a:p>
          <a:p>
            <a:pPr lvl="1"/>
            <a:r>
              <a:rPr lang="nb-NO" dirty="0" smtClean="0"/>
              <a:t>Business </a:t>
            </a:r>
            <a:r>
              <a:rPr lang="nb-NO" dirty="0" err="1" smtClean="0"/>
              <a:t>Domain</a:t>
            </a:r>
            <a:r>
              <a:rPr lang="nb-NO" dirty="0" smtClean="0"/>
              <a:t> </a:t>
            </a:r>
            <a:r>
              <a:rPr lang="nb-NO" dirty="0" err="1" smtClean="0"/>
              <a:t>Objects</a:t>
            </a:r>
            <a:r>
              <a:rPr lang="nb-NO" dirty="0" smtClean="0"/>
              <a:t> (BDO) </a:t>
            </a:r>
            <a:r>
              <a:rPr lang="nb-NO" dirty="0" err="1" smtClean="0"/>
              <a:t>vs</a:t>
            </a:r>
            <a:r>
              <a:rPr lang="nb-NO" dirty="0" smtClean="0"/>
              <a:t> DO</a:t>
            </a:r>
          </a:p>
          <a:p>
            <a:r>
              <a:rPr lang="nb-NO" dirty="0" smtClean="0"/>
              <a:t>Datainkonsistens</a:t>
            </a:r>
          </a:p>
          <a:p>
            <a:pPr lvl="1"/>
            <a:r>
              <a:rPr lang="nb-NO" dirty="0" smtClean="0"/>
              <a:t>Oppdateringstakt, rettighet til å oppdatere.</a:t>
            </a:r>
          </a:p>
          <a:p>
            <a:r>
              <a:rPr lang="nb-NO" dirty="0" smtClean="0"/>
              <a:t>Kompensere for trege/offline systemer.</a:t>
            </a:r>
          </a:p>
          <a:p>
            <a:pPr lvl="1"/>
            <a:r>
              <a:rPr lang="nb-NO" dirty="0" smtClean="0"/>
              <a:t>Varierende </a:t>
            </a:r>
            <a:r>
              <a:rPr lang="nb-NO" dirty="0" err="1" smtClean="0"/>
              <a:t>SLA’s</a:t>
            </a:r>
            <a:r>
              <a:rPr lang="nb-NO" dirty="0" smtClean="0"/>
              <a:t> – 24/7 oppetid.</a:t>
            </a:r>
          </a:p>
          <a:p>
            <a:endParaRPr lang="nb-NO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ntegrasjonskaos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857232"/>
            <a:ext cx="9144000" cy="56881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500166" y="214290"/>
            <a:ext cx="60007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400" dirty="0" smtClean="0">
                <a:latin typeface="+mj-lt"/>
              </a:rPr>
              <a:t>Utfordringen</a:t>
            </a:r>
            <a:endParaRPr lang="nb-NO" sz="4400" dirty="0">
              <a:latin typeface="+mj-l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10" name="Content Placeholder 3" descr="OW-EDR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>
          <a:xfrm>
            <a:off x="0" y="425449"/>
            <a:ext cx="9128125" cy="6432551"/>
          </a:xfrm>
        </p:spPr>
      </p:pic>
      <p:sp>
        <p:nvSpPr>
          <p:cNvPr id="3" name="TextBox 2"/>
          <p:cNvSpPr txBox="1"/>
          <p:nvPr/>
        </p:nvSpPr>
        <p:spPr>
          <a:xfrm>
            <a:off x="1500166" y="0"/>
            <a:ext cx="60007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b-NO" sz="4400" dirty="0" smtClean="0">
                <a:latin typeface="+mj-lt"/>
              </a:rPr>
              <a:t>Løsningen</a:t>
            </a:r>
            <a:endParaRPr lang="nb-NO" sz="4400" dirty="0">
              <a:latin typeface="+mj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EDR </a:t>
            </a:r>
            <a:r>
              <a:rPr lang="nb-NO" dirty="0" err="1" smtClean="0"/>
              <a:t>pattern</a:t>
            </a:r>
            <a:r>
              <a:rPr lang="nb-NO" dirty="0" smtClean="0"/>
              <a:t> kjapp oversikt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smtClean="0"/>
              <a:t>Med CRM silo demo</a:t>
            </a:r>
          </a:p>
          <a:p>
            <a:endParaRPr lang="nb-NO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Hvorfor EDR - business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smtClean="0"/>
              <a:t>Bedre innsikt i kjernedata</a:t>
            </a:r>
          </a:p>
          <a:p>
            <a:r>
              <a:rPr lang="nb-NO" dirty="0" err="1" smtClean="0"/>
              <a:t>Muligjør</a:t>
            </a:r>
            <a:r>
              <a:rPr lang="nb-NO" dirty="0" smtClean="0"/>
              <a:t> Data </a:t>
            </a:r>
            <a:r>
              <a:rPr lang="nb-NO" dirty="0" err="1" smtClean="0"/>
              <a:t>Mastering</a:t>
            </a:r>
            <a:r>
              <a:rPr lang="nb-NO" dirty="0" smtClean="0"/>
              <a:t> strategi.</a:t>
            </a:r>
          </a:p>
          <a:p>
            <a:r>
              <a:rPr lang="nb-NO" dirty="0" smtClean="0"/>
              <a:t>Forbedret Datakvalitet</a:t>
            </a:r>
          </a:p>
          <a:p>
            <a:pPr lvl="1"/>
            <a:r>
              <a:rPr lang="nb-NO" dirty="0" err="1" smtClean="0"/>
              <a:t>Sanity</a:t>
            </a:r>
            <a:r>
              <a:rPr lang="nb-NO" dirty="0" smtClean="0"/>
              <a:t> </a:t>
            </a:r>
            <a:r>
              <a:rPr lang="nb-NO" dirty="0" err="1" smtClean="0"/>
              <a:t>checks</a:t>
            </a:r>
            <a:r>
              <a:rPr lang="nb-NO" dirty="0" smtClean="0"/>
              <a:t>, data </a:t>
            </a:r>
            <a:r>
              <a:rPr lang="nb-NO" dirty="0" err="1" smtClean="0"/>
              <a:t>moderation</a:t>
            </a:r>
            <a:endParaRPr lang="nb-NO" dirty="0" smtClean="0"/>
          </a:p>
          <a:p>
            <a:r>
              <a:rPr lang="nb-NO" dirty="0" smtClean="0"/>
              <a:t>Utnytt forretningsdata på måter du ikke visste var mulig da systemet ble designet.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Hvorfor EDR - teknisk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1600200"/>
            <a:ext cx="8572560" cy="4525963"/>
          </a:xfrm>
        </p:spPr>
        <p:txBody>
          <a:bodyPr>
            <a:normAutofit/>
          </a:bodyPr>
          <a:lstStyle/>
          <a:p>
            <a:r>
              <a:rPr lang="nb-NO" dirty="0" smtClean="0"/>
              <a:t>Data fra separate systemer.</a:t>
            </a:r>
          </a:p>
          <a:p>
            <a:r>
              <a:rPr lang="nb-NO" dirty="0" smtClean="0"/>
              <a:t>Data er delvis overlappende mellom systemer.</a:t>
            </a:r>
          </a:p>
          <a:p>
            <a:r>
              <a:rPr lang="nb-NO" dirty="0" smtClean="0"/>
              <a:t>Færre integrasjoner.</a:t>
            </a:r>
          </a:p>
          <a:p>
            <a:r>
              <a:rPr lang="nb-NO" dirty="0" smtClean="0"/>
              <a:t>Økt smidighet på systemene.</a:t>
            </a:r>
          </a:p>
          <a:p>
            <a:r>
              <a:rPr lang="nb-NO" dirty="0" smtClean="0"/>
              <a:t>Klart definert ansvar for tjenesten.</a:t>
            </a:r>
          </a:p>
          <a:p>
            <a:pPr lvl="1"/>
            <a:r>
              <a:rPr lang="nb-NO" dirty="0" smtClean="0"/>
              <a:t>Reduserer kompleksiteten</a:t>
            </a:r>
          </a:p>
          <a:p>
            <a:endParaRPr lang="nb-NO" dirty="0" smtClean="0"/>
          </a:p>
          <a:p>
            <a:pPr lvl="1"/>
            <a:endParaRPr lang="nb-NO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Løsningen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smtClean="0"/>
              <a:t>Én tjeneste</a:t>
            </a:r>
          </a:p>
          <a:p>
            <a:pPr lvl="1"/>
            <a:r>
              <a:rPr lang="nb-NO" dirty="0" smtClean="0"/>
              <a:t>Skjuler all kompleksitet for Les og Skriv</a:t>
            </a:r>
          </a:p>
          <a:p>
            <a:pPr lvl="1"/>
            <a:r>
              <a:rPr lang="nb-NO" dirty="0" smtClean="0"/>
              <a:t>Styring av multiple kilder/systemer.</a:t>
            </a:r>
          </a:p>
          <a:p>
            <a:pPr lvl="1"/>
            <a:r>
              <a:rPr lang="nb-NO" dirty="0" smtClean="0"/>
              <a:t>Oppretter  komplekst domeneobjekt</a:t>
            </a:r>
          </a:p>
          <a:p>
            <a:pPr lvl="1"/>
            <a:r>
              <a:rPr lang="nb-NO" dirty="0" err="1" smtClean="0"/>
              <a:t>Caching</a:t>
            </a:r>
            <a:r>
              <a:rPr lang="nb-NO" dirty="0" smtClean="0"/>
              <a:t> strategier pr system.</a:t>
            </a:r>
          </a:p>
          <a:p>
            <a:pPr lvl="1"/>
            <a:r>
              <a:rPr lang="nb-NO" dirty="0" err="1" smtClean="0"/>
              <a:t>Caching</a:t>
            </a:r>
            <a:r>
              <a:rPr lang="nb-NO" dirty="0" smtClean="0"/>
              <a:t> for Domeneobjekter</a:t>
            </a:r>
            <a:endParaRPr lang="nb-NO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EDR tegning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Konsepter 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nb-NO" dirty="0" smtClean="0"/>
              <a:t>Datainkonsistens</a:t>
            </a:r>
          </a:p>
          <a:p>
            <a:pPr lvl="1"/>
            <a:r>
              <a:rPr lang="nb-NO" dirty="0" smtClean="0"/>
              <a:t>Automatisk deteksjon</a:t>
            </a:r>
          </a:p>
          <a:p>
            <a:pPr lvl="1"/>
            <a:r>
              <a:rPr lang="nb-NO" dirty="0" smtClean="0"/>
              <a:t>Automatisk og manuell korreksjon</a:t>
            </a:r>
          </a:p>
          <a:p>
            <a:r>
              <a:rPr lang="nb-NO" dirty="0" smtClean="0"/>
              <a:t>Redusert </a:t>
            </a:r>
            <a:r>
              <a:rPr lang="nb-NO" dirty="0" err="1" smtClean="0"/>
              <a:t>svarstid</a:t>
            </a:r>
            <a:endParaRPr lang="nb-NO" dirty="0" smtClean="0"/>
          </a:p>
          <a:p>
            <a:pPr lvl="1"/>
            <a:r>
              <a:rPr lang="nb-NO" dirty="0" err="1" smtClean="0"/>
              <a:t>Caching</a:t>
            </a:r>
            <a:r>
              <a:rPr lang="nb-NO" dirty="0" smtClean="0"/>
              <a:t> og komplekse domeneobjekter.</a:t>
            </a:r>
          </a:p>
          <a:p>
            <a:r>
              <a:rPr lang="nb-NO" dirty="0" smtClean="0"/>
              <a:t>Bedret informasjonsinnhold</a:t>
            </a:r>
          </a:p>
          <a:p>
            <a:pPr lvl="1"/>
            <a:r>
              <a:rPr lang="nb-NO" dirty="0" smtClean="0"/>
              <a:t>Bruk av moderator , sikker oppdatering.</a:t>
            </a:r>
          </a:p>
          <a:p>
            <a:r>
              <a:rPr lang="nb-NO" dirty="0" smtClean="0"/>
              <a:t>Katalysator for merverdi</a:t>
            </a:r>
          </a:p>
          <a:p>
            <a:pPr lvl="1"/>
            <a:r>
              <a:rPr lang="nb-NO" dirty="0" smtClean="0"/>
              <a:t>Enklere  for klienter</a:t>
            </a:r>
          </a:p>
          <a:p>
            <a:pPr lvl="1"/>
            <a:r>
              <a:rPr lang="nb-NO" dirty="0" smtClean="0"/>
              <a:t>Forenklet </a:t>
            </a:r>
            <a:r>
              <a:rPr lang="nb-NO" dirty="0" err="1" smtClean="0"/>
              <a:t>versjonering</a:t>
            </a:r>
            <a:endParaRPr lang="nb-NO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…konsepter	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err="1" smtClean="0"/>
              <a:t>Granularitet</a:t>
            </a:r>
            <a:endParaRPr lang="nb-NO" dirty="0" smtClean="0"/>
          </a:p>
          <a:p>
            <a:pPr lvl="1"/>
            <a:r>
              <a:rPr lang="nb-NO" dirty="0" err="1" smtClean="0"/>
              <a:t>getEngasjementService</a:t>
            </a:r>
            <a:r>
              <a:rPr lang="nb-NO" dirty="0" smtClean="0"/>
              <a:t> </a:t>
            </a:r>
            <a:r>
              <a:rPr lang="nb-NO" dirty="0" smtClean="0"/>
              <a:t>vs. </a:t>
            </a:r>
            <a:r>
              <a:rPr lang="nb-NO" dirty="0" err="1" smtClean="0"/>
              <a:t>getEngasjementDetailService</a:t>
            </a:r>
            <a:endParaRPr lang="nb-NO" dirty="0" smtClean="0"/>
          </a:p>
          <a:p>
            <a:r>
              <a:rPr lang="nb-NO" dirty="0" smtClean="0"/>
              <a:t>Hent alle data til EDR, filtrer output.</a:t>
            </a:r>
          </a:p>
          <a:p>
            <a:r>
              <a:rPr lang="nb-NO" dirty="0" err="1" smtClean="0"/>
              <a:t>Co-eksistens</a:t>
            </a:r>
            <a:r>
              <a:rPr lang="nb-NO" dirty="0" smtClean="0"/>
              <a:t> med </a:t>
            </a:r>
            <a:r>
              <a:rPr lang="nb-NO" dirty="0" err="1" smtClean="0"/>
              <a:t>system-siloer</a:t>
            </a:r>
            <a:r>
              <a:rPr lang="nb-NO" dirty="0" smtClean="0"/>
              <a:t> støtte</a:t>
            </a:r>
          </a:p>
          <a:p>
            <a:pPr lvl="1"/>
            <a:r>
              <a:rPr lang="nb-NO" dirty="0" smtClean="0"/>
              <a:t>Eksempel senere.</a:t>
            </a:r>
            <a:endParaRPr lang="nb-NO" dirty="0" smtClean="0"/>
          </a:p>
          <a:p>
            <a:endParaRPr lang="nb-NO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EDR tegning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b-NO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Komponenter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smtClean="0"/>
              <a:t>Provider </a:t>
            </a:r>
          </a:p>
          <a:p>
            <a:r>
              <a:rPr lang="nb-NO" dirty="0" smtClean="0"/>
              <a:t>Provider </a:t>
            </a:r>
            <a:r>
              <a:rPr lang="nb-NO" dirty="0" err="1" smtClean="0"/>
              <a:t>Controller</a:t>
            </a:r>
            <a:endParaRPr lang="nb-NO" dirty="0" smtClean="0"/>
          </a:p>
          <a:p>
            <a:pPr lvl="1"/>
            <a:r>
              <a:rPr lang="nb-NO" dirty="0" smtClean="0"/>
              <a:t>Styrer les og skriv til </a:t>
            </a:r>
            <a:r>
              <a:rPr lang="nb-NO" dirty="0" err="1" smtClean="0"/>
              <a:t>back-end</a:t>
            </a:r>
            <a:r>
              <a:rPr lang="nb-NO" dirty="0" smtClean="0"/>
              <a:t> systemer</a:t>
            </a:r>
          </a:p>
          <a:p>
            <a:r>
              <a:rPr lang="nb-NO" dirty="0" err="1" smtClean="0"/>
              <a:t>Correlator</a:t>
            </a:r>
            <a:endParaRPr lang="nb-NO" dirty="0" smtClean="0"/>
          </a:p>
          <a:p>
            <a:pPr lvl="1"/>
            <a:r>
              <a:rPr lang="nb-NO" dirty="0" smtClean="0"/>
              <a:t>Bruk syntetiske </a:t>
            </a:r>
            <a:r>
              <a:rPr lang="nb-NO" dirty="0" err="1" smtClean="0"/>
              <a:t>ID’er</a:t>
            </a:r>
            <a:r>
              <a:rPr lang="nb-NO" dirty="0" smtClean="0"/>
              <a:t>!</a:t>
            </a:r>
          </a:p>
          <a:p>
            <a:r>
              <a:rPr lang="nb-NO" dirty="0" smtClean="0"/>
              <a:t>Moderator</a:t>
            </a:r>
          </a:p>
          <a:p>
            <a:r>
              <a:rPr lang="nb-NO" dirty="0" err="1" smtClean="0"/>
              <a:t>Repository</a:t>
            </a:r>
            <a:r>
              <a:rPr lang="nb-NO" dirty="0" smtClean="0"/>
              <a:t> </a:t>
            </a:r>
            <a:r>
              <a:rPr lang="nb-NO" dirty="0" err="1" smtClean="0"/>
              <a:t>Controller</a:t>
            </a:r>
            <a:endParaRPr lang="nb-NO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err="1" smtClean="0"/>
              <a:t>Co-exist</a:t>
            </a:r>
            <a:r>
              <a:rPr lang="nb-NO" dirty="0" smtClean="0"/>
              <a:t> med Silo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smtClean="0"/>
              <a:t>Eksempel med </a:t>
            </a:r>
            <a:r>
              <a:rPr lang="nb-NO" dirty="0" err="1" smtClean="0"/>
              <a:t>Siebel</a:t>
            </a:r>
            <a:r>
              <a:rPr lang="nb-NO" smtClean="0"/>
              <a:t> CRM.</a:t>
            </a:r>
            <a:endParaRPr lang="nb-NO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Verktøy</a:t>
            </a:r>
            <a:endParaRPr lang="nb-N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 err="1" smtClean="0"/>
              <a:t>Implementasjoner</a:t>
            </a:r>
            <a:endParaRPr lang="nb-NO" dirty="0" smtClean="0"/>
          </a:p>
          <a:p>
            <a:pPr lvl="1"/>
            <a:r>
              <a:rPr lang="nb-NO" dirty="0" smtClean="0"/>
              <a:t>C#, .Net, Java, </a:t>
            </a:r>
            <a:r>
              <a:rPr lang="nb-NO" dirty="0" err="1" smtClean="0"/>
              <a:t>ESB’er</a:t>
            </a:r>
            <a:endParaRPr lang="nb-NO" dirty="0" smtClean="0"/>
          </a:p>
          <a:p>
            <a:r>
              <a:rPr lang="nb-NO" dirty="0" err="1" smtClean="0"/>
              <a:t>Correlator</a:t>
            </a:r>
            <a:endParaRPr lang="nb-NO" dirty="0" smtClean="0"/>
          </a:p>
          <a:p>
            <a:pPr lvl="1"/>
            <a:r>
              <a:rPr lang="nb-NO" dirty="0" err="1" smtClean="0"/>
              <a:t>MetaData</a:t>
            </a:r>
            <a:r>
              <a:rPr lang="nb-NO" dirty="0" smtClean="0"/>
              <a:t>?</a:t>
            </a:r>
          </a:p>
          <a:p>
            <a:r>
              <a:rPr lang="nb-NO" dirty="0" err="1" smtClean="0"/>
              <a:t>Moderator/Workflow</a:t>
            </a:r>
            <a:endParaRPr lang="nb-NO" dirty="0" smtClean="0"/>
          </a:p>
          <a:p>
            <a:pPr lvl="1"/>
            <a:r>
              <a:rPr lang="nb-NO" dirty="0" smtClean="0"/>
              <a:t>OS </a:t>
            </a:r>
            <a:r>
              <a:rPr lang="nb-NO" dirty="0" err="1" smtClean="0"/>
              <a:t>Workflow</a:t>
            </a:r>
            <a:r>
              <a:rPr lang="nb-NO" dirty="0" smtClean="0"/>
              <a:t>, </a:t>
            </a:r>
            <a:r>
              <a:rPr lang="nb-NO" dirty="0" err="1" smtClean="0"/>
              <a:t>Genesys</a:t>
            </a:r>
            <a:r>
              <a:rPr lang="nb-NO" dirty="0" smtClean="0"/>
              <a:t> </a:t>
            </a:r>
            <a:r>
              <a:rPr lang="nb-NO" dirty="0" err="1" smtClean="0"/>
              <a:t>iWD</a:t>
            </a:r>
            <a:endParaRPr lang="nb-NO" dirty="0" smtClean="0"/>
          </a:p>
          <a:p>
            <a:endParaRPr lang="nb-NO" dirty="0" smtClean="0"/>
          </a:p>
          <a:p>
            <a:endParaRPr lang="nb-NO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Bank</a:t>
            </a:r>
            <a:endParaRPr lang="nb-NO" dirty="0"/>
          </a:p>
        </p:txBody>
      </p:sp>
      <p:pic>
        <p:nvPicPr>
          <p:cNvPr id="6" name="Content Placeholder 5" descr="OW SOA - Business values delivered-short.gif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-10988" y="0"/>
            <a:ext cx="9154988" cy="6866241"/>
          </a:xfrm>
        </p:spPr>
      </p:pic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8C3032-8C92-4BFB-863F-CD0D1FF976EA}" type="slidenum">
              <a:rPr lang="nb-NO" smtClean="0"/>
              <a:pPr>
                <a:defRPr/>
              </a:pPr>
              <a:t>20</a:t>
            </a:fld>
            <a:endParaRPr lang="nb-NO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Extras</a:t>
            </a:r>
            <a:endParaRPr lang="nb-NO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 smtClean="0"/>
              <a:t>Business Data Patterns Business values</a:t>
            </a:r>
            <a:endParaRPr lang="nb-NO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C8C3032-8C92-4BFB-863F-CD0D1FF976EA}" type="slidenum">
              <a:rPr lang="nb-NO" smtClean="0"/>
              <a:pPr>
                <a:defRPr/>
              </a:pPr>
              <a:t>22</a:t>
            </a:fld>
            <a:endParaRPr lang="nb-NO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1CF05C78-A397-424F-A19D-570CF7A45124}" type="slidenum">
              <a:rPr lang="nb-NO" smtClean="0"/>
              <a:pPr/>
              <a:t>23</a:t>
            </a:fld>
            <a:endParaRPr lang="nb-NO" smtClean="0"/>
          </a:p>
        </p:txBody>
      </p:sp>
      <p:sp>
        <p:nvSpPr>
          <p:cNvPr id="3584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nb-NO" dirty="0" smtClean="0"/>
              <a:t>Telecom Company - Values</a:t>
            </a:r>
            <a:br>
              <a:rPr lang="nb-NO" dirty="0" smtClean="0"/>
            </a:br>
            <a:endParaRPr lang="en-US" dirty="0" smtClean="0"/>
          </a:p>
        </p:txBody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20713" y="778342"/>
            <a:ext cx="8189912" cy="4703762"/>
          </a:xfrm>
        </p:spPr>
        <p:txBody>
          <a:bodyPr/>
          <a:lstStyle/>
          <a:p>
            <a:pPr eaLnBrk="1" hangingPunct="1">
              <a:buNone/>
            </a:pPr>
            <a:r>
              <a:rPr lang="en-US" sz="1800" dirty="0" smtClean="0"/>
              <a:t> SOA provides a standardized and easy-to-use interface for integration both internally and towards business partners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 dirty="0" smtClean="0"/>
              <a:t>Changed CRM system in one week without breaking any of the existing services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 dirty="0" smtClean="0"/>
              <a:t>Open-ended EDR provider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 dirty="0" smtClean="0"/>
              <a:t>Multi-master strategy on the Customer Domain Object between CRM, the order system and the billing system.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sz="1600" dirty="0" smtClean="0"/>
              <a:t>Integration costs less than 10% of main competitors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sz="1600" dirty="0" smtClean="0"/>
              <a:t>Automation costs less than 20% of main competitors</a:t>
            </a:r>
            <a:endParaRPr lang="en-US" sz="1800" dirty="0" smtClean="0"/>
          </a:p>
          <a:p>
            <a:pPr eaLnBrk="1" hangingPunct="1">
              <a:buNone/>
            </a:pPr>
            <a:r>
              <a:rPr lang="en-US" sz="1800" dirty="0" smtClean="0"/>
              <a:t> Uses extensions to EDR pattern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 dirty="0" smtClean="0"/>
              <a:t>Recording Proxy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 dirty="0" smtClean="0"/>
              <a:t>Open-ended Integration pattern</a:t>
            </a:r>
          </a:p>
          <a:p>
            <a:pPr eaLnBrk="1" hangingPunct="1">
              <a:buFont typeface="Arial" charset="0"/>
              <a:buChar char="•"/>
            </a:pPr>
            <a:r>
              <a:rPr lang="en-US" sz="1800" dirty="0" smtClean="0"/>
              <a:t>Field-based Mastering Strategy</a:t>
            </a:r>
            <a:endParaRPr lang="en-US" sz="1600" dirty="0" smtClean="0"/>
          </a:p>
        </p:txBody>
      </p:sp>
    </p:spTree>
  </p:cSld>
  <p:clrMapOvr>
    <a:masterClrMapping/>
  </p:clrMapOvr>
  <p:transition advTm="15319"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B5EF0EAD-4E24-4E8C-948B-02A63B514D24}" type="slidenum">
              <a:rPr lang="nb-NO" smtClean="0"/>
              <a:pPr/>
              <a:t>24</a:t>
            </a:fld>
            <a:endParaRPr lang="nb-NO" smtClean="0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nb-NO" dirty="0" smtClean="0"/>
              <a:t>Summary</a:t>
            </a:r>
            <a:br>
              <a:rPr lang="nb-NO" dirty="0" smtClean="0"/>
            </a:br>
            <a:endParaRPr lang="en-US" dirty="0" smtClean="0"/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675" y="1308100"/>
            <a:ext cx="8189913" cy="4703763"/>
          </a:xfrm>
        </p:spPr>
        <p:txBody>
          <a:bodyPr/>
          <a:lstStyle/>
          <a:p>
            <a:pPr eaLnBrk="1" hangingPunct="1"/>
            <a:r>
              <a:rPr lang="en-US" sz="1800" dirty="0" smtClean="0"/>
              <a:t>Enterprise Domain Repository is vital to IT Strategy today</a:t>
            </a:r>
          </a:p>
          <a:p>
            <a:pPr eaLnBrk="1" hangingPunct="1"/>
            <a:r>
              <a:rPr lang="en-US" sz="1800" dirty="0" smtClean="0"/>
              <a:t>Categorized services provides the foundation for continuous IT-driven business value</a:t>
            </a:r>
          </a:p>
          <a:p>
            <a:pPr eaLnBrk="1" hangingPunct="1"/>
            <a:r>
              <a:rPr lang="en-US" sz="1800" dirty="0" smtClean="0"/>
              <a:t>The </a:t>
            </a:r>
            <a:r>
              <a:rPr lang="en-US" sz="1800" dirty="0" err="1" smtClean="0"/>
              <a:t>evolvability</a:t>
            </a:r>
            <a:r>
              <a:rPr lang="en-US" sz="1800" dirty="0" smtClean="0"/>
              <a:t> promise of SOA is delivered and proven over several years</a:t>
            </a:r>
          </a:p>
          <a:p>
            <a:pPr eaLnBrk="1" hangingPunct="1"/>
            <a:r>
              <a:rPr lang="en-US" sz="1800" dirty="0" smtClean="0"/>
              <a:t>A service universe based on efficient building blocks enables business opportunity</a:t>
            </a:r>
          </a:p>
        </p:txBody>
      </p:sp>
    </p:spTree>
  </p:cSld>
  <p:clrMapOvr>
    <a:masterClrMapping/>
  </p:clrMapOvr>
  <p:transition advTm="6194"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B5EF0EAD-4E24-4E8C-948B-02A63B514D24}" type="slidenum">
              <a:rPr lang="nb-NO" smtClean="0"/>
              <a:pPr/>
              <a:t>25</a:t>
            </a:fld>
            <a:endParaRPr lang="nb-NO" smtClean="0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701675" y="97662"/>
            <a:ext cx="8189913" cy="10080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nb-NO" dirty="0" smtClean="0"/>
              <a:t>Bank case – EDR values</a:t>
            </a:r>
            <a:br>
              <a:rPr lang="nb-NO" dirty="0" smtClean="0"/>
            </a:br>
            <a:endParaRPr lang="en-US" dirty="0" smtClean="0"/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675" y="412124"/>
            <a:ext cx="8189913" cy="4703763"/>
          </a:xfrm>
        </p:spPr>
        <p:txBody>
          <a:bodyPr/>
          <a:lstStyle/>
          <a:p>
            <a:pPr eaLnBrk="1" hangingPunct="1">
              <a:buFont typeface="Arial" charset="0"/>
              <a:buChar char="•"/>
            </a:pPr>
            <a:r>
              <a:rPr lang="en-US" sz="1600" dirty="0" smtClean="0"/>
              <a:t>Integration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sz="1600" dirty="0" smtClean="0"/>
              <a:t>Extend business entities with data that are not in core system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sz="1600" dirty="0" smtClean="0"/>
              <a:t>Provide ad-hoc storage for service-required data not yet discovered or decided</a:t>
            </a:r>
          </a:p>
          <a:p>
            <a:pPr eaLnBrk="1" hangingPunct="1">
              <a:buFont typeface="Arial" charset="0"/>
              <a:buChar char="•"/>
            </a:pPr>
            <a:r>
              <a:rPr lang="en-US" sz="1600" dirty="0" smtClean="0"/>
              <a:t>Service targeted "</a:t>
            </a:r>
            <a:r>
              <a:rPr lang="en-US" sz="1600" dirty="0" err="1" smtClean="0"/>
              <a:t>datamarts</a:t>
            </a:r>
            <a:r>
              <a:rPr lang="en-US" sz="1600" dirty="0" smtClean="0"/>
              <a:t>“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sz="1600" dirty="0" smtClean="0"/>
              <a:t>Existing data warehouse provide useful information for services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sz="1600" dirty="0" smtClean="0"/>
              <a:t>Especially select aggregate data and data hierarchies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sz="1600" dirty="0" smtClean="0"/>
              <a:t>Loaded into service-owned "</a:t>
            </a:r>
            <a:r>
              <a:rPr lang="en-US" sz="1600" dirty="0" err="1" smtClean="0"/>
              <a:t>datamarts</a:t>
            </a:r>
            <a:r>
              <a:rPr lang="en-US" sz="1600" dirty="0" smtClean="0"/>
              <a:t>" for consumption</a:t>
            </a:r>
          </a:p>
          <a:p>
            <a:pPr eaLnBrk="1" hangingPunct="1">
              <a:buFont typeface="Arial" charset="0"/>
              <a:buChar char="•"/>
            </a:pPr>
            <a:r>
              <a:rPr lang="en-US" sz="1600" dirty="0" smtClean="0"/>
              <a:t>New business processes enabled by Microsoft CRM standard software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sz="1600" dirty="0" smtClean="0"/>
              <a:t>Provides special support for customer follow-up for the business market</a:t>
            </a:r>
          </a:p>
          <a:p>
            <a:pPr eaLnBrk="1" hangingPunct="1">
              <a:buFont typeface="Arial" charset="0"/>
              <a:buChar char="•"/>
            </a:pPr>
            <a:r>
              <a:rPr lang="en-US" sz="1600" dirty="0" smtClean="0"/>
              <a:t>Shift of responsibility of existing functionality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sz="1600" dirty="0" smtClean="0"/>
              <a:t>Business data previously owned by mainframe moved to Microsoft CRM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sz="1600" dirty="0" smtClean="0"/>
              <a:t>Significant lower cost of integration than mainframe platform</a:t>
            </a:r>
          </a:p>
          <a:p>
            <a:pPr lvl="1" eaLnBrk="1" hangingPunct="1">
              <a:buFont typeface="Arial" charset="0"/>
              <a:buChar char="•"/>
            </a:pPr>
            <a:r>
              <a:rPr lang="en-US" sz="1600" dirty="0" smtClean="0"/>
              <a:t>Future potential of moving further responsibility from mainframe to standard software</a:t>
            </a:r>
          </a:p>
          <a:p>
            <a:pPr eaLnBrk="1" hangingPunct="1">
              <a:buFont typeface="Arial" charset="0"/>
              <a:buChar char="•"/>
            </a:pPr>
            <a:r>
              <a:rPr lang="en-US" sz="1600" dirty="0" smtClean="0"/>
              <a:t>High agility and time to market</a:t>
            </a:r>
          </a:p>
          <a:p>
            <a:pPr eaLnBrk="1" hangingPunct="1">
              <a:buNone/>
            </a:pPr>
            <a:endParaRPr lang="en-US" sz="1600" dirty="0" smtClean="0"/>
          </a:p>
        </p:txBody>
      </p:sp>
    </p:spTree>
  </p:cSld>
  <p:clrMapOvr>
    <a:masterClrMapping/>
  </p:clrMapOvr>
  <p:transition advTm="6194"/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B5EF0EAD-4E24-4E8C-948B-02A63B514D24}" type="slidenum">
              <a:rPr lang="nb-NO" smtClean="0"/>
              <a:pPr/>
              <a:t>26</a:t>
            </a:fld>
            <a:endParaRPr lang="nb-NO" smtClean="0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title"/>
          </p:nvPr>
        </p:nvSpPr>
        <p:spPr>
          <a:xfrm>
            <a:off x="701675" y="252210"/>
            <a:ext cx="8189913" cy="1008063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nb-NO" dirty="0" smtClean="0"/>
              <a:t>Bank case –Summary</a:t>
            </a:r>
            <a:br>
              <a:rPr lang="nb-NO" dirty="0" smtClean="0"/>
            </a:br>
            <a:endParaRPr lang="en-US" dirty="0" smtClean="0"/>
          </a:p>
        </p:txBody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1675" y="1308100"/>
            <a:ext cx="8189913" cy="4703763"/>
          </a:xfrm>
        </p:spPr>
        <p:txBody>
          <a:bodyPr>
            <a:normAutofit fontScale="92500"/>
          </a:bodyPr>
          <a:lstStyle/>
          <a:p>
            <a:pPr eaLnBrk="1" hangingPunct="1"/>
            <a:r>
              <a:rPr lang="en-US" dirty="0" smtClean="0"/>
              <a:t>Service Oriented Architecture established in 1 year development time</a:t>
            </a:r>
          </a:p>
          <a:p>
            <a:pPr eaLnBrk="1" hangingPunct="1"/>
            <a:r>
              <a:rPr lang="en-US" dirty="0" smtClean="0"/>
              <a:t>Large integration challenges tackled</a:t>
            </a:r>
          </a:p>
          <a:p>
            <a:pPr eaLnBrk="1" hangingPunct="1"/>
            <a:r>
              <a:rPr lang="en-US" dirty="0" smtClean="0"/>
              <a:t>Project value realized at the same time</a:t>
            </a:r>
          </a:p>
          <a:p>
            <a:pPr eaLnBrk="1" hangingPunct="1"/>
            <a:r>
              <a:rPr lang="en-US" dirty="0" smtClean="0"/>
              <a:t>Major challenges lies ahead: complete SOA vision cannot be completed in scope of single project</a:t>
            </a:r>
          </a:p>
          <a:p>
            <a:pPr eaLnBrk="1" hangingPunct="1"/>
            <a:r>
              <a:rPr lang="en-US" dirty="0" smtClean="0"/>
              <a:t>Further potential can be realized through agile evolution of the service stack and implementation of additional services</a:t>
            </a:r>
          </a:p>
          <a:p>
            <a:pPr eaLnBrk="1" hangingPunct="1"/>
            <a:endParaRPr lang="en-US" dirty="0" smtClean="0"/>
          </a:p>
        </p:txBody>
      </p:sp>
    </p:spTree>
  </p:cSld>
  <p:clrMapOvr>
    <a:masterClrMapping/>
  </p:clrMapOvr>
  <p:transition advTm="6194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284</TotalTime>
  <Words>764</Words>
  <Application>Microsoft Office PowerPoint</Application>
  <PresentationFormat>On-screen Show (4:3)</PresentationFormat>
  <Paragraphs>175</Paragraphs>
  <Slides>26</Slides>
  <Notes>26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Office Theme</vt:lpstr>
      <vt:lpstr>Enterprise Domain Repository EDR</vt:lpstr>
      <vt:lpstr>Agenda</vt:lpstr>
      <vt:lpstr>Intro</vt:lpstr>
      <vt:lpstr>Slide 4</vt:lpstr>
      <vt:lpstr>Telecommunication Company </vt:lpstr>
      <vt:lpstr>Problemet som må løses</vt:lpstr>
      <vt:lpstr>Slide 7</vt:lpstr>
      <vt:lpstr>Slide 8</vt:lpstr>
      <vt:lpstr>EDR pattern kjapp oversikt</vt:lpstr>
      <vt:lpstr>Hvorfor EDR - business</vt:lpstr>
      <vt:lpstr>Hvorfor EDR - teknisk</vt:lpstr>
      <vt:lpstr>Løsningen</vt:lpstr>
      <vt:lpstr>EDR tegning</vt:lpstr>
      <vt:lpstr>Konsepter </vt:lpstr>
      <vt:lpstr>…konsepter </vt:lpstr>
      <vt:lpstr>EDR tegning</vt:lpstr>
      <vt:lpstr>Komponenter</vt:lpstr>
      <vt:lpstr>Co-exist med Silo</vt:lpstr>
      <vt:lpstr>Verktøy</vt:lpstr>
      <vt:lpstr>Bank</vt:lpstr>
      <vt:lpstr>Extras</vt:lpstr>
      <vt:lpstr>Business Data Patterns Business values</vt:lpstr>
      <vt:lpstr>Telecom Company - Values </vt:lpstr>
      <vt:lpstr>Summary </vt:lpstr>
      <vt:lpstr>Bank case – EDR values </vt:lpstr>
      <vt:lpstr>Bank case –Summary </vt:lpstr>
    </vt:vector>
  </TitlesOfParts>
  <Company>Telenor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Enterprise Domain Repository EDR</dc:title>
  <dc:creator>Bård Lind</dc:creator>
  <cp:lastModifiedBy>Bård Lind</cp:lastModifiedBy>
  <cp:revision>31</cp:revision>
  <dcterms:created xsi:type="dcterms:W3CDTF">2010-05-07T08:22:03Z</dcterms:created>
  <dcterms:modified xsi:type="dcterms:W3CDTF">2010-05-07T13:29:43Z</dcterms:modified>
</cp:coreProperties>
</file>