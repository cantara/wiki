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8" r:id="rId2"/>
    <p:sldId id="309" r:id="rId3"/>
    <p:sldId id="310" r:id="rId4"/>
    <p:sldId id="295" r:id="rId5"/>
    <p:sldId id="296" r:id="rId6"/>
    <p:sldId id="297" r:id="rId7"/>
    <p:sldId id="307" r:id="rId8"/>
    <p:sldId id="298" r:id="rId9"/>
    <p:sldId id="299" r:id="rId10"/>
    <p:sldId id="306" r:id="rId11"/>
    <p:sldId id="300" r:id="rId12"/>
    <p:sldId id="301" r:id="rId13"/>
    <p:sldId id="311" r:id="rId14"/>
    <p:sldId id="303" r:id="rId15"/>
    <p:sldId id="312" r:id="rId16"/>
    <p:sldId id="293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88286" autoAdjust="0"/>
  </p:normalViewPr>
  <p:slideViewPr>
    <p:cSldViewPr>
      <p:cViewPr>
        <p:scale>
          <a:sx n="80" d="100"/>
          <a:sy n="80" d="100"/>
        </p:scale>
        <p:origin x="-1218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F71F556-7F46-4D7C-B633-B0E7CE9597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772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5EDA5A8-E2F4-4814-A7C7-8D93FCD6FF07}" type="slidenum">
              <a:rPr lang="en-US"/>
              <a:pPr/>
              <a:t>1</a:t>
            </a:fld>
            <a:endParaRPr lang="en-US"/>
          </a:p>
        </p:txBody>
      </p:sp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buClrTx/>
              <a:buFontTx/>
              <a:buNone/>
            </a:pPr>
            <a:fld id="{82237CAA-C697-4893-8C3E-E4446A6F9BDA}" type="slidenum">
              <a:rPr lang="en-US" sz="1200"/>
              <a:pPr algn="r">
                <a:buClrTx/>
                <a:buFontTx/>
                <a:buNone/>
              </a:pPr>
              <a:t>1</a:t>
            </a:fld>
            <a:endParaRPr lang="en-US" sz="1200"/>
          </a:p>
        </p:txBody>
      </p:sp>
      <p:sp>
        <p:nvSpPr>
          <p:cNvPr id="18434" name="Rectangle 2"/>
          <p:cNvSpPr txBox="1"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5" name="Rectangle 3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pPr eaLnBrk="1" hangingPunct="1">
              <a:spcBef>
                <a:spcPts val="450"/>
              </a:spcBef>
              <a:buFont typeface="Arial" charset="0"/>
              <a:buNone/>
            </a:pPr>
            <a:endParaRPr lang="nb-NO">
              <a:latin typeface="Arial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59AB09-2636-4615-8241-1C267F355670}" type="slidenum">
              <a:rPr lang="en-US"/>
              <a:pPr/>
              <a:t>2</a:t>
            </a:fld>
            <a:endParaRPr lang="en-US"/>
          </a:p>
        </p:txBody>
      </p:sp>
      <p:sp>
        <p:nvSpPr>
          <p:cNvPr id="1945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58" name="Text Box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200" b="1">
                <a:latin typeface="Arial" charset="0"/>
                <a:ea typeface="DejaVu Sans" charset="0"/>
                <a:cs typeface="DejaVu Sans" charset="0"/>
              </a:rPr>
              <a:t>Intro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200">
                <a:latin typeface="Arial" charset="0"/>
                <a:ea typeface="DejaVu Sans" charset="0"/>
                <a:cs typeface="DejaVu Sans" charset="0"/>
              </a:rPr>
              <a:t>to see how different agile practitioner solve real work, I set up an observing experiment</a:t>
            </a:r>
            <a:br>
              <a:rPr lang="en-US" sz="2200">
                <a:latin typeface="Arial" charset="0"/>
                <a:ea typeface="DejaVu Sans" charset="0"/>
                <a:cs typeface="DejaVu Sans" charset="0"/>
              </a:rPr>
            </a:br>
            <a:r>
              <a:rPr lang="en-US" sz="2200">
                <a:latin typeface="Arial" charset="0"/>
                <a:ea typeface="DejaVu Sans" charset="0"/>
                <a:cs typeface="DejaVu Sans" charset="0"/>
              </a:rPr>
              <a:t>task: get me wine for a nice late dinner for two, menu 1. fois grais 2. high quality groilled sirloin steak 3. cheese platter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buClrTx/>
              <a:buFontTx/>
              <a:buNone/>
            </a:pPr>
            <a:fld id="{CC96E613-4A05-4A83-81A8-5F1635750B9F}" type="slidenum">
              <a:rPr lang="en-US" sz="1200"/>
              <a:pPr algn="r">
                <a:buClrTx/>
                <a:buFontTx/>
                <a:buNone/>
              </a:pPr>
              <a:t>2</a:t>
            </a:fld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527F3F-C79C-4078-BCE7-161E200A8E42}" type="slidenum">
              <a:rPr lang="en-US"/>
              <a:pPr/>
              <a:t>3</a:t>
            </a:fld>
            <a:endParaRPr lang="en-US"/>
          </a:p>
        </p:txBody>
      </p:sp>
      <p:sp>
        <p:nvSpPr>
          <p:cNvPr id="2048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2" name="Text Box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6400" cy="183800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Intro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to see how different agile practitioner solve real work, I set up an observing experiment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task: get me wine for a nice late dinner for two, menu 1. fois grais 2. high quality groilled sirloin steak 3. cheese platter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freshman agile practitioner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first wine bottle 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quickest route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non-deterministic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Kanban practitioner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did never enter the liquor store (tax-free store or one of his own wines?)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returned common Italian red wine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deterministic, no learning circle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peer-programming team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discussion on type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one got a bottle, the other went into the line at the counter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discussion about the selection at the counter, no change in result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gets red wine deterministically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agile code-nazi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spend time in the store looking at the design of the bottles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buys a wine in a nice bottle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non-deterministic except for flower pots in the living room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pomodoro enthusiast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buy wine, time to spare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go back to the store to refine purchase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exchanges to another wine with nicer bottle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non-deterministic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"hot-shot wannabee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talked a lot about techniques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ended up sending a team member to the liquor store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result: same as "The freshman agile practitioner"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The value-stream agile practitioner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selects the most alcohol/price wine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deterministic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"Kent Beck"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buy his favorite wine based upon years of experience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deterministic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usually hit the targets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Final remarks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what is wrong with Agile practitioner's today?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 b="1">
                <a:latin typeface="Arial" charset="0"/>
                <a:ea typeface="DejaVu Sans" charset="0"/>
                <a:cs typeface="DejaVu Sans" charset="0"/>
              </a:rPr>
              <a:t>Post agile / Smidig 2.0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determinism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to be able to learn</a:t>
            </a:r>
            <a:br>
              <a:rPr lang="en-US" sz="2600">
                <a:latin typeface="Arial" charset="0"/>
                <a:ea typeface="DejaVu Sans" charset="0"/>
                <a:cs typeface="DejaVu Sans" charset="0"/>
              </a:rPr>
            </a:b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value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what about serving temperature, decanting the wine (maintenance aspects)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r>
              <a:rPr lang="en-US" sz="2600">
                <a:latin typeface="Arial" charset="0"/>
                <a:ea typeface="DejaVu Sans" charset="0"/>
                <a:cs typeface="DejaVu Sans" charset="0"/>
              </a:rPr>
              <a:t>what food? (organizational scope, system of systems)</a:t>
            </a:r>
          </a:p>
          <a:p>
            <a:pPr>
              <a:lnSpc>
                <a:spcPct val="80000"/>
              </a:lnSpc>
              <a:spcBef>
                <a:spcPts val="188"/>
              </a:spcBef>
              <a:buClrTx/>
              <a:buFontTx/>
              <a:buNone/>
            </a:pPr>
            <a:endParaRPr lang="en-US" sz="500">
              <a:latin typeface="Arial" charset="0"/>
              <a:ea typeface="DejaVu Sans" charset="0"/>
              <a:cs typeface="DejaVu Sans" charset="0"/>
            </a:endParaRP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buClrTx/>
              <a:buFontTx/>
              <a:buNone/>
            </a:pPr>
            <a:fld id="{A4943A6C-00BB-49EF-9F2E-0B52D4D918CA}" type="slidenum">
              <a:rPr lang="en-US" sz="1200"/>
              <a:pPr algn="r">
                <a:buClrTx/>
                <a:buFontTx/>
                <a:buNone/>
              </a:pPr>
              <a:t>3</a:t>
            </a:fld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/>
              <a:t>first wine bottle </a:t>
            </a:r>
          </a:p>
          <a:p>
            <a:r>
              <a:rPr lang="en-US" sz="1800" b="1" dirty="0" smtClean="0"/>
              <a:t>quickest route</a:t>
            </a:r>
            <a:br>
              <a:rPr lang="en-US" sz="1800" b="1" dirty="0" smtClean="0"/>
            </a:br>
            <a:r>
              <a:rPr lang="en-US" sz="1800" b="1" dirty="0" smtClean="0"/>
              <a:t>non-deterministic</a:t>
            </a:r>
          </a:p>
          <a:p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Returns in a few seconds with a common Italian red wine..</a:t>
            </a:r>
          </a:p>
          <a:p>
            <a:r>
              <a:rPr lang="en-US" b="1" dirty="0" smtClean="0"/>
              <a:t>did never enter the liquor store (tax-free store or one of his own wines?)</a:t>
            </a:r>
          </a:p>
          <a:p>
            <a:r>
              <a:rPr lang="en-US" b="1" dirty="0" smtClean="0"/>
              <a:t>deterministic, no learning circle</a:t>
            </a:r>
          </a:p>
          <a:p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discussion on type</a:t>
            </a:r>
          </a:p>
          <a:p>
            <a:r>
              <a:rPr lang="en-US" b="1" dirty="0" smtClean="0"/>
              <a:t>one got a bottle, the other went into the line at the counter</a:t>
            </a:r>
          </a:p>
          <a:p>
            <a:r>
              <a:rPr lang="en-US" b="1" dirty="0" smtClean="0"/>
              <a:t>discussion about the selection at the counter, no change in result</a:t>
            </a:r>
          </a:p>
          <a:p>
            <a:r>
              <a:rPr lang="en-US" b="1" dirty="0" smtClean="0"/>
              <a:t>gets red wine deterministically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Tries</a:t>
            </a:r>
            <a:r>
              <a:rPr lang="en-US" b="1" baseline="0" dirty="0" smtClean="0"/>
              <a:t> 40 different routes to the store</a:t>
            </a:r>
          </a:p>
          <a:p>
            <a:r>
              <a:rPr lang="en-US" b="1" baseline="0" dirty="0" smtClean="0"/>
              <a:t>Forget why he was on his way to the store</a:t>
            </a:r>
          </a:p>
          <a:p>
            <a:r>
              <a:rPr lang="en-US" b="1" baseline="0" dirty="0" smtClean="0"/>
              <a:t>Returns empty handed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spend time in the store looking at the design of the bottles</a:t>
            </a:r>
          </a:p>
          <a:p>
            <a:r>
              <a:rPr lang="en-US" b="1" dirty="0" smtClean="0"/>
              <a:t>buys a wine in a nice bottle</a:t>
            </a:r>
            <a:br>
              <a:rPr lang="en-US" b="1" dirty="0" smtClean="0"/>
            </a:br>
            <a:r>
              <a:rPr lang="en-US" b="1" dirty="0" smtClean="0"/>
              <a:t>non-deterministic except for flower pots in the living room</a:t>
            </a:r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buy wine, time to spare</a:t>
            </a:r>
          </a:p>
          <a:p>
            <a:r>
              <a:rPr lang="en-US" b="1" dirty="0" smtClean="0"/>
              <a:t>go back to the store to refine purchase</a:t>
            </a:r>
          </a:p>
          <a:p>
            <a:r>
              <a:rPr lang="en-US" b="1" dirty="0" smtClean="0"/>
              <a:t>exchanges to another wine with nicer bottle</a:t>
            </a:r>
            <a:br>
              <a:rPr lang="en-US" b="1" dirty="0" smtClean="0"/>
            </a:br>
            <a:r>
              <a:rPr lang="en-US" b="1" dirty="0" smtClean="0"/>
              <a:t>non-deterministic</a:t>
            </a:r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talkes</a:t>
            </a:r>
            <a:r>
              <a:rPr lang="en-US" b="1" dirty="0" smtClean="0"/>
              <a:t> a lot about techniques</a:t>
            </a:r>
          </a:p>
          <a:p>
            <a:r>
              <a:rPr lang="en-US" b="1" dirty="0" smtClean="0"/>
              <a:t>ended up sending a team member to the liquor store</a:t>
            </a:r>
          </a:p>
          <a:p>
            <a:r>
              <a:rPr lang="en-US" b="1" dirty="0" smtClean="0"/>
              <a:t>result: same as "The freshman agile practitioner"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selects the most alcohol/price wine</a:t>
            </a:r>
            <a:br>
              <a:rPr lang="en-US" b="1" dirty="0" smtClean="0"/>
            </a:br>
            <a:r>
              <a:rPr lang="en-US" b="1" dirty="0" smtClean="0"/>
              <a:t>deterministic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buy his favorite wine based upon years of experience</a:t>
            </a:r>
            <a:br>
              <a:rPr lang="en-US" b="1" dirty="0" smtClean="0"/>
            </a:br>
            <a:r>
              <a:rPr lang="en-US" b="1" dirty="0" smtClean="0"/>
              <a:t>deterministic</a:t>
            </a:r>
            <a:br>
              <a:rPr lang="en-US" b="1" dirty="0" smtClean="0"/>
            </a:br>
            <a:r>
              <a:rPr lang="en-US" b="1" dirty="0" smtClean="0"/>
              <a:t>usually hit the targets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113D19E-07EE-45DF-8287-B5448B629B6D}" type="slidenum">
              <a:rPr lang="en-US"/>
              <a:pPr/>
              <a:t>13</a:t>
            </a:fld>
            <a:endParaRPr lang="en-US"/>
          </a:p>
        </p:txBody>
      </p:sp>
      <p:sp>
        <p:nvSpPr>
          <p:cNvPr id="3072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Text Box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 marL="45561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pPr>
              <a:spcBef>
                <a:spcPts val="450"/>
              </a:spcBef>
              <a:buFont typeface="Arial" charset="0"/>
              <a:buChar char="•"/>
            </a:pP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determinism</a:t>
            </a:r>
          </a:p>
          <a:p>
            <a:pPr lvl="1" indent="0">
              <a:spcBef>
                <a:spcPts val="450"/>
              </a:spcBef>
              <a:buFont typeface="Arial" charset="0"/>
              <a:buChar char="•"/>
            </a:pP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To be able to learn and predict</a:t>
            </a:r>
          </a:p>
          <a:p>
            <a:pPr>
              <a:spcBef>
                <a:spcPts val="450"/>
              </a:spcBef>
              <a:buFont typeface="Arial" charset="0"/>
              <a:buChar char="•"/>
            </a:pP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value</a:t>
            </a:r>
          </a:p>
          <a:p>
            <a:pPr lvl="1" indent="0">
              <a:spcBef>
                <a:spcPts val="450"/>
              </a:spcBef>
              <a:buFont typeface="Arial" charset="0"/>
              <a:buChar char="•"/>
            </a:pP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What about serving temperature, decanting the wine </a:t>
            </a:r>
            <a:br>
              <a:rPr lang="en-US" sz="1500">
                <a:latin typeface="Arial" charset="0"/>
                <a:ea typeface="DejaVu Sans" charset="0"/>
                <a:cs typeface="DejaVu Sans" charset="0"/>
              </a:rPr>
            </a:b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(maintenance aspects)</a:t>
            </a:r>
          </a:p>
          <a:p>
            <a:pPr lvl="1" indent="0">
              <a:spcBef>
                <a:spcPts val="450"/>
              </a:spcBef>
              <a:buFont typeface="Arial" charset="0"/>
              <a:buChar char="•"/>
            </a:pP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What food? </a:t>
            </a:r>
            <a:br>
              <a:rPr lang="en-US" sz="1500">
                <a:latin typeface="Arial" charset="0"/>
                <a:ea typeface="DejaVu Sans" charset="0"/>
                <a:cs typeface="DejaVu Sans" charset="0"/>
              </a:rPr>
            </a:br>
            <a:r>
              <a:rPr lang="en-US" sz="1500">
                <a:latin typeface="Arial" charset="0"/>
                <a:ea typeface="DejaVu Sans" charset="0"/>
                <a:cs typeface="DejaVu Sans" charset="0"/>
              </a:rPr>
              <a:t>(organizational scope, system of systems)</a:t>
            </a:r>
          </a:p>
          <a:p>
            <a:pPr lvl="1" indent="0">
              <a:spcBef>
                <a:spcPts val="450"/>
              </a:spcBef>
              <a:buFont typeface="Arial" charset="0"/>
              <a:buChar char="•"/>
            </a:pPr>
            <a:r>
              <a:rPr lang="en-US" sz="1500" b="1">
                <a:latin typeface="Arial" charset="0"/>
                <a:ea typeface="DejaVu Sans" charset="0"/>
                <a:cs typeface="DejaVu Sans" charset="0"/>
              </a:rPr>
              <a:t>How did the date go…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endParaRPr lang="en-US" b="1">
              <a:latin typeface="Arial" charset="0"/>
              <a:ea typeface="DejaVu Sans" charset="0"/>
              <a:cs typeface="DejaVu Sans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buClrTx/>
              <a:buFontTx/>
              <a:buNone/>
            </a:pPr>
            <a:fld id="{EF1E3DC2-45A1-439A-B23C-47193F0FEB06}" type="slidenum">
              <a:rPr lang="en-US" sz="1200"/>
              <a:pPr algn="r">
                <a:buClrTx/>
                <a:buFontTx/>
                <a:buNone/>
              </a:pPr>
              <a:t>13</a:t>
            </a:fld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determinism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To be able to learn and predict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value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What about serving temperature, decanting the wine </a:t>
            </a:r>
            <a:br>
              <a:rPr lang="en-US" dirty="0" smtClean="0"/>
            </a:br>
            <a:r>
              <a:rPr lang="en-US" dirty="0" smtClean="0"/>
              <a:t>(maintenance aspects)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What food? </a:t>
            </a:r>
            <a:br>
              <a:rPr lang="en-US" dirty="0" smtClean="0"/>
            </a:br>
            <a:r>
              <a:rPr lang="en-US" dirty="0" smtClean="0"/>
              <a:t>(organizational scope, system of systems)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How did the date go…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71F556-7F46-4D7C-B633-B0E7CE95973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1F48FE8-53AB-4EEA-90EB-BF2FDFA0FA70}" type="slidenum">
              <a:rPr lang="en-US"/>
              <a:pPr/>
              <a:t>15</a:t>
            </a:fld>
            <a:endParaRPr lang="en-US"/>
          </a:p>
        </p:txBody>
      </p:sp>
      <p:sp>
        <p:nvSpPr>
          <p:cNvPr id="3174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buClrTx/>
              <a:buFontTx/>
              <a:buNone/>
            </a:pPr>
            <a:fld id="{CDB52D74-3A79-4B28-933F-757FE3811F9F}" type="slidenum">
              <a:rPr lang="en-US" sz="1200"/>
              <a:pPr algn="r">
                <a:buClrTx/>
                <a:buFontTx/>
                <a:buNone/>
              </a:pPr>
              <a:t>15</a:t>
            </a:fld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9017BD-AA9D-4CC3-8559-8BD4A59AC2E8}" type="slidenum">
              <a:rPr lang="nb-NO" smtClean="0"/>
              <a:pPr>
                <a:defRPr/>
              </a:pPr>
              <a:t>16</a:t>
            </a:fld>
            <a:endParaRPr lang="nb-N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b-NO" smtClean="0"/>
              <a:t>Klikk for å redigere undertittelstil i malen</a:t>
            </a:r>
            <a:endParaRPr lang="nb-NO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2205038"/>
            <a:ext cx="4032250" cy="3168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1850" y="2205038"/>
            <a:ext cx="4033838" cy="3168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b-NO" noProof="0" smtClean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6605588" y="765175"/>
            <a:ext cx="2070100" cy="4608513"/>
          </a:xfrm>
        </p:spPr>
        <p:txBody>
          <a:bodyPr vert="eaVert"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395288" y="765175"/>
            <a:ext cx="6057900" cy="4608513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76517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05038"/>
            <a:ext cx="8218488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28" name="Picture 8" descr="webstep_logo_liten_invers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35825" y="6165850"/>
            <a:ext cx="15843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14" descr="Vinter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95288" y="260350"/>
            <a:ext cx="12239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1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64388" y="6570663"/>
            <a:ext cx="1871662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i="1">
                <a:solidFill>
                  <a:srgbClr val="336699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i="1">
          <a:solidFill>
            <a:srgbClr val="33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cantara.no/display/OWA/An+agile+tragedy+-+the+agile+practitioner+visits+the+liquor+stor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totto@webstep.no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jpeg"/><Relationship Id="rId4" Type="http://schemas.openxmlformats.org/officeDocument/2006/relationships/image" Target="../media/image2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7164388" y="6570663"/>
            <a:ext cx="1871662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800" i="1">
                <a:solidFill>
                  <a:srgbClr val="336699"/>
                </a:solidFill>
                <a:latin typeface="Verdana" pitchFamily="32" charset="0"/>
              </a:rPr>
              <a:t>Pust ut – Senk skuldrene</a:t>
            </a:r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971550" y="206057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4000" b="1" i="1">
                <a:solidFill>
                  <a:srgbClr val="009999"/>
                </a:solidFill>
                <a:latin typeface="Verdana" pitchFamily="32" charset="0"/>
                <a:hlinkClick r:id="rId3"/>
              </a:rPr>
              <a:t>An agile tragedy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1042988" y="3429000"/>
            <a:ext cx="6400800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450"/>
              </a:spcBef>
              <a:buFont typeface="Verdana" pitchFamily="32" charset="0"/>
              <a:buChar char="-"/>
            </a:pPr>
            <a:r>
              <a:rPr lang="en-US">
                <a:latin typeface="Verdana" pitchFamily="32" charset="0"/>
              </a:rPr>
              <a:t>the agile practitioner visits the wine store</a:t>
            </a:r>
          </a:p>
          <a:p>
            <a:pPr>
              <a:spcBef>
                <a:spcPts val="450"/>
              </a:spcBef>
              <a:buFont typeface="Verdana" pitchFamily="32" charset="0"/>
              <a:buNone/>
            </a:pPr>
            <a:endParaRPr lang="en-US">
              <a:latin typeface="Verdana" pitchFamily="32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214438" y="4786313"/>
            <a:ext cx="3500437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/>
              <a:t>Totto-10</a:t>
            </a:r>
          </a:p>
          <a:p>
            <a:pPr>
              <a:buClrTx/>
              <a:buFontTx/>
              <a:buNone/>
            </a:pPr>
            <a:r>
              <a:rPr lang="en-US"/>
              <a:t>Twitter: @javatotto</a:t>
            </a:r>
          </a:p>
          <a:p>
            <a:pPr>
              <a:buClrTx/>
              <a:buFontTx/>
              <a:buNone/>
            </a:pPr>
            <a:r>
              <a:rPr lang="en-US"/>
              <a:t>totto@webstep.no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75" y="0"/>
            <a:ext cx="3540125" cy="235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257800" y="4756150"/>
            <a:ext cx="3657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/>
              <a:t>Note: This is a culture experience report based </a:t>
            </a:r>
            <a:r>
              <a:rPr lang="en-US" i="1"/>
              <a:t>“solely”</a:t>
            </a:r>
            <a:r>
              <a:rPr lang="en-US"/>
              <a:t> on the Norwegian agile communities, so your mileage </a:t>
            </a:r>
            <a:r>
              <a:rPr lang="en-US" b="1"/>
              <a:t>will</a:t>
            </a:r>
            <a:r>
              <a:rPr lang="en-US"/>
              <a:t> vary...</a:t>
            </a:r>
          </a:p>
        </p:txBody>
      </p:sp>
    </p:spTree>
    <p:extLst>
      <p:ext uri="{BB962C8B-B14F-4D97-AF65-F5344CB8AC3E}">
        <p14:creationId xmlns:p14="http://schemas.microsoft.com/office/powerpoint/2010/main" val="10103398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/>
          <p:cNvSpPr txBox="1">
            <a:spLocks noChangeArrowheads="1"/>
          </p:cNvSpPr>
          <p:nvPr/>
        </p:nvSpPr>
        <p:spPr bwMode="auto">
          <a:xfrm>
            <a:off x="395288" y="7651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400" b="1" i="1">
                <a:solidFill>
                  <a:srgbClr val="336699"/>
                </a:solidFill>
                <a:latin typeface="Verdana" pitchFamily="32" charset="0"/>
              </a:rPr>
              <a:t>Intro - The agile fairytale revisited…</a:t>
            </a:r>
            <a:r>
              <a:rPr lang="nb-NO" sz="2400" b="1" i="1">
                <a:solidFill>
                  <a:srgbClr val="336699"/>
                </a:solidFill>
                <a:latin typeface="Verdana" pitchFamily="32" charset="0"/>
              </a:rPr>
              <a:t/>
            </a:r>
            <a:br>
              <a:rPr lang="nb-NO" sz="2400" b="1" i="1">
                <a:solidFill>
                  <a:srgbClr val="336699"/>
                </a:solidFill>
                <a:latin typeface="Verdana" pitchFamily="32" charset="0"/>
              </a:rPr>
            </a:br>
            <a:endParaRPr lang="nb-NO" sz="2400" b="1" i="1">
              <a:solidFill>
                <a:srgbClr val="336699"/>
              </a:solidFill>
              <a:latin typeface="Verdana" pitchFamily="32" charset="0"/>
            </a:endParaRP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28625" y="1785938"/>
            <a:ext cx="8218488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1413" indent="-2270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>
                <a:latin typeface="Verdana" pitchFamily="32" charset="0"/>
              </a:rPr>
              <a:t>A critical experiment to see how far different Agile “</a:t>
            </a:r>
            <a:r>
              <a:rPr lang="en-US" i="1">
                <a:latin typeface="Verdana" pitchFamily="32" charset="0"/>
              </a:rPr>
              <a:t>techniques</a:t>
            </a:r>
            <a:r>
              <a:rPr lang="en-US">
                <a:latin typeface="Verdana" pitchFamily="32" charset="0"/>
              </a:rPr>
              <a:t>” will get you in a simple real-world experiment.</a:t>
            </a:r>
          </a:p>
          <a:p>
            <a:pPr>
              <a:spcBef>
                <a:spcPts val="450"/>
              </a:spcBef>
              <a:buFont typeface="Verdana" pitchFamily="32" charset="0"/>
              <a:buNone/>
            </a:pPr>
            <a:endParaRPr lang="en-US">
              <a:latin typeface="Verdana" pitchFamily="32" charset="0"/>
            </a:endParaRP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>
                <a:latin typeface="Verdana" pitchFamily="32" charset="0"/>
              </a:rPr>
              <a:t>The though experiment</a:t>
            </a:r>
          </a:p>
          <a:p>
            <a:pPr lvl="1">
              <a:spcBef>
                <a:spcPts val="450"/>
              </a:spcBef>
              <a:buFont typeface="Verdana" pitchFamily="32" charset="0"/>
              <a:buChar char="–"/>
            </a:pPr>
            <a:r>
              <a:rPr lang="en-US">
                <a:latin typeface="Verdana" pitchFamily="32" charset="0"/>
              </a:rPr>
              <a:t>Observe how typical Agile development </a:t>
            </a:r>
            <a:r>
              <a:rPr lang="en-US" i="1">
                <a:latin typeface="Verdana" pitchFamily="32" charset="0"/>
              </a:rPr>
              <a:t>stereotypes</a:t>
            </a:r>
            <a:r>
              <a:rPr lang="en-US">
                <a:latin typeface="Verdana" pitchFamily="32" charset="0"/>
              </a:rPr>
              <a:t> handle the same task</a:t>
            </a:r>
          </a:p>
          <a:p>
            <a:pPr lvl="1">
              <a:spcBef>
                <a:spcPts val="450"/>
              </a:spcBef>
              <a:buFont typeface="Verdana" pitchFamily="32" charset="0"/>
              <a:buChar char="–"/>
            </a:pPr>
            <a:r>
              <a:rPr lang="en-US">
                <a:latin typeface="Verdana" pitchFamily="32" charset="0"/>
              </a:rPr>
              <a:t>Task: bring wine for a</a:t>
            </a:r>
            <a:r>
              <a:rPr lang="en-US" i="1">
                <a:latin typeface="Verdana" pitchFamily="32" charset="0"/>
              </a:rPr>
              <a:t> my</a:t>
            </a:r>
            <a:r>
              <a:rPr lang="en-US">
                <a:latin typeface="Verdana" pitchFamily="32" charset="0"/>
              </a:rPr>
              <a:t> </a:t>
            </a:r>
            <a:r>
              <a:rPr lang="en-US" b="1">
                <a:latin typeface="Verdana" pitchFamily="32" charset="0"/>
              </a:rPr>
              <a:t>special dinner date</a:t>
            </a:r>
            <a:br>
              <a:rPr lang="en-US" b="1">
                <a:latin typeface="Verdana" pitchFamily="32" charset="0"/>
              </a:rPr>
            </a:br>
            <a:endParaRPr lang="en-US" b="1">
              <a:latin typeface="Verdana" pitchFamily="32" charset="0"/>
            </a:endParaRPr>
          </a:p>
          <a:p>
            <a:pPr lvl="1">
              <a:spcBef>
                <a:spcPts val="450"/>
              </a:spcBef>
              <a:buFont typeface="Verdana" pitchFamily="32" charset="0"/>
              <a:buChar char="–"/>
            </a:pPr>
            <a:r>
              <a:rPr lang="en-US">
                <a:latin typeface="Verdana" pitchFamily="32" charset="0"/>
              </a:rPr>
              <a:t>Context (menu):  </a:t>
            </a:r>
          </a:p>
          <a:p>
            <a:pPr lvl="2">
              <a:spcBef>
                <a:spcPts val="450"/>
              </a:spcBef>
              <a:buFont typeface="Arial" charset="0"/>
              <a:buChar char="•"/>
            </a:pPr>
            <a:r>
              <a:rPr lang="en-US"/>
              <a:t>starter: 	foie gras</a:t>
            </a:r>
          </a:p>
          <a:p>
            <a:pPr lvl="2">
              <a:spcBef>
                <a:spcPts val="450"/>
              </a:spcBef>
              <a:buFont typeface="Arial" charset="0"/>
              <a:buChar char="•"/>
            </a:pPr>
            <a:r>
              <a:rPr lang="en-US"/>
              <a:t>main course: 	high quality grilled Sirloin steak </a:t>
            </a:r>
          </a:p>
          <a:p>
            <a:pPr lvl="2">
              <a:spcBef>
                <a:spcPts val="450"/>
              </a:spcBef>
              <a:buFont typeface="Arial" charset="0"/>
              <a:buChar char="•"/>
            </a:pPr>
            <a:r>
              <a:rPr lang="en-US"/>
              <a:t>dessert: 	cheese platter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7164388" y="6570663"/>
            <a:ext cx="1871662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800" i="1">
                <a:solidFill>
                  <a:srgbClr val="336699"/>
                </a:solidFill>
                <a:latin typeface="Verdana" pitchFamily="32" charset="0"/>
              </a:rPr>
              <a:t>Pust ut – Senk skuldrene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63" y="4000500"/>
            <a:ext cx="2941637" cy="197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2575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395288" y="7651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400" b="1" i="1">
                <a:solidFill>
                  <a:srgbClr val="336699"/>
                </a:solidFill>
                <a:latin typeface="Verdana" pitchFamily="32" charset="0"/>
              </a:rPr>
              <a:t>The contenders</a:t>
            </a: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14313" y="2214563"/>
            <a:ext cx="8218487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freshman agile practitioner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Kanban practitioner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peer-programming team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code dojo evangelist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agile code-nazi / code quality geek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"hot-shot wannabee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pomodoro enthusiast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The value-stream agile practitioner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 b="1">
                <a:latin typeface="Verdana" pitchFamily="32" charset="0"/>
              </a:rPr>
              <a:t>"Kent Beck"</a:t>
            </a:r>
          </a:p>
          <a:p>
            <a:pPr>
              <a:spcBef>
                <a:spcPts val="450"/>
              </a:spcBef>
              <a:buFont typeface="Verdana" pitchFamily="32" charset="0"/>
              <a:buNone/>
            </a:pPr>
            <a:endParaRPr lang="en-US">
              <a:latin typeface="Verdana" pitchFamily="32" charset="0"/>
            </a:endParaRPr>
          </a:p>
          <a:p>
            <a:pPr>
              <a:spcBef>
                <a:spcPts val="450"/>
              </a:spcBef>
              <a:buFont typeface="Verdana" pitchFamily="32" charset="0"/>
              <a:buNone/>
            </a:pPr>
            <a:endParaRPr lang="en-US">
              <a:latin typeface="Verdana" pitchFamily="32" charset="0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7164388" y="6570663"/>
            <a:ext cx="1871662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800" i="1">
                <a:solidFill>
                  <a:srgbClr val="336699"/>
                </a:solidFill>
                <a:latin typeface="Verdana" pitchFamily="32" charset="0"/>
              </a:rPr>
              <a:t>Pust ut – Senk skuldrene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5" y="0"/>
            <a:ext cx="4289425" cy="321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44827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freshman agile practitioner</a:t>
            </a:r>
            <a:endParaRPr lang="en-US" dirty="0"/>
          </a:p>
        </p:txBody>
      </p:sp>
      <p:pic>
        <p:nvPicPr>
          <p:cNvPr id="5" name="Content Placeholder 4" descr="Agile-Enablement-Battlefield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714487"/>
            <a:ext cx="4714876" cy="404651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6" name="Picture 5" descr="agile-cod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55390" y="-24"/>
            <a:ext cx="2988610" cy="2500330"/>
          </a:xfrm>
          <a:prstGeom prst="rect">
            <a:avLst/>
          </a:prstGeom>
        </p:spPr>
      </p:pic>
      <p:pic>
        <p:nvPicPr>
          <p:cNvPr id="7" name="Picture 6" descr="Deliberate-Practic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97922" y="2643182"/>
            <a:ext cx="4446078" cy="25223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5720" y="5715016"/>
            <a:ext cx="6072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Poor and confused son-of-a-bitch…..</a:t>
            </a:r>
          </a:p>
          <a:p>
            <a:r>
              <a:rPr lang="en-US" dirty="0" smtClean="0"/>
              <a:t>Tries helplessly to maximize productivity…..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Kanban</a:t>
            </a:r>
            <a:r>
              <a:rPr lang="en-US" dirty="0" smtClean="0"/>
              <a:t> practitioner</a:t>
            </a:r>
            <a:endParaRPr lang="en-US" dirty="0"/>
          </a:p>
        </p:txBody>
      </p:sp>
      <p:pic>
        <p:nvPicPr>
          <p:cNvPr id="5" name="Content Placeholder 4" descr="kanban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265207" y="2857496"/>
            <a:ext cx="5878793" cy="310381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6" name="Picture 5" descr="Toyota-Way-Scan-agile-l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02032" y="-8893"/>
            <a:ext cx="4341968" cy="2937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5720" y="2786058"/>
            <a:ext cx="30718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Cool guy with “hip” glasses…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Snappy dresser…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Walk the talk…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Feel the flow…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We need to </a:t>
            </a:r>
            <a:r>
              <a:rPr lang="en-US" b="1" dirty="0" smtClean="0"/>
              <a:t>eliminate waste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..and what happens..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peer-programming team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6" name="Picture 5" descr="dont-be-dogmatic.JPG"/>
          <p:cNvPicPr>
            <a:picLocks noChangeAspect="1"/>
          </p:cNvPicPr>
          <p:nvPr/>
        </p:nvPicPr>
        <p:blipFill>
          <a:blip r:embed="rId3" cstate="print"/>
          <a:srcRect r="52080"/>
          <a:stretch>
            <a:fillRect/>
          </a:stretch>
        </p:blipFill>
        <p:spPr>
          <a:xfrm>
            <a:off x="6429388" y="0"/>
            <a:ext cx="2714612" cy="4293277"/>
          </a:xfrm>
          <a:prstGeom prst="rect">
            <a:avLst/>
          </a:prstGeom>
        </p:spPr>
      </p:pic>
      <p:pic>
        <p:nvPicPr>
          <p:cNvPr id="5" name="Content Placeholder 4" descr="peer programming.jpg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285720" y="2625298"/>
            <a:ext cx="5072098" cy="3804074"/>
          </a:xfrm>
        </p:spPr>
      </p:pic>
      <p:sp>
        <p:nvSpPr>
          <p:cNvPr id="8" name="TextBox 7"/>
          <p:cNvSpPr txBox="1"/>
          <p:nvPr/>
        </p:nvSpPr>
        <p:spPr>
          <a:xfrm>
            <a:off x="357158" y="1857364"/>
            <a:ext cx="4286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driver and the rubber-duck…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code dojo evangelist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1643050"/>
            <a:ext cx="42148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I’m just a programmer</a:t>
            </a:r>
          </a:p>
          <a:p>
            <a:r>
              <a:rPr lang="en-US" i="1" dirty="0" smtClean="0"/>
              <a:t>I want to learn </a:t>
            </a:r>
          </a:p>
          <a:p>
            <a:r>
              <a:rPr lang="en-US" i="1" dirty="0" smtClean="0"/>
              <a:t>-100 new ways to develop simple applications</a:t>
            </a:r>
          </a:p>
          <a:p>
            <a:endParaRPr lang="en-US" i="1" dirty="0" smtClean="0"/>
          </a:p>
          <a:p>
            <a:r>
              <a:rPr lang="en-US" i="1" dirty="0" smtClean="0"/>
              <a:t>Completely lost focus</a:t>
            </a:r>
          </a:p>
        </p:txBody>
      </p:sp>
      <p:pic>
        <p:nvPicPr>
          <p:cNvPr id="7" name="Content Placeholder 6" descr="dojo_event_6918925.jpe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-1" y="3429000"/>
            <a:ext cx="4571999" cy="3429000"/>
          </a:xfrm>
        </p:spPr>
      </p:pic>
      <p:pic>
        <p:nvPicPr>
          <p:cNvPr id="8" name="Picture 7" descr="DOJO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15074" y="0"/>
            <a:ext cx="2941885" cy="57864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agile code-</a:t>
            </a:r>
            <a:r>
              <a:rPr lang="en-US" dirty="0" err="1" smtClean="0"/>
              <a:t>nazi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7" name="Content Placeholder 6" descr="TDD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548519" y="0"/>
            <a:ext cx="2595481" cy="3168650"/>
          </a:xfrm>
        </p:spPr>
      </p:pic>
      <p:pic>
        <p:nvPicPr>
          <p:cNvPr id="8" name="Picture 7" descr="clean_code_wtf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2288873"/>
            <a:ext cx="5214942" cy="4569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2132" y="3286124"/>
            <a:ext cx="30718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 err="1" smtClean="0"/>
              <a:t>agilified</a:t>
            </a:r>
            <a:r>
              <a:rPr lang="en-US" dirty="0" smtClean="0"/>
              <a:t> tech-lead..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Self-proclaimed expert..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My way is THE way..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Quality tool fascist..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pomodoro</a:t>
            </a:r>
            <a:r>
              <a:rPr lang="en-US" dirty="0" smtClean="0"/>
              <a:t> enthusiast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9" name="Content Placeholder 8" descr="pomodoro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936600" y="645523"/>
            <a:ext cx="4367210" cy="4391472"/>
          </a:xfrm>
        </p:spPr>
      </p:pic>
      <p:sp>
        <p:nvSpPr>
          <p:cNvPr id="11" name="TextBox 10"/>
          <p:cNvSpPr txBox="1"/>
          <p:nvPr/>
        </p:nvSpPr>
        <p:spPr>
          <a:xfrm>
            <a:off x="214282" y="2285992"/>
            <a:ext cx="42148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Re-inventor of common sense</a:t>
            </a:r>
          </a:p>
          <a:p>
            <a:pPr>
              <a:buFontTx/>
              <a:buChar char="-"/>
            </a:pPr>
            <a:r>
              <a:rPr lang="en-US" i="1" dirty="0" smtClean="0"/>
              <a:t>By working hard and focused, you get results</a:t>
            </a:r>
          </a:p>
          <a:p>
            <a:endParaRPr lang="en-US" i="1" dirty="0" smtClean="0"/>
          </a:p>
          <a:p>
            <a:r>
              <a:rPr lang="en-US" dirty="0" smtClean="0"/>
              <a:t>Self-centric evangelist</a:t>
            </a:r>
          </a:p>
          <a:p>
            <a:pPr>
              <a:buFontTx/>
              <a:buChar char="-"/>
            </a:pPr>
            <a:r>
              <a:rPr lang="en-US" i="1" dirty="0" smtClean="0"/>
              <a:t>You have to adopt my new revolution..</a:t>
            </a:r>
            <a:r>
              <a:rPr lang="en-US" dirty="0" smtClean="0"/>
              <a:t> </a:t>
            </a:r>
            <a:r>
              <a:rPr lang="en-US" i="1" dirty="0" smtClean="0"/>
              <a:t>It’s named after tomato in Italian..</a:t>
            </a:r>
          </a:p>
          <a:p>
            <a:pPr>
              <a:buFontTx/>
              <a:buChar char="-"/>
            </a:pPr>
            <a:endParaRPr lang="en-US" i="1" dirty="0" smtClean="0"/>
          </a:p>
          <a:p>
            <a:r>
              <a:rPr lang="en-US" dirty="0" smtClean="0"/>
              <a:t>It’s the coolest thing in the universe…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8604"/>
            <a:ext cx="8229600" cy="1143000"/>
          </a:xfrm>
        </p:spPr>
        <p:txBody>
          <a:bodyPr/>
          <a:lstStyle/>
          <a:p>
            <a:r>
              <a:rPr lang="nb-NO" dirty="0" smtClean="0"/>
              <a:t>The "</a:t>
            </a:r>
            <a:r>
              <a:rPr lang="nb-NO" dirty="0" err="1" smtClean="0"/>
              <a:t>hot-shot</a:t>
            </a:r>
            <a:r>
              <a:rPr lang="nb-NO" dirty="0" smtClean="0"/>
              <a:t>” </a:t>
            </a:r>
            <a:r>
              <a:rPr lang="nb-NO" dirty="0" err="1" smtClean="0"/>
              <a:t>wannabee</a:t>
            </a:r>
            <a:endParaRPr lang="nb-N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7" name="Picture 6" descr="agile-gam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00628" y="0"/>
            <a:ext cx="4143372" cy="3214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282" y="1428736"/>
            <a:ext cx="47149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Know everything there is on Agile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Follow the Agile hotshots in every medium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Quotes hotshots on a regular basis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Go to all the </a:t>
            </a:r>
            <a:r>
              <a:rPr lang="en-US" i="1" dirty="0" smtClean="0"/>
              <a:t>cool</a:t>
            </a:r>
            <a:r>
              <a:rPr lang="en-US" dirty="0" smtClean="0"/>
              <a:t> conferences and workshops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 talker who believe he is God’s local representative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Still codes 2.5 layer db driven web-apps…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Typically found on XP </a:t>
            </a:r>
            <a:r>
              <a:rPr lang="en-US" dirty="0" err="1" smtClean="0"/>
              <a:t>meetup</a:t>
            </a:r>
            <a:r>
              <a:rPr lang="en-US" dirty="0" smtClean="0"/>
              <a:t>/Lean </a:t>
            </a:r>
            <a:r>
              <a:rPr lang="en-US" dirty="0" err="1" smtClean="0"/>
              <a:t>meetups</a:t>
            </a:r>
            <a:r>
              <a:rPr lang="en-US" dirty="0" smtClean="0"/>
              <a:t>, </a:t>
            </a:r>
            <a:r>
              <a:rPr lang="en-US" dirty="0" err="1" smtClean="0"/>
              <a:t>Smidig</a:t>
            </a:r>
            <a:r>
              <a:rPr lang="en-US" dirty="0" smtClean="0"/>
              <a:t> 2009 and XP 2010…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Lack the interest in analyzing consequences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Everyone else is doing Agile wrong!!!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value-stream agile practitioner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7" name="Content Placeholder 6" descr="agile...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5699760"/>
            <a:ext cx="4632960" cy="1158240"/>
          </a:xfrm>
        </p:spPr>
      </p:pic>
      <p:pic>
        <p:nvPicPr>
          <p:cNvPr id="10" name="Picture 9" descr="agile valu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70533" y="1857364"/>
            <a:ext cx="4930623" cy="3143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596" y="2000240"/>
            <a:ext cx="36433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Experienced SW developer and Agile practitioner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Analytical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Wannabie</a:t>
            </a:r>
            <a:r>
              <a:rPr lang="en-US" dirty="0" smtClean="0"/>
              <a:t> manager, does not code..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Frustrated of not delivering project successes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"Kent Beck"</a:t>
            </a:r>
            <a:endParaRPr lang="en-US" dirty="0"/>
          </a:p>
        </p:txBody>
      </p:sp>
      <p:pic>
        <p:nvPicPr>
          <p:cNvPr id="6" name="Content Placeholder 5" descr="Agile Leadership_thumb[4]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3071810"/>
            <a:ext cx="7213924" cy="378619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5" name="Content Placeholder 4" descr="agile-architec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6419331" y="0"/>
            <a:ext cx="2724669" cy="2043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28596" y="1928802"/>
            <a:ext cx="4000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WTF?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Does not give a damn, just deliver…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395288" y="7651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400" b="1" i="1">
                <a:solidFill>
                  <a:srgbClr val="336699"/>
                </a:solidFill>
                <a:latin typeface="Verdana" pitchFamily="32" charset="0"/>
              </a:rPr>
              <a:t>Final remarks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28625" y="1617663"/>
            <a:ext cx="7800975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>
                <a:latin typeface="Verdana" pitchFamily="32" charset="0"/>
              </a:rPr>
              <a:t>What is wrong with Agile practitioner's today?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7164388" y="6570663"/>
            <a:ext cx="1871662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800" i="1">
                <a:solidFill>
                  <a:srgbClr val="336699"/>
                </a:solidFill>
                <a:latin typeface="Verdana" pitchFamily="32" charset="0"/>
              </a:rPr>
              <a:t>Pust ut – Senk skuldrene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643188"/>
            <a:ext cx="5572125" cy="400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6629400" y="3365500"/>
            <a:ext cx="2286000" cy="146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/>
              <a:t>Deterministic?</a:t>
            </a:r>
          </a:p>
          <a:p>
            <a:endParaRPr lang="en-US"/>
          </a:p>
          <a:p>
            <a:r>
              <a:rPr lang="en-US"/>
              <a:t>Did anyone learn?</a:t>
            </a:r>
            <a:br>
              <a:rPr lang="en-US"/>
            </a:br>
            <a:r>
              <a:rPr lang="en-US"/>
              <a:t> – how did my date go...  :)</a:t>
            </a:r>
          </a:p>
        </p:txBody>
      </p:sp>
    </p:spTree>
    <p:extLst>
      <p:ext uri="{BB962C8B-B14F-4D97-AF65-F5344CB8AC3E}">
        <p14:creationId xmlns:p14="http://schemas.microsoft.com/office/powerpoint/2010/main" val="21806159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928678"/>
            <a:ext cx="5605472" cy="1143000"/>
          </a:xfrm>
        </p:spPr>
        <p:txBody>
          <a:bodyPr/>
          <a:lstStyle/>
          <a:p>
            <a:r>
              <a:rPr lang="en-US" dirty="0" smtClean="0"/>
              <a:t>What we need…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Pust ut – Senk skuldrene</a:t>
            </a:r>
            <a:endParaRPr lang="en-US"/>
          </a:p>
        </p:txBody>
      </p:sp>
      <p:pic>
        <p:nvPicPr>
          <p:cNvPr id="5" name="Content Placeholder 4" descr="agile-walkthetalk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701280" y="0"/>
            <a:ext cx="1442720" cy="2148840"/>
          </a:xfrm>
        </p:spPr>
      </p:pic>
      <p:pic>
        <p:nvPicPr>
          <p:cNvPr id="8" name="Picture 7" descr="agility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86446" y="0"/>
            <a:ext cx="3512820" cy="403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7158" y="2852936"/>
            <a:ext cx="492922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dirty="0" smtClean="0"/>
              <a:t>I strongly believe that we need some extension to Agile to…</a:t>
            </a:r>
          </a:p>
          <a:p>
            <a:pPr marL="0" lvl="1"/>
            <a:endParaRPr lang="en-US" b="1" dirty="0" smtClean="0"/>
          </a:p>
          <a:p>
            <a:pPr marL="285750" lvl="1" indent="-285750">
              <a:buFont typeface="Arial" charset="0"/>
              <a:buChar char="•"/>
            </a:pPr>
            <a:r>
              <a:rPr lang="en-US" dirty="0" smtClean="0"/>
              <a:t>Try </a:t>
            </a:r>
            <a:r>
              <a:rPr lang="en-US" dirty="0" smtClean="0"/>
              <a:t>to address a deterministic route to answer the real question favorably</a:t>
            </a:r>
            <a:r>
              <a:rPr lang="en-US" dirty="0" smtClean="0"/>
              <a:t>:</a:t>
            </a:r>
          </a:p>
          <a:p>
            <a:pPr marL="0" lvl="1"/>
            <a:endParaRPr lang="en-US" dirty="0" smtClean="0"/>
          </a:p>
          <a:p>
            <a:pPr marL="0" lvl="1"/>
            <a:endParaRPr lang="en-US" b="1" dirty="0" smtClean="0"/>
          </a:p>
          <a:p>
            <a:pPr marL="0" lvl="1"/>
            <a:r>
              <a:rPr lang="en-US" b="1" dirty="0" smtClean="0"/>
              <a:t>	</a:t>
            </a:r>
            <a:r>
              <a:rPr lang="en-US" sz="2800" b="1" dirty="0" smtClean="0"/>
              <a:t>How did the date go…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/>
          <p:cNvSpPr txBox="1">
            <a:spLocks noChangeArrowheads="1"/>
          </p:cNvSpPr>
          <p:nvPr/>
        </p:nvSpPr>
        <p:spPr bwMode="auto">
          <a:xfrm>
            <a:off x="395288" y="7651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400" b="1" i="1">
                <a:solidFill>
                  <a:srgbClr val="336699"/>
                </a:solidFill>
                <a:latin typeface="Verdana" pitchFamily="32" charset="0"/>
              </a:rPr>
              <a:t>Summary</a:t>
            </a:r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14313" y="1643063"/>
            <a:ext cx="5929312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>
                <a:latin typeface="Verdana" pitchFamily="32" charset="0"/>
              </a:rPr>
              <a:t>Agile techniques are great, but they only help you part of the way</a:t>
            </a:r>
          </a:p>
          <a:p>
            <a:pPr>
              <a:spcBef>
                <a:spcPts val="450"/>
              </a:spcBef>
              <a:buFont typeface="Verdana" pitchFamily="32" charset="0"/>
              <a:buChar char="•"/>
            </a:pPr>
            <a:r>
              <a:rPr lang="en-US">
                <a:latin typeface="Verdana" pitchFamily="32" charset="0"/>
              </a:rPr>
              <a:t>Be aware of how the different agile techniques </a:t>
            </a:r>
            <a:r>
              <a:rPr lang="en-US" b="1">
                <a:latin typeface="Verdana" pitchFamily="32" charset="0"/>
              </a:rPr>
              <a:t>skew</a:t>
            </a:r>
            <a:r>
              <a:rPr lang="en-US">
                <a:latin typeface="Verdana" pitchFamily="32" charset="0"/>
              </a:rPr>
              <a:t> the results</a:t>
            </a:r>
          </a:p>
          <a:p>
            <a:pPr>
              <a:spcBef>
                <a:spcPts val="450"/>
              </a:spcBef>
              <a:buFont typeface="Verdana" pitchFamily="32" charset="0"/>
              <a:buNone/>
            </a:pPr>
            <a:endParaRPr lang="en-US">
              <a:latin typeface="Verdana" pitchFamily="32" charset="0"/>
            </a:endParaRPr>
          </a:p>
          <a:p>
            <a:pPr>
              <a:spcBef>
                <a:spcPts val="450"/>
              </a:spcBef>
              <a:buFont typeface="Verdana" pitchFamily="32" charset="0"/>
              <a:buNone/>
            </a:pPr>
            <a:endParaRPr lang="en-US">
              <a:latin typeface="Verdana" pitchFamily="32" charset="0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164388" y="6570663"/>
            <a:ext cx="1871662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800" i="1">
                <a:solidFill>
                  <a:srgbClr val="336699"/>
                </a:solidFill>
                <a:latin typeface="Verdana" pitchFamily="32" charset="0"/>
              </a:rPr>
              <a:t>Pust ut – Senk skuldrene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00" y="0"/>
            <a:ext cx="2781300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14688"/>
            <a:ext cx="6421438" cy="364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715125" y="3286125"/>
            <a:ext cx="2214563" cy="283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endParaRPr lang="en-US"/>
          </a:p>
          <a:p>
            <a:pPr>
              <a:buClrTx/>
              <a:buFontTx/>
              <a:buNone/>
            </a:pPr>
            <a:r>
              <a:rPr lang="en-US"/>
              <a:t>There is </a:t>
            </a:r>
            <a:r>
              <a:rPr lang="en-US" b="1"/>
              <a:t>STILL</a:t>
            </a:r>
            <a:r>
              <a:rPr lang="en-US"/>
              <a:t> no silver bullets or golden shortcuts</a:t>
            </a:r>
          </a:p>
          <a:p>
            <a:pPr>
              <a:buClrTx/>
              <a:buFontTx/>
              <a:buNone/>
            </a:pPr>
            <a:endParaRPr lang="en-US"/>
          </a:p>
          <a:p>
            <a:pPr>
              <a:buClrTx/>
              <a:buFontTx/>
              <a:buNone/>
            </a:pPr>
            <a:r>
              <a:rPr lang="en-US"/>
              <a:t>Its not the techniques which fail, it is the </a:t>
            </a:r>
            <a:r>
              <a:rPr lang="en-US" b="1"/>
              <a:t>PEOPLE!!</a:t>
            </a:r>
          </a:p>
          <a:p>
            <a:pPr>
              <a:buClrTx/>
              <a:buFontTx/>
              <a:buNone/>
            </a:pPr>
            <a:endParaRPr lang="en-US" b="1"/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246063" y="71438"/>
            <a:ext cx="5857875" cy="614362"/>
          </a:xfrm>
          <a:prstGeom prst="rect">
            <a:avLst/>
          </a:prstGeom>
          <a:solidFill>
            <a:srgbClr val="BBE0E3"/>
          </a:solidFill>
          <a:ln w="25560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latin typeface="Verdana" pitchFamily="32" charset="0"/>
              </a:rPr>
              <a:t>What happpened to people over processes…</a:t>
            </a:r>
          </a:p>
        </p:txBody>
      </p:sp>
    </p:spTree>
    <p:extLst>
      <p:ext uri="{BB962C8B-B14F-4D97-AF65-F5344CB8AC3E}">
        <p14:creationId xmlns:p14="http://schemas.microsoft.com/office/powerpoint/2010/main" val="14511358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3281371"/>
            <a:ext cx="7772400" cy="1362075"/>
          </a:xfrm>
        </p:spPr>
        <p:txBody>
          <a:bodyPr/>
          <a:lstStyle/>
          <a:p>
            <a:r>
              <a:rPr lang="nb-NO" dirty="0" smtClean="0"/>
              <a:t>Takk for oppmerksomheten!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57224" y="1928802"/>
            <a:ext cx="5588336" cy="1500187"/>
          </a:xfrm>
        </p:spPr>
        <p:txBody>
          <a:bodyPr/>
          <a:lstStyle/>
          <a:p>
            <a:r>
              <a:rPr lang="nb-NO" smtClean="0"/>
              <a:t>Totto</a:t>
            </a:r>
            <a:r>
              <a:rPr lang="nb-NO" smtClean="0"/>
              <a:t>-11</a:t>
            </a:r>
            <a:endParaRPr lang="nb-NO" dirty="0" smtClean="0"/>
          </a:p>
          <a:p>
            <a:r>
              <a:rPr lang="nb-NO" dirty="0" err="1" smtClean="0"/>
              <a:t>Twitter</a:t>
            </a:r>
            <a:r>
              <a:rPr lang="nb-NO" dirty="0" smtClean="0"/>
              <a:t>:  @</a:t>
            </a:r>
            <a:r>
              <a:rPr lang="nb-NO" dirty="0" err="1" smtClean="0"/>
              <a:t>javatotto</a:t>
            </a:r>
            <a:r>
              <a:rPr lang="nb-NO" dirty="0" smtClean="0"/>
              <a:t/>
            </a:r>
            <a:br>
              <a:rPr lang="nb-NO" dirty="0" smtClean="0"/>
            </a:br>
            <a:r>
              <a:rPr lang="nb-NO" dirty="0" err="1" smtClean="0">
                <a:hlinkClick r:id="rId3"/>
              </a:rPr>
              <a:t>totto@webstep.no</a:t>
            </a:r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BA3E94-E44D-47C2-9038-0F4B65269947}" type="slidenum">
              <a:rPr lang="nb-NO" smtClean="0"/>
              <a:pPr>
                <a:defRPr/>
              </a:pPr>
              <a:t>16</a:t>
            </a:fld>
            <a:endParaRPr lang="nb-NO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04127" y="172098"/>
            <a:ext cx="2731665" cy="2185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 Placeholder 6"/>
          <p:cNvSpPr txBox="1">
            <a:spLocks/>
          </p:cNvSpPr>
          <p:nvPr/>
        </p:nvSpPr>
        <p:spPr bwMode="auto">
          <a:xfrm>
            <a:off x="722312" y="4651601"/>
            <a:ext cx="8421688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7880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GeekCruise_Scalability_webstep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5429265"/>
            <a:ext cx="2870116" cy="1428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5573</TotalTime>
  <Words>826</Words>
  <Application>Microsoft Office PowerPoint</Application>
  <PresentationFormat>On-screen Show (4:3)</PresentationFormat>
  <Paragraphs>218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Default Design</vt:lpstr>
      <vt:lpstr>PowerPoint Presentation</vt:lpstr>
      <vt:lpstr>PowerPoint Presentation</vt:lpstr>
      <vt:lpstr>PowerPoint Presentation</vt:lpstr>
      <vt:lpstr>The freshman agile practitioner</vt:lpstr>
      <vt:lpstr>The Kanban practitioner</vt:lpstr>
      <vt:lpstr>The peer-programming team</vt:lpstr>
      <vt:lpstr>The code dojo evangelist</vt:lpstr>
      <vt:lpstr>The agile code-nazi</vt:lpstr>
      <vt:lpstr>The pomodoro enthusiast</vt:lpstr>
      <vt:lpstr>The "hot-shot” wannabee</vt:lpstr>
      <vt:lpstr>The value-stream agile practitioner</vt:lpstr>
      <vt:lpstr>"Kent Beck"</vt:lpstr>
      <vt:lpstr>PowerPoint Presentation</vt:lpstr>
      <vt:lpstr>What we need…</vt:lpstr>
      <vt:lpstr>PowerPoint Presentation</vt:lpstr>
      <vt:lpstr>Takk for oppmerksomheten!</vt:lpstr>
    </vt:vector>
  </TitlesOfParts>
  <Company>Webstep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Arnt Roger Aasen</dc:creator>
  <cp:lastModifiedBy>totto</cp:lastModifiedBy>
  <cp:revision>89</cp:revision>
  <dcterms:created xsi:type="dcterms:W3CDTF">2007-05-02T12:29:23Z</dcterms:created>
  <dcterms:modified xsi:type="dcterms:W3CDTF">2011-01-15T20:22:49Z</dcterms:modified>
</cp:coreProperties>
</file>