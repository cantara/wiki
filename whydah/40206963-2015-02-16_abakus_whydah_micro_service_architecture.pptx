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68" r:id="rId2"/>
    <p:sldId id="516" r:id="rId3"/>
    <p:sldId id="324" r:id="rId4"/>
    <p:sldId id="517" r:id="rId5"/>
    <p:sldId id="518" r:id="rId6"/>
    <p:sldId id="526" r:id="rId7"/>
    <p:sldId id="520" r:id="rId8"/>
    <p:sldId id="523" r:id="rId9"/>
    <p:sldId id="556" r:id="rId10"/>
    <p:sldId id="525" r:id="rId11"/>
    <p:sldId id="528" r:id="rId12"/>
    <p:sldId id="514" r:id="rId13"/>
    <p:sldId id="529" r:id="rId14"/>
    <p:sldId id="527" r:id="rId15"/>
    <p:sldId id="530" r:id="rId16"/>
    <p:sldId id="531" r:id="rId17"/>
    <p:sldId id="532" r:id="rId18"/>
    <p:sldId id="533" r:id="rId19"/>
    <p:sldId id="534" r:id="rId20"/>
    <p:sldId id="536" r:id="rId21"/>
    <p:sldId id="537" r:id="rId22"/>
    <p:sldId id="555" r:id="rId23"/>
    <p:sldId id="539" r:id="rId24"/>
    <p:sldId id="540" r:id="rId25"/>
    <p:sldId id="542" r:id="rId26"/>
    <p:sldId id="554" r:id="rId27"/>
    <p:sldId id="543" r:id="rId28"/>
    <p:sldId id="544" r:id="rId29"/>
    <p:sldId id="545" r:id="rId30"/>
    <p:sldId id="552" r:id="rId31"/>
    <p:sldId id="547" r:id="rId32"/>
    <p:sldId id="549" r:id="rId33"/>
    <p:sldId id="551" r:id="rId34"/>
    <p:sldId id="553" r:id="rId35"/>
    <p:sldId id="313" r:id="rId3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B6D972-FF5E-460C-9BC7-B5F9F257E69F}">
          <p14:sldIdLst>
            <p14:sldId id="368"/>
            <p14:sldId id="516"/>
            <p14:sldId id="324"/>
            <p14:sldId id="517"/>
            <p14:sldId id="518"/>
            <p14:sldId id="526"/>
            <p14:sldId id="520"/>
            <p14:sldId id="523"/>
            <p14:sldId id="556"/>
            <p14:sldId id="525"/>
            <p14:sldId id="528"/>
            <p14:sldId id="514"/>
            <p14:sldId id="529"/>
            <p14:sldId id="527"/>
            <p14:sldId id="530"/>
            <p14:sldId id="531"/>
            <p14:sldId id="532"/>
            <p14:sldId id="533"/>
            <p14:sldId id="534"/>
            <p14:sldId id="536"/>
            <p14:sldId id="537"/>
            <p14:sldId id="555"/>
            <p14:sldId id="539"/>
            <p14:sldId id="540"/>
            <p14:sldId id="542"/>
            <p14:sldId id="554"/>
            <p14:sldId id="543"/>
            <p14:sldId id="544"/>
            <p14:sldId id="545"/>
            <p14:sldId id="552"/>
            <p14:sldId id="547"/>
            <p14:sldId id="549"/>
            <p14:sldId id="551"/>
            <p14:sldId id="553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71891" autoAdjust="0"/>
  </p:normalViewPr>
  <p:slideViewPr>
    <p:cSldViewPr snapToGrid="0">
      <p:cViewPr varScale="1">
        <p:scale>
          <a:sx n="66" d="100"/>
          <a:sy n="66" d="100"/>
        </p:scale>
        <p:origin x="1050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A0285-1072-4C8B-83C3-F2718747492B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F99A1-7138-48F4-95FE-9601862E8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450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User:Bep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Erik </a:t>
            </a:r>
          </a:p>
          <a:p>
            <a:r>
              <a:rPr lang="nb-NO" dirty="0" smtClean="0"/>
              <a:t>Erik</a:t>
            </a:r>
            <a:r>
              <a:rPr lang="nb-NO" baseline="0" dirty="0" smtClean="0"/>
              <a:t> Drolshammer </a:t>
            </a:r>
          </a:p>
          <a:p>
            <a:r>
              <a:rPr lang="nb-NO" baseline="0" dirty="0" smtClean="0"/>
              <a:t>Sivilingeniør i Datateknikk </a:t>
            </a:r>
          </a:p>
          <a:p>
            <a:r>
              <a:rPr lang="nb-NO" baseline="0" dirty="0" smtClean="0"/>
              <a:t>Jobbet med utvikling og arkitektur siden 2004. </a:t>
            </a:r>
          </a:p>
          <a:p>
            <a:endParaRPr lang="nb-NO" baseline="0" dirty="0" smtClean="0"/>
          </a:p>
          <a:p>
            <a:r>
              <a:rPr lang="nb-NO" baseline="0" dirty="0" smtClean="0"/>
              <a:t>Har jobbet på flere systemer med lignende problemstillinger som dette systemet tidligere. </a:t>
            </a:r>
          </a:p>
          <a:p>
            <a:r>
              <a:rPr lang="nb-NO" baseline="0" dirty="0" smtClean="0"/>
              <a:t>Dvs. distribuerte systemer som integrerer med hardware-dingser.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102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Steel blue whydah vidua </a:t>
            </a:r>
          </a:p>
          <a:p>
            <a:r>
              <a:rPr lang="nb-NO" dirty="0" smtClean="0"/>
              <a:t>http://ibc.lynxeds.com/files/imagecache/photo_940/pictures/Steel-blue_W_w.jpg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432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nb-NO" sz="1200" dirty="0" smtClean="0"/>
              <a:t>Whydah intro</a:t>
            </a:r>
          </a:p>
          <a:p>
            <a:pPr marL="514350" indent="-514350">
              <a:buAutoNum type="arabicPeriod"/>
            </a:pPr>
            <a:r>
              <a:rPr lang="nb-NO" sz="1200" dirty="0" smtClean="0"/>
              <a:t>«Micro service»-arkitektur</a:t>
            </a:r>
          </a:p>
          <a:p>
            <a:pPr marL="514350" indent="-514350">
              <a:buAutoNum type="arabicPeriod"/>
            </a:pPr>
            <a:r>
              <a:rPr lang="nb-NO" sz="1200" dirty="0" smtClean="0"/>
              <a:t>Inner </a:t>
            </a:r>
          </a:p>
          <a:p>
            <a:pPr marL="514350" indent="-514350">
              <a:buAutoNum type="arabicPeriod"/>
            </a:pPr>
            <a:r>
              <a:rPr lang="nb-NO" sz="1200" dirty="0" smtClean="0"/>
              <a:t>Integration </a:t>
            </a:r>
          </a:p>
          <a:p>
            <a:pPr marL="514350" indent="-514350">
              <a:buAutoNum type="arabicPeriod"/>
            </a:pPr>
            <a:r>
              <a:rPr lang="nb-NO" sz="1200" dirty="0" smtClean="0"/>
              <a:t>Outer </a:t>
            </a:r>
          </a:p>
          <a:p>
            <a:pPr marL="0" indent="0">
              <a:buNone/>
            </a:pPr>
            <a:endParaRPr lang="nb-NO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967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Forklare IAM</a:t>
            </a:r>
            <a:r>
              <a:rPr lang="nb-NO" baseline="0" dirty="0" smtClean="0"/>
              <a:t> </a:t>
            </a:r>
          </a:p>
          <a:p>
            <a:endParaRPr lang="nb-NO" dirty="0" smtClean="0"/>
          </a:p>
          <a:p>
            <a:r>
              <a:rPr lang="nb-NO" dirty="0" smtClean="0"/>
              <a:t>Autentisering –</a:t>
            </a:r>
            <a:r>
              <a:rPr lang="nb-NO" baseline="0" dirty="0" smtClean="0"/>
              <a:t> hvem er du </a:t>
            </a:r>
          </a:p>
          <a:p>
            <a:r>
              <a:rPr lang="nb-NO" baseline="0" dirty="0" smtClean="0"/>
              <a:t>Autorisasjon – hva har du lov til å gjøre 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http://coverize.me/wp-content/uploads/2011/10/i-am-me.jpg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19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Features</a:t>
            </a:r>
            <a:r>
              <a:rPr lang="nb-NO" baseline="0" dirty="0" smtClean="0"/>
              <a:t> 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http://www.crowwinghistory.org/image_source/our_location/parchment_scroll_bgnd.png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57648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Hvor mange har</a:t>
            </a:r>
            <a:r>
              <a:rPr lang="nb-NO" baseline="0" dirty="0" smtClean="0"/>
              <a:t> laget en brukerdatabase eller innloggingsløsning? </a:t>
            </a:r>
          </a:p>
          <a:p>
            <a:r>
              <a:rPr lang="nb-NO" dirty="0" smtClean="0"/>
              <a:t>Flere</a:t>
            </a:r>
            <a:r>
              <a:rPr lang="nb-NO" baseline="0" dirty="0" smtClean="0"/>
              <a:t> ganger? </a:t>
            </a:r>
          </a:p>
          <a:p>
            <a:endParaRPr lang="nb-NO" dirty="0" smtClean="0"/>
          </a:p>
          <a:p>
            <a:r>
              <a:rPr lang="nb-NO" dirty="0" smtClean="0"/>
              <a:t>Lei av å bygge brukerdatabaser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aseline="0" dirty="0" smtClean="0"/>
              <a:t>Enklere enn å de store, komplekse og kommersielle produktene. </a:t>
            </a:r>
          </a:p>
          <a:p>
            <a:r>
              <a:rPr lang="nb-NO" dirty="0" smtClean="0"/>
              <a:t>Enklere enn å</a:t>
            </a:r>
            <a:r>
              <a:rPr lang="nb-NO" baseline="0" dirty="0" smtClean="0"/>
              <a:t> bygge selv. </a:t>
            </a:r>
          </a:p>
          <a:p>
            <a:r>
              <a:rPr lang="nb-NO" baseline="0" dirty="0" smtClean="0"/>
              <a:t>Sikrere enn å bygge selv </a:t>
            </a:r>
          </a:p>
          <a:p>
            <a:r>
              <a:rPr lang="nb-NO" dirty="0" smtClean="0"/>
              <a:t>Open Source</a:t>
            </a:r>
          </a:p>
          <a:p>
            <a:r>
              <a:rPr lang="nb-NO" dirty="0" smtClean="0"/>
              <a:t>Lite</a:t>
            </a:r>
            <a:r>
              <a:rPr lang="nb-NO" baseline="0" dirty="0" smtClean="0"/>
              <a:t> nok til at man kan sette seg inn i og evaluere sikkerhetsløsningene. </a:t>
            </a:r>
          </a:p>
          <a:p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https://www.flickr.com/photos/deeplifequotes/16132357958/sizes/o/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CC BY-NC-SA 2.0, https://www.flickr.com/photos/deeplifequotes/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13169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 smtClean="0"/>
          </a:p>
          <a:p>
            <a:r>
              <a:rPr lang="nb-NO" dirty="0" smtClean="0"/>
              <a:t>http://commons.wikimedia.org/wiki/File:Great_Wall_of_China.jpeg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40659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Ansvar</a:t>
            </a:r>
            <a:r>
              <a:rPr lang="nb-NO" baseline="0" dirty="0" smtClean="0"/>
              <a:t> per modul 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1569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7703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1. </a:t>
            </a:r>
            <a:r>
              <a:rPr lang="en-US" b="0" dirty="0" err="1" smtClean="0"/>
              <a:t>Modulariserer</a:t>
            </a:r>
            <a:r>
              <a:rPr lang="en-US" b="0" dirty="0" smtClean="0"/>
              <a:t> med </a:t>
            </a:r>
            <a:r>
              <a:rPr lang="en-US" b="0" dirty="0" err="1" smtClean="0"/>
              <a:t>tjenester</a:t>
            </a:r>
            <a:r>
              <a:rPr lang="en-US" b="0" baseline="0" dirty="0" smtClean="0"/>
              <a:t> </a:t>
            </a:r>
            <a:r>
              <a:rPr lang="en-US" b="0" baseline="0" dirty="0" err="1" smtClean="0"/>
              <a:t>og</a:t>
            </a:r>
            <a:r>
              <a:rPr lang="en-US" b="0" baseline="0" dirty="0" smtClean="0"/>
              <a:t> </a:t>
            </a:r>
            <a:r>
              <a:rPr lang="en-US" b="0" baseline="0" dirty="0" err="1" smtClean="0"/>
              <a:t>ikke</a:t>
            </a:r>
            <a:r>
              <a:rPr lang="en-US" b="0" baseline="0" dirty="0" smtClean="0"/>
              <a:t> med </a:t>
            </a:r>
            <a:r>
              <a:rPr lang="en-US" b="0" baseline="0" dirty="0" err="1" smtClean="0"/>
              <a:t>biblioteker</a:t>
            </a:r>
            <a:r>
              <a:rPr lang="en-US" b="0" baseline="0" dirty="0" smtClean="0"/>
              <a:t>. </a:t>
            </a:r>
            <a:endParaRPr lang="en-US" b="0" dirty="0" smtClean="0"/>
          </a:p>
          <a:p>
            <a:endParaRPr lang="en-US" b="0" dirty="0" smtClean="0"/>
          </a:p>
          <a:p>
            <a:r>
              <a:rPr lang="en-US" b="1" dirty="0" smtClean="0"/>
              <a:t>libraries</a:t>
            </a:r>
            <a:r>
              <a:rPr lang="en-US" b="0" dirty="0" smtClean="0"/>
              <a:t>: c</a:t>
            </a:r>
            <a:r>
              <a:rPr lang="en-US" dirty="0" smtClean="0"/>
              <a:t>omponents that are linked into a program and called using in-memory function calls</a:t>
            </a:r>
          </a:p>
          <a:p>
            <a:r>
              <a:rPr lang="en-US" b="1" dirty="0" smtClean="0"/>
              <a:t>services:</a:t>
            </a:r>
            <a:r>
              <a:rPr lang="en-US" dirty="0" smtClean="0"/>
              <a:t> out-of-process components who communicate with a mechanism such as a web service request, or remote procedure call.</a:t>
            </a:r>
            <a:endParaRPr lang="nb-NO" dirty="0" smtClean="0"/>
          </a:p>
          <a:p>
            <a:endParaRPr lang="nb-NO" b="0" dirty="0" smtClean="0"/>
          </a:p>
          <a:p>
            <a:r>
              <a:rPr lang="nb-NO" b="0" dirty="0" smtClean="0"/>
              <a:t>2. Utviklerne jobber</a:t>
            </a:r>
            <a:r>
              <a:rPr lang="nb-NO" b="0" baseline="0" dirty="0" smtClean="0"/>
              <a:t> med en eller flere tjenester. </a:t>
            </a:r>
          </a:p>
          <a:p>
            <a:r>
              <a:rPr lang="nb-NO" b="0" baseline="0" dirty="0" smtClean="0"/>
              <a:t>Ikke med UI, database, osv. </a:t>
            </a:r>
          </a:p>
          <a:p>
            <a:r>
              <a:rPr lang="nb-NO" b="0" baseline="0" dirty="0" smtClean="0"/>
              <a:t>OSS, snakker om produkter, ikke prosjekter. </a:t>
            </a:r>
            <a:endParaRPr lang="nb-NO" b="0" dirty="0" smtClean="0"/>
          </a:p>
          <a:p>
            <a:endParaRPr lang="nb-NO" b="0" dirty="0" smtClean="0"/>
          </a:p>
          <a:p>
            <a:endParaRPr lang="nb-NO" b="0" dirty="0" smtClean="0"/>
          </a:p>
          <a:p>
            <a:r>
              <a:rPr lang="nb-NO" b="0" dirty="0" smtClean="0"/>
              <a:t>https://wiki.cantara.no/display/architecture/Tre-lags+monolitiske+web-applikasjoner</a:t>
            </a:r>
          </a:p>
          <a:p>
            <a:endParaRPr lang="nb-NO" b="0" dirty="0" smtClean="0"/>
          </a:p>
          <a:p>
            <a:endParaRPr lang="nb-NO" b="0" dirty="0" smtClean="0"/>
          </a:p>
          <a:p>
            <a:r>
              <a:rPr lang="nb-NO" b="0" dirty="0" smtClean="0"/>
              <a:t>http://commons.wikimedia.org/wiki/File:Monolith_2_200804.jpg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="0" dirty="0" smtClean="0"/>
              <a:t>© 2005, 2006, 2007 by </a:t>
            </a:r>
            <a:r>
              <a:rPr lang="nb-NO" b="0" dirty="0" smtClean="0">
                <a:hlinkClick r:id="rId3" tooltip="User:Bep"/>
              </a:rPr>
              <a:t>Bjørn Erik Pedersen</a:t>
            </a:r>
            <a:endParaRPr lang="nb-NO" b="0" dirty="0" smtClean="0"/>
          </a:p>
          <a:p>
            <a:endParaRPr lang="nb-NO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5473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ESB er et eksempel på </a:t>
            </a:r>
            <a:r>
              <a:rPr lang="nb-NO" i="1" dirty="0" smtClean="0"/>
              <a:t>smart</a:t>
            </a:r>
            <a:r>
              <a:rPr lang="nb-NO" dirty="0" smtClean="0"/>
              <a:t> pipes. </a:t>
            </a:r>
          </a:p>
          <a:p>
            <a:r>
              <a:rPr lang="nb-NO" dirty="0" smtClean="0"/>
              <a:t>Har</a:t>
            </a:r>
            <a:r>
              <a:rPr lang="nb-NO" baseline="0" dirty="0" smtClean="0"/>
              <a:t> du en ESB, og bruker funksjonaliteten der, så er det nok ikke en micro service-arkitektur.</a:t>
            </a:r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https://docs.oracle.com/cd/E23943_01/doc.1111/e15020/introduction.htm#OSBCA125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10618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En</a:t>
            </a:r>
            <a:r>
              <a:rPr lang="nb-NO" baseline="0" dirty="0" smtClean="0"/>
              <a:t> tjeneste kan ha ett eller flere endepunkter. </a:t>
            </a:r>
          </a:p>
          <a:p>
            <a:endParaRPr lang="nb-NO" dirty="0" smtClean="0"/>
          </a:p>
          <a:p>
            <a:r>
              <a:rPr lang="nb-NO" dirty="0" smtClean="0"/>
              <a:t>Smarte endepunkter:</a:t>
            </a:r>
            <a:r>
              <a:rPr lang="nb-NO" baseline="0" dirty="0" smtClean="0"/>
              <a:t> bygger inn logikk inn i hver enkelt tjeneste i stedet for å samle logikken i en stor klump i midten et sted. 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6825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Unngå XSD</a:t>
            </a:r>
            <a:r>
              <a:rPr lang="nb-NO" baseline="0" dirty="0" smtClean="0"/>
              <a:t> schemas og annen overdreven typing. </a:t>
            </a:r>
          </a:p>
          <a:p>
            <a:endParaRPr lang="nb-NO" dirty="0" smtClean="0"/>
          </a:p>
          <a:p>
            <a:r>
              <a:rPr lang="nb-NO" dirty="0" smtClean="0"/>
              <a:t>Løse kontrakter, String, String </a:t>
            </a:r>
          </a:p>
          <a:p>
            <a:r>
              <a:rPr lang="nb-NO" dirty="0" smtClean="0"/>
              <a:t>Bruk XPATH,</a:t>
            </a:r>
            <a:r>
              <a:rPr lang="nb-NO" baseline="0" dirty="0" smtClean="0"/>
              <a:t> JsonPath for å hente ut det man er interessert i</a:t>
            </a:r>
          </a:p>
          <a:p>
            <a:r>
              <a:rPr lang="nb-NO" baseline="0" dirty="0" smtClean="0"/>
              <a:t>ignorer alt annet. </a:t>
            </a:r>
          </a:p>
          <a:p>
            <a:endParaRPr lang="nb-NO" baseline="0" dirty="0" smtClean="0"/>
          </a:p>
          <a:p>
            <a:r>
              <a:rPr lang="nb-NO" baseline="0" dirty="0" smtClean="0"/>
              <a:t>REST, spesielt hypermedia-delen gir løs kobling mellom tjeneste og klienter. Godt eksempel på smart-endepunkt. Tjenesten har mye ansvar. </a:t>
            </a:r>
          </a:p>
          <a:p>
            <a:endParaRPr lang="nb-NO" baseline="0" dirty="0" smtClean="0"/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71372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007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19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6410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Hve</a:t>
            </a:r>
            <a:r>
              <a:rPr lang="nb-NO" baseline="0" dirty="0" smtClean="0"/>
              <a:t>r tjeneste kan velge teknologi for persistering selv. </a:t>
            </a:r>
          </a:p>
          <a:p>
            <a:endParaRPr lang="nb-NO" baseline="0" dirty="0" smtClean="0"/>
          </a:p>
          <a:p>
            <a:r>
              <a:rPr lang="nb-NO" baseline="0" dirty="0" smtClean="0"/>
              <a:t>Kun UIB har persistens. </a:t>
            </a:r>
          </a:p>
          <a:p>
            <a:r>
              <a:rPr lang="nb-NO" baseline="0" dirty="0" smtClean="0"/>
              <a:t>LDAP, SQL, Lucene </a:t>
            </a:r>
          </a:p>
          <a:p>
            <a:endParaRPr lang="nb-NO" baseline="0" dirty="0" smtClean="0"/>
          </a:p>
          <a:p>
            <a:endParaRPr lang="nb-NO" baseline="0" dirty="0" smtClean="0"/>
          </a:p>
          <a:p>
            <a:r>
              <a:rPr lang="nb-NO" baseline="0" dirty="0" smtClean="0"/>
              <a:t>SecurityTokenService bruker Hazelcast for å dele tilstand mellom instanser i HA-oppsett. 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89402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6721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="1" baseline="0" dirty="0" smtClean="0"/>
              <a:t>EMI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b="1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="0" baseline="0" dirty="0" smtClean="0"/>
              <a:t>Maven release</a:t>
            </a:r>
            <a:r>
              <a:rPr lang="nb-NO" b="1" baseline="0" dirty="0" smtClean="0"/>
              <a:t> </a:t>
            </a:r>
            <a:r>
              <a:rPr lang="nb-NO" b="0" baseline="0" dirty="0" smtClean="0"/>
              <a:t>for å få kontroll og sporbarhet på det som ble prodsatt.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b="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b="0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aseline="0" dirty="0" smtClean="0"/>
              <a:t>http://commons.wikimedia.org/wiki/File:Maven_logo.svg, </a:t>
            </a:r>
            <a:r>
              <a:rPr lang="nb-NO" b="1" dirty="0" smtClean="0"/>
              <a:t>Ebraminio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b="1" baseline="0" dirty="0" smtClean="0"/>
          </a:p>
          <a:p>
            <a:pPr marL="0" indent="0">
              <a:buNone/>
            </a:pPr>
            <a:endParaRPr lang="nb-NO" dirty="0" smtClean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9062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Bash script, pull based </a:t>
            </a:r>
          </a:p>
          <a:p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http://www.mricons.com/icon/15338/128/jar-icon</a:t>
            </a:r>
          </a:p>
          <a:p>
            <a:r>
              <a:rPr lang="nb-NO" dirty="0" smtClean="0"/>
              <a:t>http://upstart.ubuntu.com/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61081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http://www.mricons.com/icon/15338/128/jar-icon</a:t>
            </a:r>
          </a:p>
          <a:p>
            <a:r>
              <a:rPr lang="nb-NO" dirty="0" smtClean="0"/>
              <a:t>http://upstart.ubuntu.com/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9191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60820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Tjenester kan startes i vilkårlig</a:t>
            </a:r>
            <a:r>
              <a:rPr lang="nb-NO" baseline="0" dirty="0" smtClean="0"/>
              <a:t> rekkefølge. </a:t>
            </a:r>
          </a:p>
          <a:p>
            <a:r>
              <a:rPr lang="nb-NO" baseline="0" dirty="0" smtClean="0"/>
              <a:t>Retries hvis en tjeneste ikke er tilgjengelig </a:t>
            </a:r>
          </a:p>
          <a:p>
            <a:r>
              <a:rPr lang="nb-NO" dirty="0" smtClean="0"/>
              <a:t>Hysterix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Håndtere feilsituasjoner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https://camo.githubusercontent.com/e871b5d002a9699e7a2d9fa0178af5c72f0743e0/68747470733a2f2f6e6574666c69782e6769746875622e636f6d2f487973747269782f696d616765732f687973747269782d6c6f676f2d7461676c696e652d3835302e706e67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https://github.com/Netflix/Hystrix</a:t>
            </a:r>
          </a:p>
          <a:p>
            <a:endParaRPr lang="nb-NO" dirty="0" smtClean="0"/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76844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Web proxy </a:t>
            </a:r>
          </a:p>
          <a:p>
            <a:r>
              <a:rPr lang="nb-NO" dirty="0" smtClean="0"/>
              <a:t>Lastbalanserer </a:t>
            </a:r>
          </a:p>
          <a:p>
            <a:r>
              <a:rPr lang="nb-NO" dirty="0" smtClean="0"/>
              <a:t>Discovery</a:t>
            </a:r>
            <a:r>
              <a:rPr lang="nb-NO" baseline="0" dirty="0" smtClean="0"/>
              <a:t> </a:t>
            </a:r>
          </a:p>
          <a:p>
            <a:r>
              <a:rPr lang="nb-NO" baseline="0" dirty="0" smtClean="0"/>
              <a:t>Hazelcast In-memory data grid </a:t>
            </a:r>
          </a:p>
          <a:p>
            <a:endParaRPr lang="nb-NO" baseline="0" dirty="0" smtClean="0"/>
          </a:p>
          <a:p>
            <a:r>
              <a:rPr lang="nb-NO" baseline="0" dirty="0" smtClean="0"/>
              <a:t>https://wiki.cantara.no/display/ASE/Discovery</a:t>
            </a:r>
          </a:p>
          <a:p>
            <a:endParaRPr lang="nb-NO" baseline="0" dirty="0" smtClean="0"/>
          </a:p>
          <a:p>
            <a:r>
              <a:rPr lang="nb-NO" baseline="0" dirty="0" smtClean="0"/>
              <a:t>Elastic Load Balancing</a:t>
            </a:r>
          </a:p>
          <a:p>
            <a:endParaRPr lang="nb-NO" baseline="0" dirty="0" smtClean="0"/>
          </a:p>
          <a:p>
            <a:r>
              <a:rPr lang="nb-NO" dirty="0" smtClean="0"/>
              <a:t>http://hazelcast.com/wp-content/uploads/2014/03/HazelcastLogo-Blue_Dark_Vertical_500w.png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29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40208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Ett eksempel</a:t>
            </a:r>
            <a:r>
              <a:rPr lang="nb-NO" baseline="0" dirty="0" smtClean="0"/>
              <a:t> på hvordan fysisk infrastruktur kan se ut. </a:t>
            </a:r>
          </a:p>
          <a:p>
            <a:r>
              <a:rPr lang="nb-NO" baseline="0" dirty="0" smtClean="0"/>
              <a:t>Kan selvfølgelig gjøres mye enklere. 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30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43145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52919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Forretning snakker om funksjonsområder,</a:t>
            </a:r>
            <a:r>
              <a:rPr lang="nb-NO" baseline="0" dirty="0" smtClean="0"/>
              <a:t> utviklere om teknologi/lag. </a:t>
            </a:r>
            <a:r>
              <a:rPr lang="nb-NO" dirty="0" smtClean="0"/>
              <a:t>Mismatch!</a:t>
            </a:r>
            <a:r>
              <a:rPr lang="nb-NO" baseline="0" dirty="0" smtClean="0"/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Tett</a:t>
            </a:r>
            <a:r>
              <a:rPr lang="nb-NO" baseline="0" dirty="0" smtClean="0"/>
              <a:t> kobling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baseline="0" dirty="0" smtClean="0"/>
              <a:t>Lav kohesjon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dirty="0" smtClean="0"/>
              <a:t>Spaghetti!</a:t>
            </a:r>
            <a:r>
              <a:rPr lang="nb-NO" baseline="0" dirty="0" smtClean="0"/>
              <a:t> </a:t>
            </a:r>
            <a:endParaRPr lang="nb-NO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dirty="0" smtClean="0"/>
          </a:p>
          <a:p>
            <a:endParaRPr lang="nb-NO" b="0" dirty="0" smtClean="0"/>
          </a:p>
          <a:p>
            <a:r>
              <a:rPr lang="nb-NO" b="0" dirty="0" smtClean="0"/>
              <a:t>Måtte rydde for å finne ut</a:t>
            </a:r>
            <a:r>
              <a:rPr lang="nb-NO" b="0" baseline="0" dirty="0" smtClean="0"/>
              <a:t> hva som kunne trekkes ut! </a:t>
            </a:r>
            <a:endParaRPr lang="nb-NO" b="0" dirty="0" smtClean="0"/>
          </a:p>
          <a:p>
            <a:endParaRPr lang="nb-NO" b="0" dirty="0" smtClean="0"/>
          </a:p>
          <a:p>
            <a:endParaRPr lang="nb-NO" b="0" dirty="0" smtClean="0"/>
          </a:p>
          <a:p>
            <a:endParaRPr lang="nb-NO" dirty="0" smtClean="0"/>
          </a:p>
          <a:p>
            <a:r>
              <a:rPr lang="nb-NO" dirty="0" smtClean="0"/>
              <a:t>----</a:t>
            </a:r>
          </a:p>
          <a:p>
            <a:r>
              <a:rPr lang="nb-NO" dirty="0" smtClean="0"/>
              <a:t>http://www.web4j.com/images/packagebyfeature.jpg</a:t>
            </a:r>
          </a:p>
          <a:p>
            <a:r>
              <a:rPr lang="nb-NO" dirty="0" smtClean="0"/>
              <a:t>http://creativecommons.org/licenses/by-nc-sa/1.0/</a:t>
            </a:r>
          </a:p>
          <a:p>
            <a:r>
              <a:rPr lang="nb-NO" dirty="0" smtClean="0"/>
              <a:t>http://www.javapractices.com/topic/TopicAction.do?Id=205</a:t>
            </a:r>
          </a:p>
          <a:p>
            <a:endParaRPr lang="nb-NO" dirty="0" smtClean="0"/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32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28235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smtClean="0"/>
              <a:t>REST, HATEOAS</a:t>
            </a:r>
            <a:r>
              <a:rPr lang="nb-NO" baseline="0" dirty="0" smtClean="0"/>
              <a:t> + ressurstankegangen hjelper 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F99A1-7138-48F4-95FE-9601862E8D8B}" type="slidenum">
              <a:rPr lang="nb-NO" smtClean="0"/>
              <a:t>33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51452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9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1pPr>
            <a:lvl2pPr eaLnBrk="0" hangingPunct="0"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2pPr>
            <a:lvl3pPr eaLnBrk="0" hangingPunct="0"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3pPr>
            <a:lvl4pPr eaLnBrk="0" hangingPunct="0"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4pPr>
            <a:lvl5pPr eaLnBrk="0" hangingPunct="0"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30250" algn="l"/>
                <a:tab pos="1460500" algn="l"/>
                <a:tab pos="2190750" algn="l"/>
                <a:tab pos="2922588" algn="l"/>
              </a:tabLst>
              <a:defRPr>
                <a:solidFill>
                  <a:schemeClr val="bg1"/>
                </a:solidFill>
                <a:latin typeface="Arial" charset="0"/>
                <a:cs typeface="DejaVu Sans" charset="0"/>
              </a:defRPr>
            </a:lvl9pPr>
          </a:lstStyle>
          <a:p>
            <a:pPr eaLnBrk="1" hangingPunct="1"/>
            <a:fld id="{EE5EC255-DDF3-424B-888F-B17E97015562}" type="slidenum">
              <a:rPr lang="en-US" smtClean="0">
                <a:solidFill>
                  <a:srgbClr val="000000"/>
                </a:solidFill>
                <a:latin typeface="Times New Roman" pitchFamily="16" charset="0"/>
              </a:rPr>
              <a:pPr eaLnBrk="1" hangingPunct="1"/>
              <a:t>34</a:t>
            </a:fld>
            <a:endParaRPr lang="en-US" smtClean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1239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6575" y="763588"/>
            <a:ext cx="6700838" cy="3770312"/>
          </a:xfrm>
          <a:solidFill>
            <a:srgbClr val="FFFFFF"/>
          </a:solidFill>
          <a:ln/>
        </p:spPr>
      </p:sp>
      <p:sp>
        <p:nvSpPr>
          <p:cNvPr id="583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8736" y="4776891"/>
            <a:ext cx="6218668" cy="4525168"/>
          </a:xfrm>
        </p:spPr>
        <p:txBody>
          <a:bodyPr wrap="none" anchor="ctr"/>
          <a:lstStyle/>
          <a:p>
            <a:r>
              <a:rPr lang="nb-NO" dirty="0" smtClean="0"/>
              <a:t>Størrelse / når dele opp ulikt ansvar</a:t>
            </a:r>
          </a:p>
          <a:p>
            <a:r>
              <a:rPr lang="nb-NO" dirty="0" smtClean="0"/>
              <a:t>ulik livsyklus</a:t>
            </a:r>
          </a:p>
          <a:p>
            <a:r>
              <a:rPr lang="nb-NO" dirty="0" smtClean="0"/>
              <a:t>ulik SLA/kvalitetsegenskaper</a:t>
            </a:r>
          </a:p>
          <a:p>
            <a:r>
              <a:rPr lang="nb-NO" dirty="0" smtClean="0"/>
              <a:t>skalering</a:t>
            </a:r>
          </a:p>
          <a:p>
            <a:r>
              <a:rPr lang="nb-NO" dirty="0" smtClean="0"/>
              <a:t>forskjellige team</a:t>
            </a:r>
          </a:p>
          <a:p>
            <a:r>
              <a:rPr lang="nb-NO" dirty="0" smtClean="0"/>
              <a:t>jobber på ulike data, ulike integrasjoner</a:t>
            </a:r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nb-NO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nb-NO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nb-NO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nb-NO" dirty="0" smtClean="0"/>
              <a:t>Divide and </a:t>
            </a:r>
            <a:r>
              <a:rPr lang="nb-NO" dirty="0" err="1" smtClean="0"/>
              <a:t>conquer</a:t>
            </a:r>
            <a:r>
              <a:rPr lang="nb-NO" dirty="0" smtClean="0"/>
              <a:t> </a:t>
            </a:r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nb-NO" i="1" dirty="0" smtClean="0"/>
              <a:t>Latin: Divide et </a:t>
            </a:r>
            <a:r>
              <a:rPr lang="nb-NO" i="1" dirty="0" err="1" smtClean="0"/>
              <a:t>impera</a:t>
            </a:r>
            <a:endParaRPr lang="nb-NO" i="1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nb-NO" dirty="0" smtClean="0"/>
              <a:t>http://en.wikipedia.org/wiki/Divide_and_rule</a:t>
            </a:r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nb-NO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nb-NO" dirty="0" smtClean="0"/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nb-NO" b="0" dirty="0" smtClean="0"/>
              <a:t>---</a:t>
            </a:r>
            <a:endParaRPr lang="en-US" b="0" dirty="0" smtClean="0"/>
          </a:p>
          <a:p>
            <a:r>
              <a:rPr lang="nb-NO" sz="1200" dirty="0" smtClean="0">
                <a:solidFill>
                  <a:schemeClr val="accent3"/>
                </a:solidFill>
              </a:rPr>
              <a:t>Public  domain:</a:t>
            </a:r>
          </a:p>
          <a:p>
            <a:r>
              <a:rPr lang="nb-NO" sz="1200" dirty="0" smtClean="0">
                <a:solidFill>
                  <a:schemeClr val="accent3"/>
                </a:solidFill>
              </a:rPr>
              <a:t>http://commons.wikimedia.org/wiki/File:Whimsy.JPG</a:t>
            </a:r>
          </a:p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1439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lang="en-US" b="0" dirty="0" smtClean="0"/>
          </a:p>
          <a:p>
            <a:pPr eaLnBrk="1" hangingPunct="1">
              <a:spcAft>
                <a:spcPts val="1439"/>
              </a:spcAft>
              <a:defRPr/>
            </a:pPr>
            <a:endParaRPr lang="nb-NO" dirty="0" smtClean="0"/>
          </a:p>
        </p:txBody>
      </p:sp>
    </p:spTree>
    <p:extLst>
      <p:ext uri="{BB962C8B-B14F-4D97-AF65-F5344CB8AC3E}">
        <p14:creationId xmlns:p14="http://schemas.microsoft.com/office/powerpoint/2010/main" val="3276873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 smtClean="0"/>
          </a:p>
          <a:p>
            <a:endParaRPr lang="nb-NO" dirty="0" smtClean="0"/>
          </a:p>
          <a:p>
            <a:r>
              <a:rPr lang="nb-NO" dirty="0" smtClean="0"/>
              <a:t>http://www.sxc.hu/photo/1193475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EAAB5-71A9-46BE-8C9F-CCAA57AF5D84}" type="slidenum">
              <a:rPr lang="nb-NO" smtClean="0"/>
              <a:pPr/>
              <a:t>35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4793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9636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8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9110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723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8101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2319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249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848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474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086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346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52" y="765175"/>
            <a:ext cx="10966449" cy="11382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Pust ut – Senk skuldrene</a:t>
            </a:r>
          </a:p>
        </p:txBody>
      </p:sp>
    </p:spTree>
    <p:extLst>
      <p:ext uri="{BB962C8B-B14F-4D97-AF65-F5344CB8AC3E}">
        <p14:creationId xmlns:p14="http://schemas.microsoft.com/office/powerpoint/2010/main" val="371853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75E16-E7C5-40A0-9407-1BBD223D1DC0}" type="datetimeFigureOut">
              <a:rPr lang="nb-NO" smtClean="0"/>
              <a:t>16.02.2015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EACB7-71C0-44E1-90AF-FB0C4A8A663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024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blogs.gartner.com/gary-olliffe/2015/01/30/microservices-guts-on-the-outsid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martinfowler.com/articles/microservices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://commons.wikimedia.org/wiki/User:Bep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HATEOAS" TargetMode="External"/><Relationship Id="rId3" Type="http://schemas.openxmlformats.org/officeDocument/2006/relationships/image" Target="../media/image14.png"/><Relationship Id="rId7" Type="http://schemas.openxmlformats.org/officeDocument/2006/relationships/hyperlink" Target="https://wiki.cantara.no/display/OWSOA/Evolving+Service+Endpoint+Patter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hyperlink" Target="http://martinfowler.com/articles/consumerDrivenContracts.html" TargetMode="Externa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gif"/><Relationship Id="rId9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1981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121" name="TextShape 2"/>
          <p:cNvSpPr txBox="1"/>
          <p:nvPr/>
        </p:nvSpPr>
        <p:spPr>
          <a:xfrm>
            <a:off x="2172819" y="4116935"/>
            <a:ext cx="2849085" cy="514350"/>
          </a:xfrm>
          <a:prstGeom prst="rect">
            <a:avLst/>
          </a:prstGeom>
        </p:spPr>
        <p:txBody>
          <a:bodyPr/>
          <a:lstStyle/>
          <a:p>
            <a:r>
              <a:rPr lang="nb-NO" sz="2800" b="1" dirty="0" smtClean="0">
                <a:solidFill>
                  <a:srgbClr val="000000"/>
                </a:solidFill>
                <a:latin typeface="Calibri"/>
              </a:rPr>
              <a:t>Erik Drolshammer</a:t>
            </a:r>
            <a:endParaRPr dirty="0"/>
          </a:p>
        </p:txBody>
      </p:sp>
      <p:pic>
        <p:nvPicPr>
          <p:cNvPr id="8" name="Picture 2" descr="https://abakus.no/uploads/events/thumbs/2013-12-01-0019-05724206-photo-altran-logo-578x15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413" y="5774870"/>
            <a:ext cx="4113587" cy="106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686" y="1262964"/>
            <a:ext cx="2186577" cy="2593104"/>
          </a:xfrm>
          <a:prstGeom prst="rect">
            <a:avLst/>
          </a:prstGeom>
        </p:spPr>
      </p:pic>
      <p:pic>
        <p:nvPicPr>
          <p:cNvPr id="1026" name="Picture 2" descr="https://slack-imgs.com/?url=https%3A%2F%2Fcv.altran.se%2Fmedia%2Fphotos%2FStig_Lau.jpg&amp;width=270&amp;height=3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249" y="1155554"/>
            <a:ext cx="2430463" cy="270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Shape 2"/>
          <p:cNvSpPr txBox="1"/>
          <p:nvPr/>
        </p:nvSpPr>
        <p:spPr>
          <a:xfrm>
            <a:off x="6299020" y="4116935"/>
            <a:ext cx="2849085" cy="514350"/>
          </a:xfrm>
          <a:prstGeom prst="rect">
            <a:avLst/>
          </a:prstGeom>
        </p:spPr>
        <p:txBody>
          <a:bodyPr/>
          <a:lstStyle/>
          <a:p>
            <a:r>
              <a:rPr lang="nb-NO" sz="2800" b="1" dirty="0" smtClean="0">
                <a:solidFill>
                  <a:srgbClr val="000000"/>
                </a:solidFill>
                <a:latin typeface="Calibri"/>
              </a:rPr>
              <a:t>Stig Lau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990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97028"/>
            <a:ext cx="12192000" cy="7437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49961" y="721691"/>
            <a:ext cx="360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Whydah</a:t>
            </a:r>
            <a:endParaRPr lang="nb-NO" dirty="0"/>
          </a:p>
        </p:txBody>
      </p:sp>
      <p:sp>
        <p:nvSpPr>
          <p:cNvPr id="5" name="TextBox 4"/>
          <p:cNvSpPr txBox="1"/>
          <p:nvPr/>
        </p:nvSpPr>
        <p:spPr>
          <a:xfrm rot="20759785">
            <a:off x="646042" y="3668500"/>
            <a:ext cx="4750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 smtClean="0"/>
              <a:t>Arkitekturerfaringer</a:t>
            </a:r>
            <a:endParaRPr lang="nb-NO" sz="3600" dirty="0"/>
          </a:p>
        </p:txBody>
      </p:sp>
    </p:spTree>
    <p:extLst>
      <p:ext uri="{BB962C8B-B14F-4D97-AF65-F5344CB8AC3E}">
        <p14:creationId xmlns:p14="http://schemas.microsoft.com/office/powerpoint/2010/main" val="315737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Agenda</a:t>
            </a:r>
            <a:endParaRPr lang="nb-NO" dirty="0"/>
          </a:p>
        </p:txBody>
      </p:sp>
      <p:sp>
        <p:nvSpPr>
          <p:cNvPr id="3" name="TextBox 2"/>
          <p:cNvSpPr txBox="1"/>
          <p:nvPr/>
        </p:nvSpPr>
        <p:spPr>
          <a:xfrm>
            <a:off x="2855640" y="2420888"/>
            <a:ext cx="66122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nb-NO" sz="2800" dirty="0" smtClean="0"/>
              <a:t>Hva er IAM, Whydah</a:t>
            </a:r>
          </a:p>
          <a:p>
            <a:pPr marL="514350" indent="-514350">
              <a:buAutoNum type="arabicPeriod"/>
            </a:pPr>
            <a:r>
              <a:rPr lang="nb-NO" sz="2800" dirty="0" smtClean="0"/>
              <a:t>Arkitekturgjennomgang </a:t>
            </a:r>
          </a:p>
          <a:p>
            <a:pPr marL="514350" indent="-514350">
              <a:buAutoNum type="arabicPeriod"/>
            </a:pPr>
            <a:endParaRPr lang="nb-NO" sz="2800" dirty="0" smtClean="0"/>
          </a:p>
          <a:p>
            <a:endParaRPr lang="nb-NO" sz="2800" dirty="0"/>
          </a:p>
        </p:txBody>
      </p:sp>
    </p:spTree>
    <p:extLst>
      <p:ext uri="{BB962C8B-B14F-4D97-AF65-F5344CB8AC3E}">
        <p14:creationId xmlns:p14="http://schemas.microsoft.com/office/powerpoint/2010/main" val="230138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403350"/>
            <a:ext cx="10058400" cy="375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8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http://www.crowwinghistory.org/image_source/our_location/parchment_scroll_bg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329" y="57782"/>
            <a:ext cx="12467063" cy="680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42737" y="1357298"/>
            <a:ext cx="9525000" cy="5374888"/>
          </a:xfrm>
        </p:spPr>
        <p:txBody>
          <a:bodyPr/>
          <a:lstStyle/>
          <a:p>
            <a:r>
              <a:rPr lang="nb-NO" dirty="0" smtClean="0"/>
              <a:t>User authentication &amp; authorization </a:t>
            </a:r>
          </a:p>
          <a:p>
            <a:r>
              <a:rPr lang="nb-NO" dirty="0"/>
              <a:t>Single Sign-On </a:t>
            </a:r>
          </a:p>
          <a:p>
            <a:r>
              <a:rPr lang="nb-NO" dirty="0" smtClean="0"/>
              <a:t>Application authentication &amp; authorization </a:t>
            </a:r>
          </a:p>
          <a:p>
            <a:endParaRPr lang="nb-NO" dirty="0" smtClean="0"/>
          </a:p>
          <a:p>
            <a:r>
              <a:rPr lang="nb-NO" dirty="0" smtClean="0"/>
              <a:t>Admin </a:t>
            </a:r>
            <a:r>
              <a:rPr lang="nb-NO" dirty="0"/>
              <a:t>GUI </a:t>
            </a:r>
            <a:endParaRPr lang="nb-NO" dirty="0" smtClean="0"/>
          </a:p>
          <a:p>
            <a:r>
              <a:rPr lang="nb-NO" dirty="0" smtClean="0"/>
              <a:t>Admin API </a:t>
            </a:r>
            <a:endParaRPr lang="nb-NO" dirty="0"/>
          </a:p>
          <a:p>
            <a:r>
              <a:rPr lang="nb-NO" dirty="0"/>
              <a:t>High Availability &amp; High Scalability</a:t>
            </a:r>
          </a:p>
          <a:p>
            <a:pPr marL="0" indent="0">
              <a:buNone/>
            </a:pPr>
            <a:endParaRPr lang="nb-NO" dirty="0" smtClean="0"/>
          </a:p>
          <a:p>
            <a:endParaRPr lang="nb-NO" dirty="0" smtClean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2" name="TextBox 1"/>
          <p:cNvSpPr txBox="1"/>
          <p:nvPr/>
        </p:nvSpPr>
        <p:spPr>
          <a:xfrm rot="5227832">
            <a:off x="9357094" y="4023457"/>
            <a:ext cx="4194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dirty="0" smtClean="0">
                <a:latin typeface="Pristina" panose="03060402040406080204" pitchFamily="66" charset="0"/>
                <a:cs typeface="Angsana New" panose="02020603050405020304" pitchFamily="18" charset="-34"/>
              </a:rPr>
              <a:t>Features</a:t>
            </a:r>
            <a:endParaRPr lang="nb-NO" sz="4000" dirty="0">
              <a:latin typeface="Pristina" panose="03060402040406080204" pitchFamily="66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7233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186" y="-232224"/>
            <a:ext cx="691712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61943" y="6488668"/>
            <a:ext cx="4630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b-NO" sz="1200" dirty="0"/>
              <a:t>CC BY-NC-SA 2.0</a:t>
            </a:r>
          </a:p>
        </p:txBody>
      </p:sp>
    </p:spTree>
    <p:extLst>
      <p:ext uri="{BB962C8B-B14F-4D97-AF65-F5344CB8AC3E}">
        <p14:creationId xmlns:p14="http://schemas.microsoft.com/office/powerpoint/2010/main" val="396180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upload.wikimedia.org/wikipedia/commons/thumb/1/14/Great_Wall_of_China.jpeg/1280px-Great_Wall_of_China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0776"/>
            <a:ext cx="12192000" cy="803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“Clear </a:t>
            </a:r>
            <a:r>
              <a:rPr lang="en-US" dirty="0"/>
              <a:t>and consistent responsibility power all great </a:t>
            </a:r>
            <a:r>
              <a:rPr lang="en-US" dirty="0" smtClean="0"/>
              <a:t>architectures”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6861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76" y="258417"/>
            <a:ext cx="9753967" cy="6182992"/>
          </a:xfrm>
        </p:spPr>
      </p:pic>
      <p:sp>
        <p:nvSpPr>
          <p:cNvPr id="2" name="TextBox 1"/>
          <p:cNvSpPr txBox="1"/>
          <p:nvPr/>
        </p:nvSpPr>
        <p:spPr>
          <a:xfrm>
            <a:off x="5844209" y="844826"/>
            <a:ext cx="270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Single Sign-On made easy</a:t>
            </a:r>
            <a:endParaRPr lang="nb-NO" dirty="0"/>
          </a:p>
        </p:txBody>
      </p:sp>
      <p:sp>
        <p:nvSpPr>
          <p:cNvPr id="5" name="TextBox 4"/>
          <p:cNvSpPr txBox="1"/>
          <p:nvPr/>
        </p:nvSpPr>
        <p:spPr>
          <a:xfrm>
            <a:off x="6423991" y="2000225"/>
            <a:ext cx="270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Session control</a:t>
            </a:r>
            <a:endParaRPr lang="nb-NO" dirty="0"/>
          </a:p>
        </p:txBody>
      </p:sp>
      <p:sp>
        <p:nvSpPr>
          <p:cNvPr id="6" name="TextBox 5"/>
          <p:cNvSpPr txBox="1"/>
          <p:nvPr/>
        </p:nvSpPr>
        <p:spPr>
          <a:xfrm>
            <a:off x="9127434" y="3226904"/>
            <a:ext cx="2703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vault of users and applications</a:t>
            </a:r>
            <a:endParaRPr lang="nb-NO" dirty="0"/>
          </a:p>
        </p:txBody>
      </p:sp>
      <p:sp>
        <p:nvSpPr>
          <p:cNvPr id="7" name="TextBox 6"/>
          <p:cNvSpPr txBox="1"/>
          <p:nvPr/>
        </p:nvSpPr>
        <p:spPr>
          <a:xfrm>
            <a:off x="4300330" y="5214730"/>
            <a:ext cx="270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Administration APIs</a:t>
            </a:r>
            <a:endParaRPr lang="nb-NO" dirty="0"/>
          </a:p>
        </p:txBody>
      </p:sp>
      <p:sp>
        <p:nvSpPr>
          <p:cNvPr id="8" name="TextBox 7"/>
          <p:cNvSpPr txBox="1"/>
          <p:nvPr/>
        </p:nvSpPr>
        <p:spPr>
          <a:xfrm>
            <a:off x="636104" y="5246996"/>
            <a:ext cx="270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Administration GUI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1961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Guts on the </a:t>
            </a:r>
            <a:r>
              <a:rPr lang="nb-NO" dirty="0" smtClean="0"/>
              <a:t>Outside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b-NO" sz="3200" b="1" dirty="0" smtClean="0"/>
              <a:t>Inner architecture</a:t>
            </a:r>
          </a:p>
          <a:p>
            <a:pPr marL="0" indent="0">
              <a:buNone/>
            </a:pPr>
            <a:r>
              <a:rPr lang="en-US" sz="3200" i="1" dirty="0" smtClean="0"/>
              <a:t>” the </a:t>
            </a:r>
            <a:r>
              <a:rPr lang="en-US" sz="3200" i="1" dirty="0"/>
              <a:t>implementation architecture of the </a:t>
            </a:r>
            <a:r>
              <a:rPr lang="en-US" sz="3200" i="1" dirty="0" err="1"/>
              <a:t>microservices</a:t>
            </a:r>
            <a:r>
              <a:rPr lang="en-US" sz="3200" i="1" dirty="0"/>
              <a:t> </a:t>
            </a:r>
            <a:r>
              <a:rPr lang="en-US" sz="3200" i="1" dirty="0" smtClean="0"/>
              <a:t>themselves”</a:t>
            </a:r>
            <a:endParaRPr lang="nb-NO" sz="3200" b="1" i="1" dirty="0" smtClean="0"/>
          </a:p>
          <a:p>
            <a:pPr marL="0" indent="0">
              <a:buNone/>
            </a:pPr>
            <a:endParaRPr lang="nb-NO" sz="3200" b="1" dirty="0" smtClean="0"/>
          </a:p>
          <a:p>
            <a:pPr marL="0" indent="0">
              <a:buNone/>
            </a:pPr>
            <a:r>
              <a:rPr lang="nb-NO" sz="3200" b="1" dirty="0"/>
              <a:t>Outer </a:t>
            </a:r>
            <a:r>
              <a:rPr lang="nb-NO" sz="3200" b="1" dirty="0" smtClean="0"/>
              <a:t>architecture</a:t>
            </a:r>
          </a:p>
          <a:p>
            <a:pPr marL="0" indent="0">
              <a:buNone/>
            </a:pPr>
            <a:r>
              <a:rPr lang="en-US" sz="3200" dirty="0" smtClean="0"/>
              <a:t>”the </a:t>
            </a:r>
            <a:r>
              <a:rPr lang="en-US" sz="3200" dirty="0"/>
              <a:t>platform capabilities you need to help all those simple little </a:t>
            </a:r>
            <a:r>
              <a:rPr lang="en-US" sz="3200" dirty="0" err="1"/>
              <a:t>microservices</a:t>
            </a:r>
            <a:r>
              <a:rPr lang="en-US" sz="3200" dirty="0"/>
              <a:t> (and their </a:t>
            </a:r>
            <a:r>
              <a:rPr lang="en-US" sz="3200" dirty="0" err="1"/>
              <a:t>DevOps</a:t>
            </a:r>
            <a:r>
              <a:rPr lang="en-US" sz="3200" dirty="0"/>
              <a:t> teams) work together to make good on the promises of flexible and scalable development and deployment</a:t>
            </a:r>
            <a:r>
              <a:rPr lang="en-US" sz="3200" dirty="0" smtClean="0"/>
              <a:t>.”</a:t>
            </a:r>
            <a:endParaRPr lang="nb-NO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692202" y="6604084"/>
            <a:ext cx="56404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50" dirty="0"/>
              <a:t>Gary Olliffe, </a:t>
            </a:r>
            <a:r>
              <a:rPr lang="nb-NO" sz="1050" dirty="0">
                <a:hlinkClick r:id="rId2"/>
              </a:rPr>
              <a:t>http://blogs.gartner.com/gary-olliffe/2015/01/30/microservices-guts-on-the-outside</a:t>
            </a:r>
            <a:r>
              <a:rPr lang="nb-NO" sz="1050" dirty="0" smtClean="0">
                <a:hlinkClick r:id="rId2"/>
              </a:rPr>
              <a:t>/</a:t>
            </a:r>
            <a:r>
              <a:rPr lang="nb-NO" sz="1050" dirty="0" smtClean="0"/>
              <a:t> </a:t>
            </a:r>
            <a:endParaRPr lang="nb-NO" sz="1050" dirty="0"/>
          </a:p>
        </p:txBody>
      </p:sp>
    </p:spTree>
    <p:extLst>
      <p:ext uri="{BB962C8B-B14F-4D97-AF65-F5344CB8AC3E}">
        <p14:creationId xmlns:p14="http://schemas.microsoft.com/office/powerpoint/2010/main" val="399083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http://martinfowler.com/mf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5322425"/>
            <a:ext cx="1183860" cy="118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http://martinfowler.com/articles/microservices/images/jlewi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443" y="3418755"/>
            <a:ext cx="1183860" cy="118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685051" y="4583761"/>
            <a:ext cx="133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James Lewis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3202" y="6509677"/>
            <a:ext cx="1641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Martin Fowler</a:t>
            </a:r>
            <a:endParaRPr lang="nb-NO" dirty="0"/>
          </a:p>
        </p:txBody>
      </p:sp>
      <p:sp>
        <p:nvSpPr>
          <p:cNvPr id="6" name="TextBox 5"/>
          <p:cNvSpPr txBox="1"/>
          <p:nvPr/>
        </p:nvSpPr>
        <p:spPr>
          <a:xfrm>
            <a:off x="6609522" y="6509677"/>
            <a:ext cx="4333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 smtClean="0">
                <a:hlinkClick r:id="rId4"/>
              </a:rPr>
              <a:t>http</a:t>
            </a:r>
            <a:r>
              <a:rPr lang="nb-NO" sz="1400" dirty="0">
                <a:hlinkClick r:id="rId4"/>
              </a:rPr>
              <a:t>://</a:t>
            </a:r>
            <a:r>
              <a:rPr lang="nb-NO" sz="1400" dirty="0" smtClean="0">
                <a:hlinkClick r:id="rId4"/>
              </a:rPr>
              <a:t>martinfowler.com/articles/microservices.html</a:t>
            </a:r>
            <a:r>
              <a:rPr lang="nb-NO" sz="1400" dirty="0" smtClean="0"/>
              <a:t> </a:t>
            </a:r>
            <a:endParaRPr lang="nb-NO" sz="1400" dirty="0"/>
          </a:p>
        </p:txBody>
      </p:sp>
    </p:spTree>
    <p:extLst>
      <p:ext uri="{BB962C8B-B14F-4D97-AF65-F5344CB8AC3E}">
        <p14:creationId xmlns:p14="http://schemas.microsoft.com/office/powerpoint/2010/main" val="161882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1009763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2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351" y="0"/>
            <a:ext cx="2265649" cy="33856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06738" y="3428169"/>
            <a:ext cx="34549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© 2005, 2006, 2007 by </a:t>
            </a:r>
            <a:r>
              <a:rPr lang="nb-NO" sz="900" dirty="0">
                <a:hlinkClick r:id="rId4" tooltip="User:Bep"/>
              </a:rPr>
              <a:t>Bjørn Erik Pedersen</a:t>
            </a:r>
            <a:endParaRPr lang="nb-NO" sz="9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4" y="567505"/>
            <a:ext cx="9753967" cy="6182992"/>
          </a:xfrm>
        </p:spPr>
      </p:pic>
    </p:spTree>
    <p:extLst>
      <p:ext uri="{BB962C8B-B14F-4D97-AF65-F5344CB8AC3E}">
        <p14:creationId xmlns:p14="http://schemas.microsoft.com/office/powerpoint/2010/main" val="386640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2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docs.oracle.com/cd/E23943_01/doc.1111/e15020/img/refarchitectur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86" y="154581"/>
            <a:ext cx="11190513" cy="655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188686" y="3262077"/>
            <a:ext cx="4470399" cy="1142799"/>
          </a:xfrm>
          <a:prstGeom prst="straightConnector1">
            <a:avLst/>
          </a:prstGeom>
          <a:ln w="177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rot="20593715">
            <a:off x="1231778" y="2020753"/>
            <a:ext cx="516274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nb-NO" sz="7200" dirty="0" smtClean="0">
                <a:solidFill>
                  <a:srgbClr val="FF0000"/>
                </a:solidFill>
              </a:rPr>
              <a:t>Smart pipes</a:t>
            </a:r>
            <a:endParaRPr lang="nb-NO" sz="7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3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solidFill>
                  <a:schemeClr val="bg1"/>
                </a:solidFill>
              </a:rPr>
              <a:t>Robustness </a:t>
            </a:r>
            <a:r>
              <a:rPr lang="nb-NO" b="1" dirty="0" smtClean="0">
                <a:solidFill>
                  <a:schemeClr val="bg1"/>
                </a:solidFill>
              </a:rPr>
              <a:t>principle, aka. Postel’s law: </a:t>
            </a:r>
            <a:endParaRPr lang="nb-NO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829" y="2235200"/>
            <a:ext cx="11524341" cy="4209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200" i="1" dirty="0">
                <a:solidFill>
                  <a:schemeClr val="bg1"/>
                </a:solidFill>
              </a:rPr>
              <a:t>"Be conservative in what you send, be liberal in what you accept"</a:t>
            </a:r>
            <a:endParaRPr lang="nb-NO" sz="6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08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72" y="604737"/>
            <a:ext cx="2186555" cy="2186555"/>
          </a:xfrm>
        </p:spPr>
      </p:pic>
      <p:pic>
        <p:nvPicPr>
          <p:cNvPr id="6146" name="Picture 2" descr="http://www.bizagi.com/assets/images/standards-page/logo_xpat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654" y="754365"/>
            <a:ext cx="2085755" cy="208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wiki.cantara.no/images/icons/linkext7.gif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338" y="-136525"/>
            <a:ext cx="66675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500326" y="3873161"/>
            <a:ext cx="39188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2800" dirty="0" smtClean="0">
                <a:hlinkClick r:id="rId7"/>
              </a:rPr>
              <a:t>Evolving Service Endpoint</a:t>
            </a:r>
            <a:r>
              <a:rPr lang="nb-NO" sz="2800" dirty="0" smtClean="0"/>
              <a:t> </a:t>
            </a:r>
            <a:endParaRPr lang="nb-NO" sz="2800" dirty="0"/>
          </a:p>
        </p:txBody>
      </p:sp>
      <p:sp>
        <p:nvSpPr>
          <p:cNvPr id="10" name="Rectangle 9"/>
          <p:cNvSpPr/>
          <p:nvPr/>
        </p:nvSpPr>
        <p:spPr>
          <a:xfrm>
            <a:off x="6400798" y="4453697"/>
            <a:ext cx="42381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sz="2800" dirty="0" smtClean="0">
                <a:hlinkClick r:id="rId5"/>
              </a:rPr>
              <a:t>Consumer-Driven Contracts</a:t>
            </a:r>
            <a:r>
              <a:rPr lang="nb-NO" sz="2800" dirty="0" smtClean="0"/>
              <a:t> </a:t>
            </a:r>
            <a:endParaRPr lang="nb-NO" sz="2800" dirty="0"/>
          </a:p>
        </p:txBody>
      </p:sp>
      <p:sp>
        <p:nvSpPr>
          <p:cNvPr id="11" name="Rectangle 10"/>
          <p:cNvSpPr/>
          <p:nvPr/>
        </p:nvSpPr>
        <p:spPr>
          <a:xfrm>
            <a:off x="1398726" y="5750090"/>
            <a:ext cx="87500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hlinkClick r:id="rId8"/>
              </a:rPr>
              <a:t> Hypermedia as the Engine of Application State (HATEOAS)</a:t>
            </a:r>
            <a:r>
              <a:rPr lang="nb-NO" sz="2800" dirty="0" smtClean="0"/>
              <a:t> </a:t>
            </a:r>
            <a:endParaRPr lang="nb-NO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407877" y="-606077"/>
            <a:ext cx="32802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0000" dirty="0">
                <a:solidFill>
                  <a:srgbClr val="FF0000"/>
                </a:solidFill>
                <a:latin typeface="+mj-lt"/>
              </a:rPr>
              <a:t>X</a:t>
            </a:r>
            <a:endParaRPr lang="nb-NO" sz="208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636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9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9" y="0"/>
            <a:ext cx="10576217" cy="6704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38510" y="3206792"/>
            <a:ext cx="997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>
                <a:solidFill>
                  <a:srgbClr val="0070C0"/>
                </a:solidFill>
              </a:rPr>
              <a:t>Jersey</a:t>
            </a:r>
            <a:endParaRPr lang="nb-NO" dirty="0" smtClean="0">
              <a:solidFill>
                <a:srgbClr val="0070C0"/>
              </a:solidFill>
            </a:endParaRPr>
          </a:p>
          <a:p>
            <a:r>
              <a:rPr lang="nb-NO" dirty="0" smtClean="0">
                <a:solidFill>
                  <a:srgbClr val="0070C0"/>
                </a:solidFill>
              </a:rPr>
              <a:t>Guice</a:t>
            </a:r>
          </a:p>
          <a:p>
            <a:r>
              <a:rPr lang="nb-NO" dirty="0" smtClean="0">
                <a:solidFill>
                  <a:srgbClr val="0070C0"/>
                </a:solidFill>
              </a:rPr>
              <a:t>Grizzly</a:t>
            </a:r>
            <a:endParaRPr lang="nb-NO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0365" y="1752065"/>
            <a:ext cx="997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>
                <a:solidFill>
                  <a:srgbClr val="0070C0"/>
                </a:solidFill>
              </a:rPr>
              <a:t>Jersey</a:t>
            </a:r>
          </a:p>
          <a:p>
            <a:r>
              <a:rPr lang="nb-NO" dirty="0">
                <a:solidFill>
                  <a:srgbClr val="0070C0"/>
                </a:solidFill>
              </a:rPr>
              <a:t>Guice</a:t>
            </a:r>
          </a:p>
          <a:p>
            <a:r>
              <a:rPr lang="nb-NO" dirty="0">
                <a:solidFill>
                  <a:srgbClr val="0070C0"/>
                </a:solidFill>
              </a:rPr>
              <a:t>Grizzly</a:t>
            </a:r>
          </a:p>
          <a:p>
            <a:endParaRPr lang="nb-NO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4802" y="575320"/>
            <a:ext cx="1888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>
                <a:solidFill>
                  <a:srgbClr val="0070C0"/>
                </a:solidFill>
              </a:rPr>
              <a:t>Spring MVC</a:t>
            </a:r>
          </a:p>
          <a:p>
            <a:r>
              <a:rPr lang="nb-NO" dirty="0" smtClean="0">
                <a:solidFill>
                  <a:srgbClr val="0070C0"/>
                </a:solidFill>
              </a:rPr>
              <a:t>Spring </a:t>
            </a:r>
            <a:r>
              <a:rPr lang="nb-NO" dirty="0">
                <a:solidFill>
                  <a:srgbClr val="0070C0"/>
                </a:solidFill>
              </a:rPr>
              <a:t>IoC</a:t>
            </a:r>
          </a:p>
          <a:p>
            <a:r>
              <a:rPr lang="nb-NO" dirty="0" smtClean="0">
                <a:solidFill>
                  <a:srgbClr val="0070C0"/>
                </a:solidFill>
              </a:rPr>
              <a:t>Jetty</a:t>
            </a:r>
            <a:endParaRPr lang="nb-NO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3458" y="5206332"/>
            <a:ext cx="135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>
                <a:solidFill>
                  <a:srgbClr val="0070C0"/>
                </a:solidFill>
              </a:rPr>
              <a:t>Jersey</a:t>
            </a:r>
          </a:p>
          <a:p>
            <a:r>
              <a:rPr lang="nb-NO" dirty="0">
                <a:solidFill>
                  <a:srgbClr val="0070C0"/>
                </a:solidFill>
              </a:rPr>
              <a:t>Spring IoC</a:t>
            </a:r>
          </a:p>
          <a:p>
            <a:r>
              <a:rPr lang="nb-NO" dirty="0" smtClean="0">
                <a:solidFill>
                  <a:srgbClr val="0070C0"/>
                </a:solidFill>
              </a:rPr>
              <a:t>Jetty</a:t>
            </a:r>
            <a:endParaRPr lang="nb-NO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3855" y="5332481"/>
            <a:ext cx="1602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>
                <a:solidFill>
                  <a:srgbClr val="0070C0"/>
                </a:solidFill>
              </a:rPr>
              <a:t>Angular</a:t>
            </a:r>
          </a:p>
          <a:p>
            <a:r>
              <a:rPr lang="nb-NO" dirty="0">
                <a:solidFill>
                  <a:srgbClr val="0070C0"/>
                </a:solidFill>
              </a:rPr>
              <a:t>Spring MVC</a:t>
            </a:r>
          </a:p>
          <a:p>
            <a:r>
              <a:rPr lang="nb-NO" dirty="0">
                <a:solidFill>
                  <a:srgbClr val="0070C0"/>
                </a:solidFill>
              </a:rPr>
              <a:t>Spring IoC</a:t>
            </a:r>
          </a:p>
          <a:p>
            <a:r>
              <a:rPr lang="nb-NO" dirty="0">
                <a:solidFill>
                  <a:srgbClr val="0070C0"/>
                </a:solidFill>
              </a:rPr>
              <a:t>Jetty</a:t>
            </a:r>
          </a:p>
          <a:p>
            <a:endParaRPr lang="nb-NO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6134" y="2061819"/>
            <a:ext cx="1299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>
                <a:solidFill>
                  <a:srgbClr val="0070C0"/>
                </a:solidFill>
              </a:rPr>
              <a:t>Javascript</a:t>
            </a:r>
          </a:p>
          <a:p>
            <a:r>
              <a:rPr lang="nb-NO" dirty="0" smtClean="0">
                <a:solidFill>
                  <a:srgbClr val="0070C0"/>
                </a:solidFill>
              </a:rPr>
              <a:t>Python</a:t>
            </a:r>
            <a:endParaRPr lang="nb-NO" dirty="0">
              <a:solidFill>
                <a:srgbClr val="0070C0"/>
              </a:solidFill>
            </a:endParaRPr>
          </a:p>
          <a:p>
            <a:r>
              <a:rPr lang="nb-NO" dirty="0" smtClean="0">
                <a:solidFill>
                  <a:srgbClr val="0070C0"/>
                </a:solidFill>
              </a:rPr>
              <a:t>Java</a:t>
            </a:r>
            <a:endParaRPr lang="nb-NO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11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4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1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Polyglot persistence</a:t>
            </a:r>
            <a:endParaRPr lang="nb-NO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862" y="1287083"/>
            <a:ext cx="10287564" cy="4412222"/>
          </a:xfrm>
          <a:prstGeom prst="rect">
            <a:avLst/>
          </a:prstGeom>
        </p:spPr>
      </p:pic>
      <p:pic>
        <p:nvPicPr>
          <p:cNvPr id="7170" name="Picture 2" descr="http://www.openldap.org/images/headers/LDAPworm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48" y="4424929"/>
            <a:ext cx="2678094" cy="105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upload.wikimedia.org/wikipedia/de/thumb/8/8c/Microsoft_SQL_Server_Logo.svg/1262px-Microsoft_SQL_Server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672" y="5295700"/>
            <a:ext cx="1588655" cy="128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://www.avlsoftware.co.in/images/MySQL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923" y="5478606"/>
            <a:ext cx="2384973" cy="123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://img1.findthebest.com/sites/default/files/754/media/images/HSQLDB_167806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465" y="4878985"/>
            <a:ext cx="2431324" cy="24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tps://www.drupal.org/files/project-images/lucene_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037" y="3594244"/>
            <a:ext cx="2258700" cy="41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http://georgik.sinusgear.com/wp-content/uploads/apache-directory-manager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386" y="5680649"/>
            <a:ext cx="2655455" cy="89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8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3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... skal Stig snakke mer om etterpå 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dirty="0" smtClean="0"/>
              <a:t>Enterprise Maven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 smtClean="0"/>
              <a:t>Provisjonering: Ansible + Amazon EC2</a:t>
            </a:r>
          </a:p>
          <a:p>
            <a:pPr marL="514350" indent="-514350">
              <a:buFont typeface="+mj-lt"/>
              <a:buAutoNum type="arabicPeriod"/>
            </a:pPr>
            <a:r>
              <a:rPr lang="nb-NO" i="1" dirty="0" smtClean="0"/>
              <a:t>Automated deployment (</a:t>
            </a:r>
            <a:r>
              <a:rPr lang="nb-NO" dirty="0" smtClean="0"/>
              <a:t>wget, upstart, java –jar)</a:t>
            </a:r>
          </a:p>
          <a:p>
            <a:pPr marL="514350" indent="-514350">
              <a:buFont typeface="+mj-lt"/>
              <a:buAutoNum type="arabicPeriod"/>
            </a:pPr>
            <a:r>
              <a:rPr lang="nb-NO" i="1" dirty="0" smtClean="0"/>
              <a:t>Automatic (automated </a:t>
            </a:r>
            <a:r>
              <a:rPr lang="nb-NO" dirty="0" smtClean="0"/>
              <a:t>+ cron)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137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hape 21"/>
          <p:cNvCxnSpPr>
            <a:stCxn id="27" idx="3"/>
            <a:endCxn id="51" idx="1"/>
          </p:cNvCxnSpPr>
          <p:nvPr/>
        </p:nvCxnSpPr>
        <p:spPr>
          <a:xfrm>
            <a:off x="2622842" y="4198222"/>
            <a:ext cx="1642744" cy="7963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hape 21"/>
          <p:cNvCxnSpPr>
            <a:stCxn id="26" idx="2"/>
            <a:endCxn id="50" idx="3"/>
          </p:cNvCxnSpPr>
          <p:nvPr/>
        </p:nvCxnSpPr>
        <p:spPr>
          <a:xfrm rot="10800000">
            <a:off x="6842929" y="4203385"/>
            <a:ext cx="1480686" cy="2800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21"/>
          <p:cNvCxnSpPr>
            <a:stCxn id="10244" idx="2"/>
            <a:endCxn id="50" idx="0"/>
          </p:cNvCxnSpPr>
          <p:nvPr/>
        </p:nvCxnSpPr>
        <p:spPr>
          <a:xfrm rot="16200000" flipH="1">
            <a:off x="5113048" y="3311817"/>
            <a:ext cx="792041" cy="1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"/>
          <p:cNvGrpSpPr>
            <a:grpSpLocks/>
          </p:cNvGrpSpPr>
          <p:nvPr/>
        </p:nvGrpSpPr>
        <p:grpSpPr bwMode="auto">
          <a:xfrm>
            <a:off x="4175208" y="3707839"/>
            <a:ext cx="2667721" cy="991091"/>
            <a:chOff x="0" y="0"/>
            <a:chExt cx="1712" cy="531"/>
          </a:xfrm>
        </p:grpSpPr>
        <p:sp>
          <p:nvSpPr>
            <p:cNvPr id="50" name="AutoShape 5"/>
            <p:cNvSpPr>
              <a:spLocks/>
            </p:cNvSpPr>
            <p:nvPr/>
          </p:nvSpPr>
          <p:spPr bwMode="auto">
            <a:xfrm>
              <a:off x="0" y="0"/>
              <a:ext cx="1712" cy="531"/>
            </a:xfrm>
            <a:prstGeom prst="roundRect">
              <a:avLst>
                <a:gd name="adj" fmla="val 22569"/>
              </a:avLst>
            </a:prstGeom>
            <a:gradFill rotWithShape="0">
              <a:gsLst>
                <a:gs pos="0">
                  <a:srgbClr val="F9F9F9"/>
                </a:gs>
                <a:gs pos="100000">
                  <a:srgbClr val="CBD9E3"/>
                </a:gs>
              </a:gsLst>
              <a:lin ang="5400000" scaled="1"/>
            </a:gradFill>
            <a:ln w="25400" cap="flat">
              <a:solidFill>
                <a:srgbClr val="CBD9E3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nb-NO"/>
            </a:p>
          </p:txBody>
        </p:sp>
        <p:pic>
          <p:nvPicPr>
            <p:cNvPr id="51" name="Picture 6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8" y="95"/>
              <a:ext cx="1608" cy="344"/>
            </a:xfrm>
            <a:prstGeom prst="rect">
              <a:avLst/>
            </a:prstGeom>
            <a:noFill/>
            <a:ln w="12700" cap="flat">
              <a:noFill/>
              <a:miter lim="800000"/>
              <a:headEnd/>
              <a:tailEnd/>
            </a:ln>
          </p:spPr>
        </p:pic>
      </p:grpSp>
      <p:cxnSp>
        <p:nvCxnSpPr>
          <p:cNvPr id="30" name="Shape 21"/>
          <p:cNvCxnSpPr>
            <a:stCxn id="10244" idx="3"/>
            <a:endCxn id="26" idx="1"/>
          </p:cNvCxnSpPr>
          <p:nvPr/>
        </p:nvCxnSpPr>
        <p:spPr>
          <a:xfrm>
            <a:off x="6564145" y="2212414"/>
            <a:ext cx="2426400" cy="1337715"/>
          </a:xfrm>
          <a:prstGeom prst="bentConnector2">
            <a:avLst/>
          </a:prstGeom>
          <a:ln w="19050" cmpd="sng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5297" y="5331668"/>
            <a:ext cx="250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Continuous integration</a:t>
            </a:r>
            <a:endParaRPr lang="nb-NO" dirty="0"/>
          </a:p>
        </p:txBody>
      </p:sp>
      <p:sp>
        <p:nvSpPr>
          <p:cNvPr id="40" name="TextBox 39"/>
          <p:cNvSpPr txBox="1"/>
          <p:nvPr/>
        </p:nvSpPr>
        <p:spPr>
          <a:xfrm>
            <a:off x="8830492" y="69223"/>
            <a:ext cx="3660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 smtClean="0"/>
              <a:t>Enterprise Maven Infrastructure</a:t>
            </a:r>
            <a:endParaRPr lang="nb-NO" b="1" dirty="0"/>
          </a:p>
        </p:txBody>
      </p:sp>
      <p:pic>
        <p:nvPicPr>
          <p:cNvPr id="27" name="Picture 16" descr="https://wiki.jenkins-ci.org/download/attachments/2916393/logo.png?version=1&amp;modificationDate=13027539470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614" y="3185826"/>
            <a:ext cx="1463228" cy="20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://www.molecularecologist.com/wp-content/uploads/2013/11/github-logo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991" y="1509029"/>
            <a:ext cx="2110154" cy="140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n 25"/>
          <p:cNvSpPr/>
          <p:nvPr/>
        </p:nvSpPr>
        <p:spPr>
          <a:xfrm>
            <a:off x="8323615" y="3550129"/>
            <a:ext cx="1333860" cy="131211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246" name="Picture 6" descr="http://blog.sonatype.com/wp-content/uploads/2010/01/nexus-small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632" y="4924945"/>
            <a:ext cx="2381250" cy="59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/>
          <p:cNvSpPr txBox="1"/>
          <p:nvPr/>
        </p:nvSpPr>
        <p:spPr>
          <a:xfrm>
            <a:off x="8160509" y="5515496"/>
            <a:ext cx="250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Artifact repository</a:t>
            </a:r>
            <a:endParaRPr lang="nb-NO" dirty="0"/>
          </a:p>
        </p:txBody>
      </p:sp>
      <p:sp>
        <p:nvSpPr>
          <p:cNvPr id="65" name="TextBox 64"/>
          <p:cNvSpPr txBox="1"/>
          <p:nvPr/>
        </p:nvSpPr>
        <p:spPr>
          <a:xfrm>
            <a:off x="4423847" y="1137479"/>
            <a:ext cx="250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Source code repository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61219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798" y="234497"/>
            <a:ext cx="10515600" cy="1325563"/>
          </a:xfrm>
        </p:spPr>
        <p:txBody>
          <a:bodyPr/>
          <a:lstStyle/>
          <a:p>
            <a:r>
              <a:rPr lang="nb-NO" dirty="0" smtClean="0"/>
              <a:t>Provisjonering</a:t>
            </a:r>
            <a:endParaRPr lang="nb-NO" dirty="0"/>
          </a:p>
        </p:txBody>
      </p:sp>
      <p:pic>
        <p:nvPicPr>
          <p:cNvPr id="4" name="Picture 2" descr="http://www.ansible.com/hs-fs/hub/330046/file-764918161-png/Official_Logos/ansible_logo_black_squa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81" y="2180492"/>
            <a:ext cx="3098242" cy="309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blogs-images.forbes.com/kellyclay/files/2012/10/aw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443" y="2917371"/>
            <a:ext cx="5224510" cy="1903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://core0.staticworld.net/images/idge/imported/article/nww/2013/12/docker-100275159-ori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879" y="58875"/>
            <a:ext cx="2312146" cy="204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90444" y="5094068"/>
            <a:ext cx="5224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Elastic Compute </a:t>
            </a:r>
            <a:r>
              <a:rPr lang="nb-NO" sz="3200" dirty="0" smtClean="0"/>
              <a:t>Cloud (EC2)</a:t>
            </a:r>
            <a:endParaRPr lang="nb-NO" sz="3200" dirty="0"/>
          </a:p>
        </p:txBody>
      </p:sp>
    </p:spTree>
    <p:extLst>
      <p:ext uri="{BB962C8B-B14F-4D97-AF65-F5344CB8AC3E}">
        <p14:creationId xmlns:p14="http://schemas.microsoft.com/office/powerpoint/2010/main" val="1059274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224" y="3177443"/>
            <a:ext cx="1782411" cy="1782411"/>
          </a:xfrm>
        </p:spPr>
      </p:pic>
      <p:pic>
        <p:nvPicPr>
          <p:cNvPr id="14338" name="Picture 2" descr="http://www.sysads.co.uk/wp-content/uploads/2014/11/wget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166" y="3566344"/>
            <a:ext cx="2955926" cy="139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Upst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001" y="3687648"/>
            <a:ext cx="28575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i="1" dirty="0" smtClean="0"/>
              <a:t>Automated </a:t>
            </a:r>
            <a:r>
              <a:rPr lang="nb-NO" dirty="0" smtClean="0"/>
              <a:t>deployment </a:t>
            </a:r>
          </a:p>
        </p:txBody>
      </p:sp>
    </p:spTree>
    <p:extLst>
      <p:ext uri="{BB962C8B-B14F-4D97-AF65-F5344CB8AC3E}">
        <p14:creationId xmlns:p14="http://schemas.microsoft.com/office/powerpoint/2010/main" val="4145612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224" y="3177443"/>
            <a:ext cx="1782411" cy="1782411"/>
          </a:xfrm>
        </p:spPr>
      </p:pic>
      <p:pic>
        <p:nvPicPr>
          <p:cNvPr id="14338" name="Picture 2" descr="http://www.sysads.co.uk/wp-content/uploads/2014/11/wget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166" y="3566344"/>
            <a:ext cx="2955926" cy="139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Upst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001" y="3687648"/>
            <a:ext cx="28575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http://networknuts-web.biz/wp-content/uploads/2014/10/cron-logo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70" y="3738581"/>
            <a:ext cx="2485878" cy="82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4370" y="4590522"/>
            <a:ext cx="250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Job scheduler</a:t>
            </a:r>
            <a:endParaRPr lang="nb-NO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i="1" dirty="0" smtClean="0"/>
              <a:t>Automatic</a:t>
            </a:r>
            <a:r>
              <a:rPr lang="nb-NO" dirty="0" smtClean="0"/>
              <a:t> deployment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25248" y="6300435"/>
            <a:ext cx="298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aka. Continuous delivery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06252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3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2111" cy="1325563"/>
          </a:xfrm>
        </p:spPr>
        <p:txBody>
          <a:bodyPr>
            <a:normAutofit/>
          </a:bodyPr>
          <a:lstStyle/>
          <a:p>
            <a:r>
              <a:rPr lang="nb-NO" dirty="0" smtClean="0"/>
              <a:t>Tjenester </a:t>
            </a:r>
            <a:r>
              <a:rPr lang="nb-NO" dirty="0" smtClean="0"/>
              <a:t>vil feile!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253343"/>
            <a:ext cx="10515601" cy="4604656"/>
          </a:xfrm>
        </p:spPr>
        <p:txBody>
          <a:bodyPr>
            <a:noAutofit/>
          </a:bodyPr>
          <a:lstStyle/>
          <a:p>
            <a:r>
              <a:rPr lang="nb-NO" dirty="0"/>
              <a:t>Tjenester må kunne startes i vilkårlig </a:t>
            </a:r>
            <a:r>
              <a:rPr lang="nb-NO" dirty="0" smtClean="0"/>
              <a:t>rekkefølge</a:t>
            </a:r>
          </a:p>
          <a:p>
            <a:r>
              <a:rPr lang="nb-NO" dirty="0" smtClean="0"/>
              <a:t>Retry-mekanismer hvis en tjeneste er utilgjengelig. </a:t>
            </a:r>
          </a:p>
          <a:p>
            <a:r>
              <a:rPr lang="nb-NO" dirty="0" smtClean="0"/>
              <a:t>Håndtere feilsituasjoner</a:t>
            </a:r>
          </a:p>
          <a:p>
            <a:r>
              <a:rPr lang="nb-NO" dirty="0" smtClean="0"/>
              <a:t>Robuste start/stopp-script </a:t>
            </a:r>
          </a:p>
          <a:p>
            <a:endParaRPr lang="nb-NO" dirty="0"/>
          </a:p>
          <a:p>
            <a:r>
              <a:rPr lang="nb-NO" dirty="0" smtClean="0"/>
              <a:t>Saklig logging under oppstart</a:t>
            </a:r>
          </a:p>
          <a:p>
            <a:r>
              <a:rPr lang="nb-NO" dirty="0" smtClean="0"/>
              <a:t>Logge </a:t>
            </a:r>
            <a:r>
              <a:rPr lang="nb-NO" dirty="0"/>
              <a:t>inngående og utgående kall </a:t>
            </a:r>
            <a:endParaRPr lang="nb-NO" dirty="0" smtClean="0"/>
          </a:p>
          <a:p>
            <a:pPr lvl="1"/>
            <a:r>
              <a:rPr lang="nb-NO" dirty="0" smtClean="0"/>
              <a:t>Bruk log levels aktivt</a:t>
            </a:r>
            <a:endParaRPr lang="nb-NO" dirty="0"/>
          </a:p>
        </p:txBody>
      </p:sp>
      <p:pic>
        <p:nvPicPr>
          <p:cNvPr id="16386" name="Picture 2" descr="https://camo.githubusercontent.com/e871b5d002a9699e7a2d9fa0178af5c72f0743e0/68747470733a2f2f6e6574666c69782e6769746875622e636f6d2f487973747269782f696d616765732f687973747269782d6c6f676f2d7461676c696e652d3835302e706e6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542" y="5113291"/>
            <a:ext cx="5127625" cy="145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://www.slf4j.org/images/logos/slf4j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870" y="2107792"/>
            <a:ext cx="2177930" cy="92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http://logback.qos.ch/images/logos/lblog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871" y="3320932"/>
            <a:ext cx="2204544" cy="118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99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Infrastruktur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b-NO" sz="3600" b="1" dirty="0"/>
              <a:t>HTTPS overalt, alltid! </a:t>
            </a:r>
            <a:endParaRPr lang="nb-NO" sz="3600" b="1" dirty="0" smtClean="0"/>
          </a:p>
          <a:p>
            <a:r>
              <a:rPr lang="nb-NO" dirty="0" smtClean="0"/>
              <a:t>Web proxy </a:t>
            </a:r>
          </a:p>
          <a:p>
            <a:endParaRPr lang="nb-NO" dirty="0" smtClean="0"/>
          </a:p>
          <a:p>
            <a:r>
              <a:rPr lang="nb-NO" dirty="0" smtClean="0"/>
              <a:t>Lastbalanserer </a:t>
            </a:r>
          </a:p>
          <a:p>
            <a:endParaRPr lang="nb-NO" dirty="0" smtClean="0"/>
          </a:p>
          <a:p>
            <a:r>
              <a:rPr lang="nb-NO" dirty="0" smtClean="0"/>
              <a:t>Discovery </a:t>
            </a:r>
          </a:p>
          <a:p>
            <a:endParaRPr lang="nb-NO" dirty="0"/>
          </a:p>
          <a:p>
            <a:r>
              <a:rPr lang="nb-NO" dirty="0"/>
              <a:t>Hazelcast </a:t>
            </a:r>
            <a:r>
              <a:rPr lang="nb-NO" dirty="0" smtClean="0"/>
              <a:t>for HA </a:t>
            </a:r>
            <a:endParaRPr lang="nb-NO" dirty="0"/>
          </a:p>
          <a:p>
            <a:endParaRPr lang="nb-NO" dirty="0"/>
          </a:p>
        </p:txBody>
      </p:sp>
      <p:pic>
        <p:nvPicPr>
          <p:cNvPr id="18434" name="Picture 2" descr="http://hazelcast.com/wp-content/uploads/2014/03/HazelcastLogo-Blue_Dark_Vertical_500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885" y="4925631"/>
            <a:ext cx="1796143" cy="153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://linuxserverworld.com/wp-content/uploads/2012/09/apache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657" y="230188"/>
            <a:ext cx="1951718" cy="134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http://upload.wikimedia.org/wikipedia/commons/thumb/1/1d/AmazonWebservices_Logo.svg/2000px-AmazonWebservices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142" y="2204954"/>
            <a:ext cx="2321606" cy="92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51690" y="3190335"/>
            <a:ext cx="5224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Elastic Load </a:t>
            </a:r>
            <a:r>
              <a:rPr lang="nb-NO" sz="3200" dirty="0" smtClean="0"/>
              <a:t>Balancing</a:t>
            </a:r>
            <a:endParaRPr lang="nb-NO" sz="3200" dirty="0"/>
          </a:p>
        </p:txBody>
      </p:sp>
    </p:spTree>
    <p:extLst>
      <p:ext uri="{BB962C8B-B14F-4D97-AF65-F5344CB8AC3E}">
        <p14:creationId xmlns:p14="http://schemas.microsoft.com/office/powerpoint/2010/main" val="336063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4" y="0"/>
            <a:ext cx="10075332" cy="6858000"/>
          </a:xfrm>
        </p:spPr>
      </p:pic>
    </p:spTree>
    <p:extLst>
      <p:ext uri="{BB962C8B-B14F-4D97-AF65-F5344CB8AC3E}">
        <p14:creationId xmlns:p14="http://schemas.microsoft.com/office/powerpoint/2010/main" val="215107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nb-NO" altLang="nb-NO" dirty="0">
                <a:latin typeface="Arial" panose="020B0604020202020204" pitchFamily="34" charset="0"/>
              </a:rPr>
              <a:t>Characteristics of a Microservice Architecture </a:t>
            </a:r>
            <a:r>
              <a:rPr lang="nb-NO" altLang="nb-NO" dirty="0" smtClean="0">
                <a:latin typeface="Arial" panose="020B0604020202020204" pitchFamily="34" charset="0"/>
              </a:rPr>
              <a:t/>
            </a:r>
            <a:br>
              <a:rPr lang="nb-NO" altLang="nb-NO" dirty="0" smtClean="0"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4219"/>
            <a:ext cx="949433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Componentization via Services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(Team) Organized around Business Capabilities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not Projects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endpoints and dumb pipes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Governance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Data Management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Automation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failure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nb-NO" altLang="nb-NO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Evolutionary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1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web4j.com/images/packagebyfea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771"/>
            <a:ext cx="12228878" cy="426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01953" y="6010407"/>
            <a:ext cx="329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00" dirty="0"/>
              <a:t>http://</a:t>
            </a:r>
            <a:r>
              <a:rPr lang="nb-NO" sz="900" dirty="0" smtClean="0"/>
              <a:t>www.javapractices.com/topic/TopicAction.do?Id=205, </a:t>
            </a:r>
            <a:r>
              <a:rPr lang="nb-NO" sz="900" dirty="0"/>
              <a:t>http://www.web4j.com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532" y="2617131"/>
            <a:ext cx="10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db</a:t>
            </a:r>
            <a:endParaRPr lang="nb-NO" dirty="0"/>
          </a:p>
        </p:txBody>
      </p:sp>
      <p:sp>
        <p:nvSpPr>
          <p:cNvPr id="5" name="TextBox 4"/>
          <p:cNvSpPr txBox="1"/>
          <p:nvPr/>
        </p:nvSpPr>
        <p:spPr>
          <a:xfrm>
            <a:off x="-50240" y="3915881"/>
            <a:ext cx="10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domain</a:t>
            </a:r>
            <a:endParaRPr lang="nb-NO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289157"/>
            <a:ext cx="1075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web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446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 descr="http://shishkin.github.io/presentations/rest/img/rest-in-practi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950" y="115743"/>
            <a:ext cx="5087949" cy="66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99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48683" y="0"/>
            <a:ext cx="1224068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4" name="Rectangle 1"/>
          <p:cNvSpPr>
            <a:spLocks noGrp="1" noChangeArrowheads="1"/>
          </p:cNvSpPr>
          <p:nvPr>
            <p:ph type="title"/>
          </p:nvPr>
        </p:nvSpPr>
        <p:spPr>
          <a:xfrm>
            <a:off x="3226085" y="1768813"/>
            <a:ext cx="2352782" cy="1186966"/>
          </a:xfrm>
        </p:spPr>
        <p:txBody>
          <a:bodyPr>
            <a:noAutofit/>
          </a:bodyPr>
          <a:lstStyle/>
          <a:p>
            <a:pPr algn="ctr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7200" dirty="0" smtClean="0">
                <a:solidFill>
                  <a:schemeClr val="bg1"/>
                </a:solidFill>
              </a:rPr>
              <a:t>Dele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>
          <a:xfrm>
            <a:off x="-788760" y="883882"/>
            <a:ext cx="4498483" cy="1186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7200" dirty="0" err="1" smtClean="0">
                <a:solidFill>
                  <a:schemeClr val="bg1"/>
                </a:solidFill>
              </a:rPr>
              <a:t>Når</a:t>
            </a:r>
            <a:r>
              <a:rPr lang="en-US" sz="7200" dirty="0" smtClean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7150814" y="3723120"/>
            <a:ext cx="3637052" cy="1186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7200" dirty="0" err="1" smtClean="0">
                <a:solidFill>
                  <a:schemeClr val="bg1"/>
                </a:solidFill>
              </a:rPr>
              <a:t>opp</a:t>
            </a:r>
            <a:r>
              <a:rPr lang="en-US" sz="7200" dirty="0" smtClean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>
          <a:xfrm rot="19804619">
            <a:off x="2268287" y="3870940"/>
            <a:ext cx="4448341" cy="11869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5400" dirty="0" err="1" smtClean="0">
                <a:solidFill>
                  <a:schemeClr val="bg1"/>
                </a:solidFill>
              </a:rPr>
              <a:t>Hvordan</a:t>
            </a:r>
            <a:r>
              <a:rPr lang="en-US" sz="5400" dirty="0" smtClean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3240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128010"/>
            <a:ext cx="12192000" cy="9144000"/>
          </a:xfrm>
          <a:prstGeom prst="rect">
            <a:avLst/>
          </a:prstGeom>
        </p:spPr>
      </p:pic>
      <p:sp>
        <p:nvSpPr>
          <p:cNvPr id="4" name="TextShape 2"/>
          <p:cNvSpPr txBox="1"/>
          <p:nvPr/>
        </p:nvSpPr>
        <p:spPr>
          <a:xfrm>
            <a:off x="9264580" y="4645907"/>
            <a:ext cx="2849085" cy="1360075"/>
          </a:xfrm>
          <a:prstGeom prst="rect">
            <a:avLst/>
          </a:prstGeom>
        </p:spPr>
        <p:txBody>
          <a:bodyPr/>
          <a:lstStyle/>
          <a:p>
            <a:r>
              <a:rPr lang="nb-NO" sz="2800" b="1" dirty="0" smtClean="0">
                <a:solidFill>
                  <a:schemeClr val="bg1"/>
                </a:solidFill>
                <a:latin typeface="Calibri"/>
              </a:rPr>
              <a:t>Erik Drolshammer</a:t>
            </a:r>
          </a:p>
          <a:p>
            <a:r>
              <a:rPr lang="nb-NO" sz="2800" dirty="0">
                <a:solidFill>
                  <a:schemeClr val="bg1"/>
                </a:solidFill>
              </a:rPr>
              <a:t>erik@fjas.no</a:t>
            </a:r>
          </a:p>
          <a:p>
            <a:r>
              <a:rPr lang="nb-NO" sz="2800" dirty="0">
                <a:solidFill>
                  <a:schemeClr val="bg1"/>
                </a:solidFill>
              </a:rPr>
              <a:t>@Sherriff1</a:t>
            </a:r>
          </a:p>
          <a:p>
            <a:endParaRPr lang="nb-NO" sz="2800" b="1" dirty="0" smtClean="0">
              <a:solidFill>
                <a:schemeClr val="bg1"/>
              </a:solidFill>
              <a:latin typeface="Calibri"/>
            </a:endParaRPr>
          </a:p>
          <a:p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Picture 2" descr="https://abakus.no/uploads/events/thumbs/2013-12-01-0019-05724206-photo-altran-logo-578x15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580" y="6085524"/>
            <a:ext cx="2916532" cy="75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33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3511</TotalTime>
  <Words>1218</Words>
  <Application>Microsoft Office PowerPoint</Application>
  <PresentationFormat>Widescreen</PresentationFormat>
  <Paragraphs>364</Paragraphs>
  <Slides>35</Slides>
  <Notes>29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Angsana New</vt:lpstr>
      <vt:lpstr>Arial</vt:lpstr>
      <vt:lpstr>Calibri</vt:lpstr>
      <vt:lpstr>Calibri Light</vt:lpstr>
      <vt:lpstr>DejaVu Sans</vt:lpstr>
      <vt:lpstr>Pristina</vt:lpstr>
      <vt:lpstr>Times New Roman</vt:lpstr>
      <vt:lpstr>Office Theme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“Clear and consistent responsibility power all great architectures”</vt:lpstr>
      <vt:lpstr>PowerPoint Presentation</vt:lpstr>
      <vt:lpstr>Guts on the Outside</vt:lpstr>
      <vt:lpstr>Characteristics of a Microservice Architecture  </vt:lpstr>
      <vt:lpstr>Characteristics of a Microservice Architecture  </vt:lpstr>
      <vt:lpstr>PowerPoint Presentation</vt:lpstr>
      <vt:lpstr>Characteristics of a Microservice Architecture  </vt:lpstr>
      <vt:lpstr>PowerPoint Presentation</vt:lpstr>
      <vt:lpstr>Robustness principle, aka. Postel’s law: </vt:lpstr>
      <vt:lpstr>PowerPoint Presentation</vt:lpstr>
      <vt:lpstr>Characteristics of a Microservice Architecture  </vt:lpstr>
      <vt:lpstr>PowerPoint Presentation</vt:lpstr>
      <vt:lpstr>Characteristics of a Microservice Architecture  </vt:lpstr>
      <vt:lpstr>Polyglot persistence</vt:lpstr>
      <vt:lpstr>Characteristics of a Microservice Architecture  </vt:lpstr>
      <vt:lpstr>... skal Stig snakke mer om etterpå </vt:lpstr>
      <vt:lpstr>PowerPoint Presentation</vt:lpstr>
      <vt:lpstr>Provisjonering</vt:lpstr>
      <vt:lpstr>PowerPoint Presentation</vt:lpstr>
      <vt:lpstr>PowerPoint Presentation</vt:lpstr>
      <vt:lpstr>Characteristics of a Microservice Architecture  </vt:lpstr>
      <vt:lpstr>Tjenester vil feile!</vt:lpstr>
      <vt:lpstr>Infrastruktur</vt:lpstr>
      <vt:lpstr>PowerPoint Presentation</vt:lpstr>
      <vt:lpstr>Characteristics of a Microservice Architecture  </vt:lpstr>
      <vt:lpstr>PowerPoint Presentation</vt:lpstr>
      <vt:lpstr>PowerPoint Presentation</vt:lpstr>
      <vt:lpstr>Dele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</dc:creator>
  <cp:lastModifiedBy>Erik</cp:lastModifiedBy>
  <cp:revision>1699</cp:revision>
  <dcterms:created xsi:type="dcterms:W3CDTF">2014-01-28T19:17:33Z</dcterms:created>
  <dcterms:modified xsi:type="dcterms:W3CDTF">2015-02-16T13:02:37Z</dcterms:modified>
</cp:coreProperties>
</file>