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83" r:id="rId4"/>
    <p:sldId id="259" r:id="rId5"/>
    <p:sldId id="274" r:id="rId6"/>
    <p:sldId id="267" r:id="rId7"/>
    <p:sldId id="277" r:id="rId8"/>
    <p:sldId id="258" r:id="rId9"/>
    <p:sldId id="281" r:id="rId10"/>
    <p:sldId id="286" r:id="rId11"/>
    <p:sldId id="278" r:id="rId12"/>
    <p:sldId id="270" r:id="rId13"/>
    <p:sldId id="311" r:id="rId14"/>
    <p:sldId id="289" r:id="rId15"/>
    <p:sldId id="288" r:id="rId16"/>
    <p:sldId id="287" r:id="rId17"/>
    <p:sldId id="271" r:id="rId18"/>
    <p:sldId id="312" r:id="rId19"/>
    <p:sldId id="292" r:id="rId20"/>
    <p:sldId id="291" r:id="rId21"/>
    <p:sldId id="290" r:id="rId22"/>
    <p:sldId id="279" r:id="rId23"/>
    <p:sldId id="260" r:id="rId24"/>
    <p:sldId id="293" r:id="rId25"/>
    <p:sldId id="262" r:id="rId26"/>
    <p:sldId id="263" r:id="rId27"/>
    <p:sldId id="294" r:id="rId28"/>
    <p:sldId id="297" r:id="rId29"/>
    <p:sldId id="264" r:id="rId30"/>
    <p:sldId id="295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280" r:id="rId45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14" autoAdjust="0"/>
  </p:normalViewPr>
  <p:slideViewPr>
    <p:cSldViewPr>
      <p:cViewPr varScale="1">
        <p:scale>
          <a:sx n="73" d="100"/>
          <a:sy n="73" d="100"/>
        </p:scale>
        <p:origin x="-1482" y="-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b-NO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r>
              <a:rPr lang="nb-NO" b="1" dirty="0" smtClean="0"/>
              <a:t>Kan vi skape mye mere verdi i softwareprosjekter?</a:t>
            </a:r>
            <a:endParaRPr lang="nb-NO" dirty="0" smtClean="0"/>
          </a:p>
          <a:p>
            <a:r>
              <a:rPr lang="nb-NO" b="1" dirty="0" err="1" smtClean="0"/>
              <a:t>Abstract</a:t>
            </a:r>
            <a:endParaRPr lang="nb-NO" b="1" dirty="0" smtClean="0"/>
          </a:p>
          <a:p>
            <a:r>
              <a:rPr lang="nb-NO" dirty="0" smtClean="0"/>
              <a:t>Softwarebransjen har i den senere tid vært fokusert på å øke produktiviteten. Vi tar stadig </a:t>
            </a:r>
            <a:r>
              <a:rPr lang="nb-NO" dirty="0" err="1" smtClean="0"/>
              <a:t>ibruk</a:t>
            </a:r>
            <a:r>
              <a:rPr lang="nb-NO" dirty="0" smtClean="0"/>
              <a:t> ny teknologi og moderne systemutviklingsmetoder for å optimalisere produktiviteten i gjennomføringen av softwareutvikling. Likevel så stanger vi hodet i veggen dersom vi betrakter mange softwareprosjekter fra et "verdiskapning over livsløpet" perspektiv. Dette foredraget vil sette fingeren på to hovedelementer som kan være med på å endre dette bildet. </a:t>
            </a:r>
          </a:p>
          <a:p>
            <a:r>
              <a:rPr lang="nb-NO" b="1" dirty="0" smtClean="0"/>
              <a:t>Del 1. Valg. Tar vi de riktige valgene?</a:t>
            </a:r>
            <a:endParaRPr lang="nb-NO" dirty="0" smtClean="0"/>
          </a:p>
          <a:p>
            <a:r>
              <a:rPr lang="nb-NO" dirty="0" smtClean="0"/>
              <a:t>Vi begynner med å se på prosessene og resultatene rundt nøkkelbeslutninger for </a:t>
            </a:r>
            <a:r>
              <a:rPr lang="nb-NO" dirty="0" err="1" smtClean="0"/>
              <a:t>implementasjon</a:t>
            </a:r>
            <a:r>
              <a:rPr lang="nb-NO" dirty="0" smtClean="0"/>
              <a:t>, hvor vi eksemplifiserer hvor tilfeldig viktige valg faktisk blir tatt. Vi vil også se på hvordan et fokus på </a:t>
            </a:r>
            <a:r>
              <a:rPr lang="nb-NO" dirty="0" err="1" smtClean="0"/>
              <a:t>teknologi-egenskaper</a:t>
            </a:r>
            <a:r>
              <a:rPr lang="nb-NO" dirty="0" smtClean="0"/>
              <a:t> kan gi oss et rammeverk for å ta valg som kan gi betydelig større verdi i softwareprosjekter. </a:t>
            </a:r>
          </a:p>
          <a:p>
            <a:r>
              <a:rPr lang="nb-NO" b="1" dirty="0" smtClean="0"/>
              <a:t>Del 2. Arkitektur.</a:t>
            </a:r>
            <a:endParaRPr lang="nb-NO" dirty="0" smtClean="0"/>
          </a:p>
          <a:p>
            <a:r>
              <a:rPr lang="nb-NO" dirty="0" smtClean="0"/>
              <a:t>Arkitektur er en brannfakkel om dagen, og det ikke uten grunn. Det skrives opp og i mente om arkitektur og anti-arkitektur. Vi vil i denne delen av presentasjonen undersøke og sette spørsmålstegnet på om vi kanskje i 2009 begynner å se konturene av gode mulige </a:t>
            </a:r>
            <a:r>
              <a:rPr lang="nb-NO" dirty="0" err="1" smtClean="0"/>
              <a:t>arkitekturelle</a:t>
            </a:r>
            <a:r>
              <a:rPr lang="nb-NO" dirty="0" smtClean="0"/>
              <a:t> byggesteiner som faktisk er forutsetningen for å investere i arkitekturen i et system og hvordan disse kombinert med å ta bedre valg kan være en måte å skape mye mere verdi enn dagens norm i softwareprosjekter.</a:t>
            </a:r>
          </a:p>
          <a:p>
            <a:r>
              <a:rPr lang="nb-NO" b="1" dirty="0" smtClean="0"/>
              <a:t>Speaker</a:t>
            </a:r>
          </a:p>
          <a:p>
            <a:r>
              <a:rPr lang="nb-NO" dirty="0" err="1" smtClean="0"/>
              <a:t>Totto</a:t>
            </a:r>
            <a:r>
              <a:rPr lang="nb-NO" dirty="0" smtClean="0"/>
              <a:t>, </a:t>
            </a:r>
            <a:r>
              <a:rPr lang="nb-NO" dirty="0" err="1" smtClean="0"/>
              <a:t>Webstep</a:t>
            </a:r>
            <a:r>
              <a:rPr lang="nb-NO" dirty="0" smtClean="0"/>
              <a:t> og </a:t>
            </a:r>
            <a:r>
              <a:rPr lang="nb-NO" dirty="0" err="1" smtClean="0"/>
              <a:t>Cantara</a:t>
            </a:r>
            <a:endParaRPr lang="nb-NO" dirty="0" smtClean="0"/>
          </a:p>
          <a:p>
            <a:r>
              <a:rPr lang="nb-NO" dirty="0" smtClean="0"/>
              <a:t>Mads Nissen, </a:t>
            </a:r>
            <a:r>
              <a:rPr lang="nb-NO" dirty="0" err="1" smtClean="0"/>
              <a:t>Puzzlepart</a:t>
            </a:r>
            <a:endParaRPr lang="nb-NO" dirty="0" smtClean="0"/>
          </a:p>
          <a:p>
            <a:r>
              <a:rPr lang="nb-NO" b="1" dirty="0" err="1" smtClean="0"/>
              <a:t>Outline</a:t>
            </a:r>
            <a:endParaRPr lang="nb-NO" b="1" dirty="0" smtClean="0"/>
          </a:p>
          <a:p>
            <a:r>
              <a:rPr lang="nb-NO" dirty="0" err="1" smtClean="0"/>
              <a:t>Intro</a:t>
            </a:r>
            <a:r>
              <a:rPr lang="nb-NO" dirty="0" smtClean="0"/>
              <a:t> (1 min) </a:t>
            </a:r>
          </a:p>
          <a:p>
            <a:pPr lvl="1"/>
            <a:r>
              <a:rPr lang="nb-NO" dirty="0" smtClean="0"/>
              <a:t>Hva er problemet (5 min) </a:t>
            </a:r>
          </a:p>
          <a:p>
            <a:pPr lvl="2"/>
            <a:r>
              <a:rPr lang="nb-NO" dirty="0" smtClean="0"/>
              <a:t>Er vi ikke produktive nok?</a:t>
            </a:r>
          </a:p>
          <a:p>
            <a:pPr lvl="2"/>
            <a:r>
              <a:rPr lang="nb-NO" dirty="0" smtClean="0"/>
              <a:t>Gjenbruksmantraet...</a:t>
            </a:r>
          </a:p>
          <a:p>
            <a:pPr lvl="2"/>
            <a:r>
              <a:rPr lang="nb-NO" dirty="0" smtClean="0"/>
              <a:t>Less for </a:t>
            </a:r>
            <a:r>
              <a:rPr lang="nb-NO" dirty="0" err="1" smtClean="0"/>
              <a:t>less-movement</a:t>
            </a:r>
            <a:r>
              <a:rPr lang="nb-NO" dirty="0" smtClean="0"/>
              <a:t>?</a:t>
            </a:r>
          </a:p>
          <a:p>
            <a:pPr lvl="2"/>
            <a:r>
              <a:rPr lang="nb-NO" dirty="0" smtClean="0"/>
              <a:t>Eller...?</a:t>
            </a:r>
          </a:p>
          <a:p>
            <a:pPr lvl="1"/>
            <a:r>
              <a:rPr lang="nb-NO" dirty="0" smtClean="0"/>
              <a:t>Hva er status (10 min) </a:t>
            </a:r>
          </a:p>
          <a:p>
            <a:pPr lvl="2"/>
            <a:r>
              <a:rPr lang="nb-NO" dirty="0" err="1" smtClean="0"/>
              <a:t>Agile/knowledge</a:t>
            </a:r>
            <a:r>
              <a:rPr lang="nb-NO" dirty="0" smtClean="0"/>
              <a:t> world (Norge som eksempel) </a:t>
            </a:r>
          </a:p>
          <a:p>
            <a:pPr lvl="3"/>
            <a:r>
              <a:rPr lang="nb-NO" dirty="0" err="1" smtClean="0"/>
              <a:t>adhoc</a:t>
            </a:r>
            <a:r>
              <a:rPr lang="nb-NO" dirty="0" smtClean="0"/>
              <a:t>? (en god ide/"sånn gjør vi det her")</a:t>
            </a:r>
          </a:p>
          <a:p>
            <a:pPr lvl="2"/>
            <a:r>
              <a:rPr lang="nb-NO" dirty="0" smtClean="0"/>
              <a:t>Prosess &amp; Software </a:t>
            </a:r>
            <a:r>
              <a:rPr lang="nb-NO" dirty="0" err="1" smtClean="0"/>
              <a:t>engineering</a:t>
            </a:r>
            <a:r>
              <a:rPr lang="nb-NO" dirty="0" smtClean="0"/>
              <a:t> (India som eksempel)</a:t>
            </a:r>
          </a:p>
          <a:p>
            <a:r>
              <a:rPr lang="nb-NO" dirty="0" smtClean="0"/>
              <a:t>Hvordan tas valg? (20 min) </a:t>
            </a:r>
          </a:p>
          <a:p>
            <a:pPr lvl="1"/>
            <a:r>
              <a:rPr lang="nb-NO" dirty="0" smtClean="0"/>
              <a:t>Myter (3 min)</a:t>
            </a:r>
          </a:p>
          <a:p>
            <a:pPr lvl="1"/>
            <a:r>
              <a:rPr lang="nb-NO" dirty="0" smtClean="0"/>
              <a:t>Psykologi (Mennesker og prosesser) (2 min)</a:t>
            </a:r>
          </a:p>
          <a:p>
            <a:pPr lvl="1"/>
            <a:r>
              <a:rPr lang="nb-NO" dirty="0" smtClean="0"/>
              <a:t>For mange alternativer? (3 min)</a:t>
            </a:r>
          </a:p>
          <a:p>
            <a:pPr lvl="1"/>
            <a:r>
              <a:rPr lang="nb-NO" dirty="0" err="1" smtClean="0"/>
              <a:t>Corporate</a:t>
            </a:r>
            <a:r>
              <a:rPr lang="nb-NO" dirty="0" smtClean="0"/>
              <a:t> </a:t>
            </a:r>
            <a:r>
              <a:rPr lang="nb-NO" dirty="0" err="1" smtClean="0"/>
              <a:t>policies</a:t>
            </a:r>
            <a:r>
              <a:rPr lang="nb-NO" dirty="0" smtClean="0"/>
              <a:t> (2 min)</a:t>
            </a:r>
          </a:p>
          <a:p>
            <a:pPr lvl="1"/>
            <a:r>
              <a:rPr lang="nb-NO" dirty="0" err="1" smtClean="0"/>
              <a:t>Evidence</a:t>
            </a:r>
            <a:r>
              <a:rPr lang="nb-NO" dirty="0" smtClean="0"/>
              <a:t> </a:t>
            </a:r>
            <a:r>
              <a:rPr lang="nb-NO" dirty="0" err="1" smtClean="0"/>
              <a:t>based</a:t>
            </a:r>
            <a:r>
              <a:rPr lang="nb-NO" dirty="0" smtClean="0"/>
              <a:t> software </a:t>
            </a:r>
            <a:r>
              <a:rPr lang="nb-NO" dirty="0" err="1" smtClean="0"/>
              <a:t>engineering</a:t>
            </a:r>
            <a:r>
              <a:rPr lang="nb-NO" dirty="0" smtClean="0"/>
              <a:t> (2 min)</a:t>
            </a:r>
          </a:p>
          <a:p>
            <a:pPr lvl="1"/>
            <a:r>
              <a:rPr lang="nb-NO" dirty="0" err="1" smtClean="0"/>
              <a:t>Some</a:t>
            </a:r>
            <a:r>
              <a:rPr lang="nb-NO" dirty="0" smtClean="0"/>
              <a:t> </a:t>
            </a:r>
            <a:r>
              <a:rPr lang="nb-NO" dirty="0" err="1" smtClean="0"/>
              <a:t>advice</a:t>
            </a:r>
            <a:r>
              <a:rPr lang="nb-NO" dirty="0" smtClean="0"/>
              <a:t> (8 min) </a:t>
            </a:r>
          </a:p>
          <a:p>
            <a:pPr lvl="2"/>
            <a:r>
              <a:rPr lang="nb-NO" dirty="0" err="1" smtClean="0"/>
              <a:t>Lifecycle</a:t>
            </a:r>
            <a:r>
              <a:rPr lang="nb-NO" dirty="0" smtClean="0"/>
              <a:t> perspektiv </a:t>
            </a:r>
          </a:p>
          <a:p>
            <a:pPr lvl="3"/>
            <a:r>
              <a:rPr lang="nb-NO" dirty="0" smtClean="0"/>
              <a:t>ha egne folk i prosjektet (PL og utøvende arkitekter)</a:t>
            </a:r>
          </a:p>
          <a:p>
            <a:pPr lvl="3"/>
            <a:r>
              <a:rPr lang="nb-NO" dirty="0" smtClean="0"/>
              <a:t>da PAB og </a:t>
            </a:r>
            <a:r>
              <a:rPr lang="nb-NO" dirty="0" err="1" smtClean="0"/>
              <a:t>governance/design</a:t>
            </a:r>
            <a:r>
              <a:rPr lang="nb-NO" dirty="0" smtClean="0"/>
              <a:t> regler/krav på reelle </a:t>
            </a:r>
            <a:r>
              <a:rPr lang="nb-NO" dirty="0" err="1" smtClean="0"/>
              <a:t>arkitekturartifakter</a:t>
            </a:r>
            <a:endParaRPr lang="nb-NO" dirty="0" smtClean="0"/>
          </a:p>
          <a:p>
            <a:r>
              <a:rPr lang="nb-NO" dirty="0" smtClean="0"/>
              <a:t>Arkitektur (20 min) </a:t>
            </a:r>
          </a:p>
          <a:p>
            <a:pPr lvl="1"/>
            <a:r>
              <a:rPr lang="nb-NO" dirty="0" smtClean="0"/>
              <a:t>Rammeverk (2 min) </a:t>
            </a:r>
          </a:p>
          <a:p>
            <a:pPr lvl="1"/>
            <a:r>
              <a:rPr lang="nb-NO" dirty="0" smtClean="0"/>
              <a:t>Arkitekturprosessen og arkitekturvalg (3 min)</a:t>
            </a:r>
          </a:p>
          <a:p>
            <a:pPr lvl="1"/>
            <a:r>
              <a:rPr lang="nb-NO" dirty="0" err="1" smtClean="0"/>
              <a:t>Axiomer</a:t>
            </a:r>
            <a:r>
              <a:rPr lang="nb-NO" dirty="0" smtClean="0"/>
              <a:t> (2 min) </a:t>
            </a:r>
          </a:p>
          <a:p>
            <a:pPr lvl="2"/>
            <a:r>
              <a:rPr lang="nb-NO" dirty="0" err="1" smtClean="0"/>
              <a:t>Clear</a:t>
            </a:r>
            <a:r>
              <a:rPr lang="nb-NO" dirty="0" smtClean="0"/>
              <a:t> and </a:t>
            </a:r>
            <a:r>
              <a:rPr lang="nb-NO" dirty="0" err="1" smtClean="0"/>
              <a:t>consistant</a:t>
            </a:r>
            <a:r>
              <a:rPr lang="nb-NO" dirty="0" smtClean="0"/>
              <a:t> </a:t>
            </a:r>
            <a:r>
              <a:rPr lang="nb-NO" dirty="0" err="1" smtClean="0"/>
              <a:t>responsibillities</a:t>
            </a:r>
            <a:r>
              <a:rPr lang="nb-NO" dirty="0" smtClean="0"/>
              <a:t> </a:t>
            </a:r>
            <a:r>
              <a:rPr lang="nb-NO" dirty="0" err="1" smtClean="0"/>
              <a:t>powers</a:t>
            </a:r>
            <a:r>
              <a:rPr lang="nb-NO" dirty="0" smtClean="0"/>
              <a:t> all </a:t>
            </a:r>
            <a:r>
              <a:rPr lang="nb-NO" dirty="0" err="1" smtClean="0"/>
              <a:t>great</a:t>
            </a:r>
            <a:r>
              <a:rPr lang="nb-NO" dirty="0" smtClean="0"/>
              <a:t> </a:t>
            </a:r>
            <a:r>
              <a:rPr lang="nb-NO" dirty="0" err="1" smtClean="0"/>
              <a:t>architectures</a:t>
            </a:r>
            <a:endParaRPr lang="nb-NO" dirty="0" smtClean="0"/>
          </a:p>
          <a:p>
            <a:pPr lvl="2"/>
            <a:r>
              <a:rPr lang="nb-NO" dirty="0" smtClean="0"/>
              <a:t>Silos </a:t>
            </a:r>
            <a:r>
              <a:rPr lang="nb-NO" dirty="0" err="1" smtClean="0"/>
              <a:t>does</a:t>
            </a:r>
            <a:r>
              <a:rPr lang="nb-NO" dirty="0" smtClean="0"/>
              <a:t> not </a:t>
            </a:r>
            <a:r>
              <a:rPr lang="nb-NO" dirty="0" err="1" smtClean="0"/>
              <a:t>scale</a:t>
            </a:r>
            <a:endParaRPr lang="nb-NO" dirty="0" smtClean="0"/>
          </a:p>
          <a:p>
            <a:pPr lvl="1"/>
            <a:r>
              <a:rPr lang="nb-NO" dirty="0" smtClean="0"/>
              <a:t>Mulige nye byggesteiner for arkitektur (10 min) </a:t>
            </a:r>
          </a:p>
          <a:p>
            <a:pPr lvl="2"/>
            <a:r>
              <a:rPr lang="nb-NO" dirty="0" smtClean="0"/>
              <a:t>Eksempel: Hvorfor DB er et dårlig </a:t>
            </a:r>
            <a:r>
              <a:rPr lang="nb-NO" dirty="0" err="1" smtClean="0"/>
              <a:t>arkitekturartifakt</a:t>
            </a:r>
            <a:r>
              <a:rPr lang="nb-NO" dirty="0" smtClean="0"/>
              <a:t>, og hva den kan erstattes og hvordan dette gir forutsetninger for bedre valg</a:t>
            </a:r>
          </a:p>
          <a:p>
            <a:pPr lvl="1"/>
            <a:r>
              <a:rPr lang="nb-NO" dirty="0" smtClean="0"/>
              <a:t>Produkt versus å bygge selv 3 min)</a:t>
            </a:r>
          </a:p>
          <a:p>
            <a:r>
              <a:rPr lang="nb-NO" dirty="0" smtClean="0"/>
              <a:t>Oppsummering og konklusjoner (3 min)</a:t>
            </a:r>
          </a:p>
          <a:p>
            <a:endParaRPr lang="nb-N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311D80A-248B-496F-A1F8-1F375E73421A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2C16039-09AA-430E-BDD2-56C04D8CBDCA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2C07DAE-5D03-4970-B416-D9E8245C7B88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58BEF776-B384-4B3B-AD52-E977BA1185A5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0D05D68-48E7-4153-A233-5B637C8EFF1A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C6977147-4F52-45AC-885F-A856D8F20582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099DDE0-27F8-4D8A-A0A6-291EFCDC9C35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D4C56E3C-0DC0-47CA-B6B5-D198AD9AE7B3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5F7B5A3-F5BC-4065-ACBB-7CC50F66D26B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1898A6F9-85E2-458B-9301-D4365D60AC6D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8588"/>
            <a:ext cx="2055813" cy="5995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8588"/>
            <a:ext cx="6019800" cy="59959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BAF6DFB4-0C86-4033-AFC8-582ACC43879B}" type="slidenum">
              <a:rPr lang="nb-NO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8588"/>
            <a:ext cx="8228013" cy="14335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898989"/>
                </a:solidFill>
              </a:defRPr>
            </a:lvl1pPr>
          </a:lstStyle>
          <a:p>
            <a:r>
              <a:rPr lang="nb-NO"/>
              <a:t>14.04.09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124200" y="6308725"/>
            <a:ext cx="28956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898989"/>
                </a:solidFill>
              </a:defRPr>
            </a:lvl1pPr>
          </a:lstStyle>
          <a:p>
            <a:fld id="{79B0C73E-3840-42F9-B277-CE5DBF676228}" type="slidenum">
              <a:rPr lang="nb-NO"/>
              <a:pPr/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2pPr>
      <a:lvl3pPr marL="1143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3pPr>
      <a:lvl4pPr marL="1600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4pPr>
      <a:lvl5pPr marL="20574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defTabSz="449263" rtl="0" fontAlgn="base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fontAlgn="base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2000232" y="381000"/>
            <a:ext cx="6838968" cy="190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b-NO" sz="3200" b="1" dirty="0" smtClean="0"/>
              <a:t>Kan vi skape mye mere verdi i softwareprosjekter? </a:t>
            </a:r>
            <a:endParaRPr lang="en-US" sz="3200" baseline="300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000100" y="1785926"/>
            <a:ext cx="7315200" cy="378783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r>
              <a:rPr lang="nb-NO" sz="2400" dirty="0" smtClean="0">
                <a:solidFill>
                  <a:schemeClr val="tx1"/>
                </a:solidFill>
              </a:rPr>
              <a:t>Softwarebransjen har i den senere tid vært fokusert på å øke produktiviteten. Vi tar stadig i bruk ny teknologi og moderne systemutviklingsmetoder for å optimalisere produktiviteten i gjennomføringen av softwareutvikling. </a:t>
            </a:r>
          </a:p>
          <a:p>
            <a:endParaRPr lang="nb-NO" sz="2400" dirty="0">
              <a:solidFill>
                <a:schemeClr val="tx1"/>
              </a:solidFill>
            </a:endParaRPr>
          </a:p>
          <a:p>
            <a:r>
              <a:rPr lang="nb-NO" sz="2400" dirty="0" smtClean="0">
                <a:solidFill>
                  <a:schemeClr val="tx1"/>
                </a:solidFill>
              </a:rPr>
              <a:t>Likevel så stanger vi hodet i veggen dersom vi betrakter mange softwareprosjekter fra et "verdiskapning over livsløpet" perspektiv. Dette foredraget vil sette fingeren på to hovedelementer som kan være med på å endre dette bildet.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000100" y="1785926"/>
            <a:ext cx="7315200" cy="23105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r>
              <a:rPr lang="nb-NO" sz="2400" b="1" dirty="0" err="1" smtClean="0">
                <a:solidFill>
                  <a:schemeClr val="tx1"/>
                </a:solidFill>
              </a:rPr>
              <a:t>Disclaimer</a:t>
            </a:r>
            <a:r>
              <a:rPr lang="nb-NO" sz="2400" b="1" dirty="0" smtClean="0">
                <a:solidFill>
                  <a:schemeClr val="tx1"/>
                </a:solidFill>
              </a:rPr>
              <a:t>:</a:t>
            </a:r>
          </a:p>
          <a:p>
            <a:endParaRPr lang="nb-NO" sz="2400" b="1" dirty="0" smtClean="0">
              <a:solidFill>
                <a:schemeClr val="tx1"/>
              </a:solidFill>
            </a:endParaRPr>
          </a:p>
          <a:p>
            <a:r>
              <a:rPr lang="nb-NO" sz="2400" dirty="0" smtClean="0">
                <a:solidFill>
                  <a:schemeClr val="tx1"/>
                </a:solidFill>
              </a:rPr>
              <a:t>Min erfaring og virkelighetsfokus er sentrert rundt skreddersøm og </a:t>
            </a:r>
            <a:r>
              <a:rPr lang="nb-NO" sz="2400" dirty="0" err="1" smtClean="0">
                <a:solidFill>
                  <a:schemeClr val="tx1"/>
                </a:solidFill>
              </a:rPr>
              <a:t>enterprise</a:t>
            </a:r>
            <a:r>
              <a:rPr lang="nb-NO" sz="2400" dirty="0" smtClean="0">
                <a:solidFill>
                  <a:schemeClr val="tx1"/>
                </a:solidFill>
              </a:rPr>
              <a:t> systemer. Hvor relevant deler av disse utfordringene er i andre biter av softwarebransjen vil variere.</a:t>
            </a:r>
            <a:endParaRPr lang="nb-NO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Innledende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postulater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000100" y="1785926"/>
            <a:ext cx="7315200" cy="39724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nb-NO" sz="2800" dirty="0" smtClean="0">
                <a:solidFill>
                  <a:schemeClr val="tx1"/>
                </a:solidFill>
              </a:rPr>
              <a:t>Vi har mistet kontrollen på valgene vi gjør i programvareutvikling</a:t>
            </a:r>
          </a:p>
          <a:p>
            <a:endParaRPr lang="nb-NO" sz="28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nb-NO" sz="2800" dirty="0" smtClean="0">
                <a:solidFill>
                  <a:schemeClr val="tx1"/>
                </a:solidFill>
              </a:rPr>
              <a:t>Vi mangler </a:t>
            </a:r>
            <a:r>
              <a:rPr lang="nb-NO" sz="2800" dirty="0" smtClean="0">
                <a:solidFill>
                  <a:schemeClr val="tx1"/>
                </a:solidFill>
              </a:rPr>
              <a:t>gode byggeklosser </a:t>
            </a:r>
            <a:r>
              <a:rPr lang="nb-NO" sz="2800" dirty="0" smtClean="0">
                <a:solidFill>
                  <a:schemeClr val="tx1"/>
                </a:solidFill>
              </a:rPr>
              <a:t>som skal til for at vi skal kunne ta bedre </a:t>
            </a:r>
            <a:r>
              <a:rPr lang="nb-NO" sz="2800" dirty="0" smtClean="0">
                <a:solidFill>
                  <a:schemeClr val="tx1"/>
                </a:solidFill>
              </a:rPr>
              <a:t>valg</a:t>
            </a:r>
            <a:endParaRPr lang="nb-NO" sz="28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nb-NO" sz="28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nb-NO" sz="2800" dirty="0" smtClean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nb-NO" sz="2800" dirty="0" smtClean="0">
                <a:solidFill>
                  <a:schemeClr val="tx1"/>
                </a:solidFill>
              </a:rPr>
              <a:t>Vi er derfor effektivt </a:t>
            </a:r>
            <a:r>
              <a:rPr lang="nb-NO" sz="2800" dirty="0" smtClean="0">
                <a:solidFill>
                  <a:schemeClr val="tx1"/>
                </a:solidFill>
              </a:rPr>
              <a:t>hindret i </a:t>
            </a:r>
            <a:r>
              <a:rPr lang="nb-NO" sz="2800" dirty="0" smtClean="0">
                <a:solidFill>
                  <a:schemeClr val="tx1"/>
                </a:solidFill>
              </a:rPr>
              <a:t>å skape mye større verdi i programvareutvikling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000100" y="1785926"/>
            <a:ext cx="7315200" cy="341850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r>
              <a:rPr lang="nb-NO" sz="2400" b="1" dirty="0" smtClean="0">
                <a:solidFill>
                  <a:schemeClr val="tx1"/>
                </a:solidFill>
              </a:rPr>
              <a:t>Introduksjon </a:t>
            </a:r>
            <a:endParaRPr lang="nb-NO" sz="2400" b="1" dirty="0" smtClean="0">
              <a:solidFill>
                <a:schemeClr val="tx1"/>
              </a:solidFill>
            </a:endParaRPr>
          </a:p>
          <a:p>
            <a:pPr lvl="1"/>
            <a:r>
              <a:rPr lang="nb-NO" sz="2400" b="1" dirty="0" smtClean="0">
                <a:solidFill>
                  <a:schemeClr val="tx1"/>
                </a:solidFill>
              </a:rPr>
              <a:t>Hva er problemet?</a:t>
            </a:r>
          </a:p>
          <a:p>
            <a:pPr lvl="1"/>
            <a:r>
              <a:rPr lang="nb-NO" sz="2400" b="1" dirty="0" smtClean="0">
                <a:solidFill>
                  <a:schemeClr val="tx1"/>
                </a:solidFill>
              </a:rPr>
              <a:t>Hva er status?</a:t>
            </a:r>
          </a:p>
          <a:p>
            <a:pPr lvl="1"/>
            <a:endParaRPr lang="nb-NO" sz="2400" b="1" dirty="0" smtClean="0">
              <a:solidFill>
                <a:schemeClr val="tx1"/>
              </a:solidFill>
            </a:endParaRPr>
          </a:p>
          <a:p>
            <a:r>
              <a:rPr lang="nb-NO" sz="2400" b="1" dirty="0" smtClean="0">
                <a:solidFill>
                  <a:schemeClr val="tx1"/>
                </a:solidFill>
              </a:rPr>
              <a:t>Hvordan tas valg? </a:t>
            </a:r>
          </a:p>
          <a:p>
            <a:pPr lvl="1"/>
            <a:endParaRPr lang="nb-NO" sz="2400" b="1" dirty="0" smtClean="0">
              <a:solidFill>
                <a:schemeClr val="tx1"/>
              </a:solidFill>
            </a:endParaRPr>
          </a:p>
          <a:p>
            <a:r>
              <a:rPr lang="nb-NO" sz="2400" b="1" dirty="0" smtClean="0">
                <a:solidFill>
                  <a:schemeClr val="tx1"/>
                </a:solidFill>
              </a:rPr>
              <a:t>Arkitektur</a:t>
            </a:r>
          </a:p>
          <a:p>
            <a:pPr lvl="1"/>
            <a:endParaRPr lang="nb-NO" sz="2400" b="1" dirty="0" smtClean="0">
              <a:solidFill>
                <a:schemeClr val="tx1"/>
              </a:solidFill>
            </a:endParaRPr>
          </a:p>
          <a:p>
            <a:r>
              <a:rPr lang="nb-NO" sz="2400" b="1" dirty="0" smtClean="0">
                <a:solidFill>
                  <a:schemeClr val="tx1"/>
                </a:solidFill>
              </a:rPr>
              <a:t>Oppsummering og konklusjoner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Hvem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er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Totto</a:t>
            </a:r>
            <a:r>
              <a:rPr lang="en-US" sz="3300" baseline="30000" dirty="0" smtClean="0">
                <a:solidFill>
                  <a:srgbClr val="FFFFFF"/>
                </a:solidFill>
              </a:rPr>
              <a:t>?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714488"/>
            <a:ext cx="76438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Webstep</a:t>
            </a:r>
            <a:r>
              <a:rPr lang="en-US" dirty="0" smtClean="0">
                <a:solidFill>
                  <a:schemeClr val="tx1"/>
                </a:solidFill>
              </a:rPr>
              <a:t> - </a:t>
            </a:r>
            <a:r>
              <a:rPr lang="en-US" dirty="0" err="1" smtClean="0">
                <a:solidFill>
                  <a:schemeClr val="tx1"/>
                </a:solidFill>
              </a:rPr>
              <a:t>konsulent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Cantara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Sun Java Champion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Advisory Board, java.net</a:t>
            </a: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ex- </a:t>
            </a:r>
            <a:r>
              <a:rPr lang="en-US" dirty="0" err="1" smtClean="0">
                <a:solidFill>
                  <a:schemeClr val="tx1"/>
                </a:solidFill>
              </a:rPr>
              <a:t>JavaZone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og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javaBin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sjef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30 </a:t>
            </a:r>
            <a:r>
              <a:rPr lang="en-US" dirty="0" err="1" smtClean="0">
                <a:solidFill>
                  <a:schemeClr val="tx1"/>
                </a:solidFill>
              </a:rPr>
              <a:t>år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siden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jeg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begynte</a:t>
            </a:r>
            <a:r>
              <a:rPr lang="en-US" dirty="0" smtClean="0">
                <a:solidFill>
                  <a:schemeClr val="tx1"/>
                </a:solidFill>
              </a:rPr>
              <a:t> å </a:t>
            </a:r>
            <a:r>
              <a:rPr lang="en-US" dirty="0" err="1" smtClean="0">
                <a:solidFill>
                  <a:schemeClr val="tx1"/>
                </a:solidFill>
              </a:rPr>
              <a:t>få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betalt</a:t>
            </a:r>
            <a:r>
              <a:rPr lang="en-US" dirty="0" smtClean="0">
                <a:solidFill>
                  <a:schemeClr val="tx1"/>
                </a:solidFill>
              </a:rPr>
              <a:t> for å </a:t>
            </a:r>
            <a:r>
              <a:rPr lang="en-US" dirty="0" err="1" smtClean="0">
                <a:solidFill>
                  <a:schemeClr val="tx1"/>
                </a:solidFill>
              </a:rPr>
              <a:t>skrive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kode</a:t>
            </a:r>
            <a:r>
              <a:rPr lang="en-US" dirty="0" smtClean="0">
                <a:solidFill>
                  <a:schemeClr val="tx1"/>
                </a:solidFill>
              </a:rPr>
              <a:t>…</a:t>
            </a: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10 </a:t>
            </a:r>
            <a:r>
              <a:rPr lang="en-US" dirty="0" err="1" smtClean="0">
                <a:solidFill>
                  <a:schemeClr val="tx1"/>
                </a:solidFill>
              </a:rPr>
              <a:t>år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som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applikajsonsutvikler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20 </a:t>
            </a:r>
            <a:r>
              <a:rPr lang="en-US" dirty="0" err="1" smtClean="0">
                <a:solidFill>
                  <a:schemeClr val="tx1"/>
                </a:solidFill>
              </a:rPr>
              <a:t>år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som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systemutvikler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714348" y="1997838"/>
            <a:ext cx="8143932" cy="28623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nb-NO" b="1" dirty="0" err="1" smtClean="0">
                <a:solidFill>
                  <a:schemeClr val="tx1"/>
                </a:solidFill>
              </a:rPr>
              <a:t>Intro</a:t>
            </a:r>
            <a:r>
              <a:rPr lang="nb-NO" b="1" dirty="0" smtClean="0">
                <a:solidFill>
                  <a:schemeClr val="tx1"/>
                </a:solidFill>
              </a:rPr>
              <a:t> – Status </a:t>
            </a:r>
            <a:r>
              <a:rPr lang="nb-NO" b="1" dirty="0" err="1" smtClean="0">
                <a:solidFill>
                  <a:schemeClr val="tx1"/>
                </a:solidFill>
              </a:rPr>
              <a:t>idag</a:t>
            </a:r>
            <a:endParaRPr lang="nb-NO" dirty="0" smtClean="0">
              <a:solidFill>
                <a:schemeClr val="tx1"/>
              </a:solidFill>
            </a:endParaRPr>
          </a:p>
          <a:p>
            <a:endParaRPr lang="nb-NO" dirty="0" smtClean="0">
              <a:solidFill>
                <a:schemeClr val="tx1"/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lvl="2"/>
            <a:endParaRPr lang="nb-NO" dirty="0" smtClean="0">
              <a:solidFill>
                <a:schemeClr val="tx1"/>
              </a:solidFill>
            </a:endParaRPr>
          </a:p>
          <a:p>
            <a:pPr lvl="2"/>
            <a:endParaRPr lang="nb-NO" dirty="0" smtClean="0">
              <a:solidFill>
                <a:schemeClr val="tx1"/>
              </a:solidFill>
            </a:endParaRPr>
          </a:p>
          <a:p>
            <a:pPr lvl="2"/>
            <a:r>
              <a:rPr lang="nb-NO" dirty="0" smtClean="0">
                <a:solidFill>
                  <a:schemeClr val="tx1"/>
                </a:solidFill>
              </a:rPr>
              <a:t>”</a:t>
            </a:r>
            <a:r>
              <a:rPr lang="nb-NO" i="1" dirty="0" smtClean="0">
                <a:solidFill>
                  <a:schemeClr val="tx1"/>
                </a:solidFill>
              </a:rPr>
              <a:t>By </a:t>
            </a:r>
            <a:r>
              <a:rPr lang="nb-NO" i="1" dirty="0" err="1" smtClean="0">
                <a:solidFill>
                  <a:schemeClr val="tx1"/>
                </a:solidFill>
              </a:rPr>
              <a:t>adding</a:t>
            </a:r>
            <a:r>
              <a:rPr lang="nb-NO" i="1" dirty="0" smtClean="0">
                <a:solidFill>
                  <a:schemeClr val="tx1"/>
                </a:solidFill>
              </a:rPr>
              <a:t> </a:t>
            </a:r>
            <a:r>
              <a:rPr lang="nb-NO" i="1" dirty="0" err="1" smtClean="0">
                <a:solidFill>
                  <a:schemeClr val="tx1"/>
                </a:solidFill>
              </a:rPr>
              <a:t>control</a:t>
            </a:r>
            <a:r>
              <a:rPr lang="nb-NO" i="1" dirty="0" smtClean="0">
                <a:solidFill>
                  <a:schemeClr val="tx1"/>
                </a:solidFill>
              </a:rPr>
              <a:t> to a </a:t>
            </a:r>
            <a:r>
              <a:rPr lang="nb-NO" i="1" dirty="0" err="1" smtClean="0">
                <a:solidFill>
                  <a:schemeClr val="tx1"/>
                </a:solidFill>
              </a:rPr>
              <a:t>process</a:t>
            </a:r>
            <a:r>
              <a:rPr lang="nb-NO" i="1" dirty="0" smtClean="0">
                <a:solidFill>
                  <a:schemeClr val="tx1"/>
                </a:solidFill>
              </a:rPr>
              <a:t>, </a:t>
            </a:r>
            <a:r>
              <a:rPr lang="nb-NO" i="1" dirty="0" err="1" smtClean="0">
                <a:solidFill>
                  <a:schemeClr val="tx1"/>
                </a:solidFill>
              </a:rPr>
              <a:t>the</a:t>
            </a:r>
            <a:r>
              <a:rPr lang="nb-NO" i="1" dirty="0" smtClean="0">
                <a:solidFill>
                  <a:schemeClr val="tx1"/>
                </a:solidFill>
              </a:rPr>
              <a:t> </a:t>
            </a:r>
            <a:r>
              <a:rPr lang="nb-NO" i="1" dirty="0" err="1" smtClean="0">
                <a:solidFill>
                  <a:schemeClr val="tx1"/>
                </a:solidFill>
              </a:rPr>
              <a:t>cost</a:t>
            </a:r>
            <a:r>
              <a:rPr lang="nb-NO" i="1" dirty="0" smtClean="0">
                <a:solidFill>
                  <a:schemeClr val="tx1"/>
                </a:solidFill>
              </a:rPr>
              <a:t> </a:t>
            </a:r>
            <a:r>
              <a:rPr lang="nb-NO" i="1" dirty="0" err="1" smtClean="0">
                <a:solidFill>
                  <a:schemeClr val="tx1"/>
                </a:solidFill>
              </a:rPr>
              <a:t>increases</a:t>
            </a:r>
            <a:r>
              <a:rPr lang="nb-NO" i="1" dirty="0" smtClean="0">
                <a:solidFill>
                  <a:schemeClr val="tx1"/>
                </a:solidFill>
              </a:rPr>
              <a:t> – </a:t>
            </a:r>
            <a:r>
              <a:rPr lang="nb-NO" i="1" dirty="0" err="1" smtClean="0">
                <a:solidFill>
                  <a:schemeClr val="tx1"/>
                </a:solidFill>
              </a:rPr>
              <a:t>always</a:t>
            </a:r>
            <a:r>
              <a:rPr lang="nb-NO" i="1" dirty="0" smtClean="0">
                <a:solidFill>
                  <a:schemeClr val="tx1"/>
                </a:solidFill>
              </a:rPr>
              <a:t>!!”</a:t>
            </a:r>
          </a:p>
          <a:p>
            <a:pPr lvl="2"/>
            <a:endParaRPr lang="nb-NO" dirty="0" smtClean="0">
              <a:solidFill>
                <a:schemeClr val="tx1"/>
              </a:solidFill>
            </a:endParaRPr>
          </a:p>
          <a:p>
            <a:pPr lvl="2"/>
            <a:endParaRPr lang="nb-NO" dirty="0" smtClean="0">
              <a:solidFill>
                <a:schemeClr val="tx1"/>
              </a:solidFill>
            </a:endParaRPr>
          </a:p>
          <a:p>
            <a:pPr lvl="2"/>
            <a:endParaRPr lang="nb-NO" dirty="0" smtClean="0">
              <a:solidFill>
                <a:schemeClr val="tx1"/>
              </a:solidFill>
            </a:endParaRPr>
          </a:p>
          <a:p>
            <a:pPr lvl="2"/>
            <a:endParaRPr lang="nb-NO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smtClean="0">
                <a:solidFill>
                  <a:srgbClr val="FFFFFF"/>
                </a:solidFill>
              </a:rPr>
              <a:t>Intro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Hva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er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problemet</a:t>
            </a:r>
            <a:r>
              <a:rPr lang="en-US" sz="3300" baseline="30000" dirty="0" smtClean="0">
                <a:solidFill>
                  <a:srgbClr val="FFFFFF"/>
                </a:solidFill>
              </a:rPr>
              <a:t>?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14282" y="1357298"/>
            <a:ext cx="8091518" cy="40648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endParaRPr lang="nb-NO" sz="2000" dirty="0" smtClean="0">
              <a:solidFill>
                <a:schemeClr val="tx1"/>
              </a:solidFill>
            </a:endParaRPr>
          </a:p>
          <a:p>
            <a:endParaRPr lang="nb-NO" sz="2000" dirty="0" smtClean="0">
              <a:solidFill>
                <a:schemeClr val="tx1"/>
              </a:solidFill>
            </a:endParaRPr>
          </a:p>
          <a:p>
            <a:pPr lvl="2">
              <a:buFont typeface="Arial" charset="0"/>
              <a:buChar char="•"/>
            </a:pPr>
            <a:r>
              <a:rPr lang="nb-NO" sz="2000" b="1" dirty="0" smtClean="0">
                <a:solidFill>
                  <a:schemeClr val="tx1"/>
                </a:solidFill>
              </a:rPr>
              <a:t>Produktivitet</a:t>
            </a:r>
          </a:p>
          <a:p>
            <a:pPr lvl="3">
              <a:buFont typeface="Arial" charset="0"/>
              <a:buChar char="•"/>
            </a:pPr>
            <a:r>
              <a:rPr lang="nb-NO" sz="2000" dirty="0" smtClean="0">
                <a:solidFill>
                  <a:schemeClr val="tx1"/>
                </a:solidFill>
              </a:rPr>
              <a:t>Vi har fått produktive utviklere</a:t>
            </a:r>
          </a:p>
          <a:p>
            <a:pPr lvl="3">
              <a:buFont typeface="Arial" charset="0"/>
              <a:buChar char="•"/>
            </a:pPr>
            <a:r>
              <a:rPr lang="nb-NO" sz="2000" dirty="0" smtClean="0">
                <a:solidFill>
                  <a:schemeClr val="tx1"/>
                </a:solidFill>
              </a:rPr>
              <a:t>Men vi lager ”</a:t>
            </a:r>
            <a:r>
              <a:rPr lang="nb-NO" sz="2000" b="1" dirty="0" smtClean="0">
                <a:solidFill>
                  <a:schemeClr val="tx1"/>
                </a:solidFill>
              </a:rPr>
              <a:t>feil</a:t>
            </a:r>
            <a:r>
              <a:rPr lang="nb-NO" sz="2000" dirty="0" smtClean="0">
                <a:solidFill>
                  <a:schemeClr val="tx1"/>
                </a:solidFill>
              </a:rPr>
              <a:t>” løsninger</a:t>
            </a:r>
          </a:p>
          <a:p>
            <a:pPr lvl="3">
              <a:buFont typeface="Arial" charset="0"/>
              <a:buChar char="•"/>
            </a:pPr>
            <a:r>
              <a:rPr lang="nb-NO" sz="2000" dirty="0" smtClean="0">
                <a:solidFill>
                  <a:schemeClr val="tx1"/>
                </a:solidFill>
              </a:rPr>
              <a:t>Og vi har MYE </a:t>
            </a:r>
            <a:r>
              <a:rPr lang="nb-NO" sz="2000" dirty="0" err="1" smtClean="0">
                <a:solidFill>
                  <a:schemeClr val="tx1"/>
                </a:solidFill>
              </a:rPr>
              <a:t>waste</a:t>
            </a:r>
            <a:endParaRPr lang="nb-NO" sz="2000" dirty="0" smtClean="0">
              <a:solidFill>
                <a:schemeClr val="tx1"/>
              </a:solidFill>
            </a:endParaRPr>
          </a:p>
          <a:p>
            <a:pPr lvl="3">
              <a:buFont typeface="Arial" charset="0"/>
              <a:buChar char="•"/>
            </a:pPr>
            <a:r>
              <a:rPr lang="nb-NO" sz="2000" dirty="0" smtClean="0">
                <a:solidFill>
                  <a:schemeClr val="tx1"/>
                </a:solidFill>
              </a:rPr>
              <a:t>Og løsningene har for kort levetid</a:t>
            </a:r>
          </a:p>
          <a:p>
            <a:pPr lvl="3">
              <a:buFont typeface="Arial" charset="0"/>
              <a:buChar char="•"/>
            </a:pPr>
            <a:r>
              <a:rPr lang="nb-NO" sz="2000" dirty="0" smtClean="0">
                <a:solidFill>
                  <a:schemeClr val="tx1"/>
                </a:solidFill>
              </a:rPr>
              <a:t>Og eskalerende forvaltningskostnader</a:t>
            </a:r>
          </a:p>
          <a:p>
            <a:pPr lvl="2">
              <a:buFont typeface="Arial" charset="0"/>
              <a:buChar char="•"/>
            </a:pPr>
            <a:endParaRPr lang="nb-NO" sz="2000" dirty="0" smtClean="0">
              <a:solidFill>
                <a:schemeClr val="tx1"/>
              </a:solidFill>
            </a:endParaRPr>
          </a:p>
          <a:p>
            <a:pPr lvl="2"/>
            <a:endParaRPr lang="nb-NO" sz="2000" dirty="0" smtClean="0">
              <a:solidFill>
                <a:schemeClr val="tx1"/>
              </a:solidFill>
            </a:endParaRPr>
          </a:p>
          <a:p>
            <a:pPr lvl="2"/>
            <a:r>
              <a:rPr lang="nb-NO" sz="2000" b="1" dirty="0" smtClean="0">
                <a:solidFill>
                  <a:schemeClr val="tx1"/>
                </a:solidFill>
              </a:rPr>
              <a:t>Gjenbruksmantraet</a:t>
            </a:r>
            <a:r>
              <a:rPr lang="nb-NO" sz="2000" dirty="0" smtClean="0">
                <a:solidFill>
                  <a:schemeClr val="tx1"/>
                </a:solidFill>
              </a:rPr>
              <a:t>...</a:t>
            </a:r>
          </a:p>
          <a:p>
            <a:pPr lvl="2"/>
            <a:r>
              <a:rPr lang="nb-NO" sz="2000" b="1" dirty="0" smtClean="0">
                <a:solidFill>
                  <a:schemeClr val="tx1"/>
                </a:solidFill>
              </a:rPr>
              <a:t>Less for </a:t>
            </a:r>
            <a:r>
              <a:rPr lang="nb-NO" sz="2000" b="1" dirty="0" err="1" smtClean="0">
                <a:solidFill>
                  <a:schemeClr val="tx1"/>
                </a:solidFill>
              </a:rPr>
              <a:t>less-movement</a:t>
            </a:r>
            <a:r>
              <a:rPr lang="nb-NO" sz="2000" b="1" dirty="0" smtClean="0">
                <a:solidFill>
                  <a:schemeClr val="tx1"/>
                </a:solidFill>
              </a:rPr>
              <a:t>?</a:t>
            </a:r>
          </a:p>
          <a:p>
            <a:pPr lvl="2"/>
            <a:r>
              <a:rPr lang="nb-NO" sz="2000" b="1" dirty="0" smtClean="0">
                <a:solidFill>
                  <a:schemeClr val="tx1"/>
                </a:solidFill>
              </a:rPr>
              <a:t>Eller...?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smtClean="0">
                <a:solidFill>
                  <a:srgbClr val="FFFFFF"/>
                </a:solidFill>
              </a:rPr>
              <a:t>Intro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Hva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er</a:t>
            </a:r>
            <a:r>
              <a:rPr lang="en-US" sz="3300" baseline="30000" dirty="0" smtClean="0">
                <a:solidFill>
                  <a:srgbClr val="FFFFFF"/>
                </a:solidFill>
              </a:rPr>
              <a:t> status?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57158" y="1142984"/>
            <a:ext cx="7643866" cy="452649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lvl="1"/>
            <a:endParaRPr lang="nb-NO" dirty="0" smtClean="0">
              <a:solidFill>
                <a:schemeClr val="tx1"/>
              </a:solidFill>
            </a:endParaRPr>
          </a:p>
          <a:p>
            <a:pPr lvl="2"/>
            <a:r>
              <a:rPr lang="nb-NO" b="1" dirty="0" err="1" smtClean="0">
                <a:solidFill>
                  <a:schemeClr val="tx1"/>
                </a:solidFill>
              </a:rPr>
              <a:t>Agile/knowledge</a:t>
            </a:r>
            <a:r>
              <a:rPr lang="nb-NO" b="1" dirty="0" smtClean="0">
                <a:solidFill>
                  <a:schemeClr val="tx1"/>
                </a:solidFill>
              </a:rPr>
              <a:t> world </a:t>
            </a:r>
            <a:endParaRPr lang="nb-NO" b="1" dirty="0" smtClean="0">
              <a:solidFill>
                <a:schemeClr val="tx1"/>
              </a:solidFill>
            </a:endParaRPr>
          </a:p>
          <a:p>
            <a:pPr lvl="2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Norge </a:t>
            </a:r>
            <a:r>
              <a:rPr lang="nb-NO" dirty="0" smtClean="0">
                <a:solidFill>
                  <a:schemeClr val="tx1"/>
                </a:solidFill>
              </a:rPr>
              <a:t>som eksempel</a:t>
            </a:r>
            <a:r>
              <a:rPr lang="nb-NO" dirty="0" smtClean="0">
                <a:solidFill>
                  <a:schemeClr val="tx1"/>
                </a:solidFill>
              </a:rPr>
              <a:t>)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Høy produktivitet blant utviklere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Gode til å håndtere endringer i prosjekt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Dårlig på forutsigbarhet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Løsningene tåler i liten grad tidens tann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Dyrt forvaltede løsninger, høy </a:t>
            </a:r>
            <a:r>
              <a:rPr lang="nb-NO" dirty="0" err="1" smtClean="0">
                <a:solidFill>
                  <a:schemeClr val="tx1"/>
                </a:solidFill>
              </a:rPr>
              <a:t>rework</a:t>
            </a:r>
            <a:r>
              <a:rPr lang="nb-NO" dirty="0" smtClean="0">
                <a:solidFill>
                  <a:schemeClr val="tx1"/>
                </a:solidFill>
              </a:rPr>
              <a:t> faktor</a:t>
            </a:r>
            <a:endParaRPr lang="nb-NO" dirty="0" smtClean="0">
              <a:solidFill>
                <a:schemeClr val="tx1"/>
              </a:solidFill>
            </a:endParaRPr>
          </a:p>
          <a:p>
            <a:pPr lvl="2"/>
            <a:endParaRPr lang="nb-NO" dirty="0">
              <a:solidFill>
                <a:schemeClr val="tx1"/>
              </a:solidFill>
            </a:endParaRPr>
          </a:p>
          <a:p>
            <a:pPr lvl="2"/>
            <a:r>
              <a:rPr lang="nb-NO" b="1" dirty="0" smtClean="0">
                <a:solidFill>
                  <a:schemeClr val="tx1"/>
                </a:solidFill>
              </a:rPr>
              <a:t>Prosess &amp; Software </a:t>
            </a:r>
            <a:r>
              <a:rPr lang="nb-NO" b="1" dirty="0" err="1" smtClean="0">
                <a:solidFill>
                  <a:schemeClr val="tx1"/>
                </a:solidFill>
              </a:rPr>
              <a:t>engineering</a:t>
            </a:r>
            <a:r>
              <a:rPr lang="nb-NO" b="1" dirty="0" smtClean="0">
                <a:solidFill>
                  <a:schemeClr val="tx1"/>
                </a:solidFill>
              </a:rPr>
              <a:t> </a:t>
            </a:r>
            <a:r>
              <a:rPr lang="nb-NO" b="1" dirty="0" smtClean="0">
                <a:solidFill>
                  <a:schemeClr val="tx1"/>
                </a:solidFill>
              </a:rPr>
              <a:t>world</a:t>
            </a:r>
          </a:p>
          <a:p>
            <a:pPr lvl="2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(</a:t>
            </a:r>
            <a:r>
              <a:rPr lang="nb-NO" dirty="0" smtClean="0">
                <a:solidFill>
                  <a:schemeClr val="tx1"/>
                </a:solidFill>
              </a:rPr>
              <a:t>India som eksempel</a:t>
            </a:r>
            <a:r>
              <a:rPr lang="nb-NO" dirty="0" smtClean="0">
                <a:solidFill>
                  <a:schemeClr val="tx1"/>
                </a:solidFill>
              </a:rPr>
              <a:t>)</a:t>
            </a:r>
          </a:p>
          <a:p>
            <a:pPr lvl="3">
              <a:buFont typeface="Arial" charset="0"/>
              <a:buChar char="•"/>
            </a:pPr>
            <a:r>
              <a:rPr lang="nb-NO" dirty="0" err="1" smtClean="0">
                <a:solidFill>
                  <a:schemeClr val="tx1"/>
                </a:solidFill>
              </a:rPr>
              <a:t>Gjevn</a:t>
            </a:r>
            <a:r>
              <a:rPr lang="nb-NO" dirty="0" smtClean="0">
                <a:solidFill>
                  <a:schemeClr val="tx1"/>
                </a:solidFill>
              </a:rPr>
              <a:t> produktivitet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Høy grad av </a:t>
            </a:r>
            <a:r>
              <a:rPr lang="nb-NO" dirty="0" err="1" smtClean="0">
                <a:solidFill>
                  <a:schemeClr val="tx1"/>
                </a:solidFill>
              </a:rPr>
              <a:t>standariseirng</a:t>
            </a:r>
            <a:r>
              <a:rPr lang="nb-NO" dirty="0" smtClean="0">
                <a:solidFill>
                  <a:schemeClr val="tx1"/>
                </a:solidFill>
              </a:rPr>
              <a:t> (</a:t>
            </a:r>
            <a:r>
              <a:rPr lang="nb-NO" dirty="0" err="1" smtClean="0">
                <a:solidFill>
                  <a:schemeClr val="tx1"/>
                </a:solidFill>
              </a:rPr>
              <a:t>rammeveerk</a:t>
            </a:r>
            <a:r>
              <a:rPr lang="nb-NO" dirty="0" smtClean="0">
                <a:solidFill>
                  <a:schemeClr val="tx1"/>
                </a:solidFill>
              </a:rPr>
              <a:t> og </a:t>
            </a:r>
            <a:r>
              <a:rPr lang="nb-NO" dirty="0" err="1" smtClean="0">
                <a:solidFill>
                  <a:schemeClr val="tx1"/>
                </a:solidFill>
              </a:rPr>
              <a:t>patterns</a:t>
            </a:r>
            <a:r>
              <a:rPr lang="nb-NO" dirty="0" smtClean="0">
                <a:solidFill>
                  <a:schemeClr val="tx1"/>
                </a:solidFill>
              </a:rPr>
              <a:t>)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Bra forutsigbarhet (estimater og systemets egenskaper)</a:t>
            </a:r>
          </a:p>
          <a:p>
            <a:pPr lvl="3">
              <a:buFont typeface="Arial" charset="0"/>
              <a:buChar char="•"/>
            </a:pPr>
            <a:r>
              <a:rPr lang="nb-NO" dirty="0" smtClean="0">
                <a:solidFill>
                  <a:schemeClr val="tx1"/>
                </a:solidFill>
              </a:rPr>
              <a:t>Løsningene tåler tidens tann rimelig bra</a:t>
            </a:r>
          </a:p>
          <a:p>
            <a:pPr lvl="3">
              <a:buFont typeface="Arial" charset="0"/>
              <a:buChar char="•"/>
            </a:pPr>
            <a:r>
              <a:rPr lang="nb-NO" dirty="0" err="1" smtClean="0">
                <a:solidFill>
                  <a:schemeClr val="tx1"/>
                </a:solidFill>
              </a:rPr>
              <a:t>Linærre</a:t>
            </a:r>
            <a:r>
              <a:rPr lang="nb-NO" dirty="0" smtClean="0">
                <a:solidFill>
                  <a:schemeClr val="tx1"/>
                </a:solidFill>
              </a:rPr>
              <a:t> forvaltningskostnader</a:t>
            </a:r>
            <a:endParaRPr lang="nb-NO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714348" y="1997838"/>
            <a:ext cx="8143932" cy="17543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nb-NO" b="1" dirty="0" smtClean="0">
                <a:solidFill>
                  <a:schemeClr val="tx1"/>
                </a:solidFill>
              </a:rPr>
              <a:t>Del 1. Valg. Tar vi de riktige valgene?</a:t>
            </a:r>
            <a:endParaRPr lang="nb-NO" dirty="0" smtClean="0">
              <a:solidFill>
                <a:schemeClr val="tx1"/>
              </a:solidFill>
            </a:endParaRPr>
          </a:p>
          <a:p>
            <a:endParaRPr lang="nb-NO" dirty="0" smtClean="0">
              <a:solidFill>
                <a:schemeClr val="tx1"/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r>
              <a:rPr lang="nb-NO" dirty="0" smtClean="0">
                <a:solidFill>
                  <a:schemeClr val="tx1"/>
                </a:solidFill>
              </a:rPr>
              <a:t>Vi begynner med å se på prosessene og resultatene rundt nøkkelbeslutninger for </a:t>
            </a:r>
            <a:r>
              <a:rPr lang="nb-NO" dirty="0" err="1" smtClean="0">
                <a:solidFill>
                  <a:schemeClr val="tx1"/>
                </a:solidFill>
              </a:rPr>
              <a:t>implementasjon</a:t>
            </a:r>
            <a:r>
              <a:rPr lang="nb-NO" dirty="0" smtClean="0">
                <a:solidFill>
                  <a:schemeClr val="tx1"/>
                </a:solidFill>
              </a:rPr>
              <a:t>, hvor vi eksemplifiserer hvor tilfeldig viktige valg faktisk blir tatt. Vi vil også se på hvordan et fokus på </a:t>
            </a:r>
            <a:r>
              <a:rPr lang="nb-NO" dirty="0" err="1" smtClean="0">
                <a:solidFill>
                  <a:schemeClr val="tx1"/>
                </a:solidFill>
              </a:rPr>
              <a:t>teknologi-egenskaper</a:t>
            </a:r>
            <a:r>
              <a:rPr lang="nb-NO" dirty="0" smtClean="0">
                <a:solidFill>
                  <a:schemeClr val="tx1"/>
                </a:solidFill>
              </a:rPr>
              <a:t> kan gi oss et rammeverk for å ta valg som kan gi betydelig større verdi i softwareprosjekter. 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714348" y="2357430"/>
            <a:ext cx="8143932" cy="2031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nb-NO" b="1" dirty="0" smtClean="0">
                <a:solidFill>
                  <a:schemeClr val="tx1"/>
                </a:solidFill>
              </a:rPr>
              <a:t>Hvordan tas valg, egentlig?</a:t>
            </a:r>
            <a:endParaRPr lang="nb-NO" dirty="0" smtClean="0">
              <a:solidFill>
                <a:schemeClr val="tx1"/>
              </a:solidFill>
            </a:endParaRPr>
          </a:p>
          <a:p>
            <a:endParaRPr lang="nb-NO" dirty="0" smtClean="0">
              <a:solidFill>
                <a:schemeClr val="tx1"/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>
              <a:buFont typeface="Arial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Myter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Corporate policies</a:t>
            </a:r>
          </a:p>
          <a:p>
            <a:pPr>
              <a:buFont typeface="Arial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People and processes</a:t>
            </a:r>
          </a:p>
          <a:p>
            <a:pPr>
              <a:buFont typeface="Arial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Valgets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kvaler</a:t>
            </a:r>
            <a:r>
              <a:rPr lang="en-US" dirty="0" smtClean="0">
                <a:solidFill>
                  <a:schemeClr val="tx1"/>
                </a:solidFill>
              </a:rPr>
              <a:t> – for mange </a:t>
            </a:r>
            <a:r>
              <a:rPr lang="en-US" dirty="0" err="1" smtClean="0">
                <a:solidFill>
                  <a:schemeClr val="tx1"/>
                </a:solidFill>
              </a:rPr>
              <a:t>alternativer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462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8800" b="1" baseline="30000" dirty="0" smtClean="0">
                <a:solidFill>
                  <a:srgbClr val="FFFFFF"/>
                </a:solidFill>
              </a:rPr>
              <a:t>There can only be one</a:t>
            </a:r>
            <a:r>
              <a:rPr lang="en-US" sz="8800" b="1" baseline="30000" dirty="0" smtClean="0">
                <a:solidFill>
                  <a:srgbClr val="FFFFFF"/>
                </a:solidFill>
              </a:rPr>
              <a:t>!</a:t>
            </a:r>
            <a:endParaRPr lang="en-US" sz="8800" b="1" baseline="30000" dirty="0">
              <a:solidFill>
                <a:srgbClr val="FFFFFF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36" y="895370"/>
            <a:ext cx="3905250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-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Myter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5786" y="1305342"/>
            <a:ext cx="735811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It is a myth!! - Example: EJB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1997 - superhot! All vendors(-Microsoft), all hotshots </a:t>
            </a:r>
            <a:r>
              <a:rPr lang="en-US" sz="2000" dirty="0" smtClean="0">
                <a:solidFill>
                  <a:schemeClr val="tx1"/>
                </a:solidFill>
              </a:rPr>
              <a:t>super </a:t>
            </a:r>
            <a:r>
              <a:rPr lang="en-US" sz="2000" dirty="0" smtClean="0">
                <a:solidFill>
                  <a:schemeClr val="tx1"/>
                </a:solidFill>
              </a:rPr>
              <a:t>stoked!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1998 -  Pet store. </a:t>
            </a:r>
            <a:r>
              <a:rPr lang="en-US" sz="2000" dirty="0" err="1" smtClean="0">
                <a:solidFill>
                  <a:schemeClr val="tx1"/>
                </a:solidFill>
              </a:rPr>
              <a:t>Statefull</a:t>
            </a:r>
            <a:r>
              <a:rPr lang="en-US" sz="2000" dirty="0" smtClean="0">
                <a:solidFill>
                  <a:schemeClr val="tx1"/>
                </a:solidFill>
              </a:rPr>
              <a:t> FUD. Year of EJB benchmarking.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2000 - Hotshots turn against EJB. No silver bullet (again)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2002 - Year of Spring in early adopters markets (Norway)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2005 - Hotshots turn </a:t>
            </a:r>
            <a:r>
              <a:rPr lang="en-US" sz="2000" dirty="0" err="1" smtClean="0">
                <a:solidFill>
                  <a:schemeClr val="tx1"/>
                </a:solidFill>
              </a:rPr>
              <a:t>agains</a:t>
            </a:r>
            <a:r>
              <a:rPr lang="en-US" sz="2000" dirty="0" smtClean="0">
                <a:solidFill>
                  <a:schemeClr val="tx1"/>
                </a:solidFill>
              </a:rPr>
              <a:t> Spring and Java web </a:t>
            </a:r>
            <a:r>
              <a:rPr lang="en-US" sz="2000" dirty="0" smtClean="0">
                <a:solidFill>
                  <a:schemeClr val="tx1"/>
                </a:solidFill>
              </a:rPr>
              <a:t>development</a:t>
            </a:r>
            <a:r>
              <a:rPr lang="en-US" sz="2000" dirty="0" smtClean="0">
                <a:solidFill>
                  <a:schemeClr val="tx1"/>
                </a:solidFill>
              </a:rPr>
              <a:t>. Look at RAILS!!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2009 - Hotshots turn </a:t>
            </a:r>
            <a:r>
              <a:rPr lang="en-US" sz="2000" dirty="0" err="1" smtClean="0">
                <a:solidFill>
                  <a:schemeClr val="tx1"/>
                </a:solidFill>
              </a:rPr>
              <a:t>agains</a:t>
            </a:r>
            <a:r>
              <a:rPr lang="en-US" sz="2000" dirty="0" smtClean="0">
                <a:solidFill>
                  <a:schemeClr val="tx1"/>
                </a:solidFill>
              </a:rPr>
              <a:t> Rails. Look at </a:t>
            </a:r>
            <a:r>
              <a:rPr lang="en-US" sz="2000" dirty="0" err="1" smtClean="0">
                <a:solidFill>
                  <a:schemeClr val="tx1"/>
                </a:solidFill>
              </a:rPr>
              <a:t>Scala</a:t>
            </a:r>
            <a:r>
              <a:rPr lang="en-US" sz="2000" dirty="0" smtClean="0">
                <a:solidFill>
                  <a:schemeClr val="tx1"/>
                </a:solidFill>
              </a:rPr>
              <a:t> and Lift. </a:t>
            </a:r>
            <a:endParaRPr lang="en-US" sz="2000" dirty="0" smtClean="0">
              <a:solidFill>
                <a:schemeClr val="tx1"/>
              </a:solidFill>
            </a:endParaRP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There are plenty of examples: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</a:t>
            </a:r>
            <a:r>
              <a:rPr lang="en-US" sz="2000" dirty="0" smtClean="0">
                <a:solidFill>
                  <a:schemeClr val="tx1"/>
                </a:solidFill>
              </a:rPr>
              <a:t>RDBMS, Web applications, </a:t>
            </a:r>
            <a:r>
              <a:rPr lang="en-US" sz="2000" dirty="0" err="1" smtClean="0">
                <a:solidFill>
                  <a:schemeClr val="tx1"/>
                </a:solidFill>
              </a:rPr>
              <a:t>.</a:t>
            </a:r>
            <a:r>
              <a:rPr lang="en-US" sz="2000" dirty="0" err="1" smtClean="0">
                <a:solidFill>
                  <a:schemeClr val="tx1"/>
                </a:solidFill>
              </a:rPr>
              <a:t>Net</a:t>
            </a:r>
            <a:r>
              <a:rPr lang="en-US" sz="2000" dirty="0" smtClean="0">
                <a:solidFill>
                  <a:schemeClr val="tx1"/>
                </a:solidFill>
              </a:rPr>
              <a:t>, Windows, REST, 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• </a:t>
            </a:r>
            <a:r>
              <a:rPr lang="en-US" sz="2000" dirty="0" smtClean="0">
                <a:solidFill>
                  <a:schemeClr val="tx1"/>
                </a:solidFill>
              </a:rPr>
              <a:t>SOA </a:t>
            </a:r>
            <a:r>
              <a:rPr lang="en-US" sz="2000" dirty="0" smtClean="0">
                <a:solidFill>
                  <a:schemeClr val="tx1"/>
                </a:solidFill>
              </a:rPr>
              <a:t>and Web </a:t>
            </a:r>
            <a:r>
              <a:rPr lang="en-US" sz="2000" dirty="0" smtClean="0">
                <a:solidFill>
                  <a:schemeClr val="tx1"/>
                </a:solidFill>
              </a:rPr>
              <a:t>Services,, Cloud, [.add your </a:t>
            </a:r>
            <a:r>
              <a:rPr lang="en-US" sz="2000" dirty="0" err="1" smtClean="0">
                <a:solidFill>
                  <a:schemeClr val="tx1"/>
                </a:solidFill>
              </a:rPr>
              <a:t>favourite</a:t>
            </a:r>
            <a:r>
              <a:rPr lang="en-US" sz="2000" dirty="0" smtClean="0">
                <a:solidFill>
                  <a:schemeClr val="tx1"/>
                </a:solidFill>
              </a:rPr>
              <a:t> one..]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86028" y="3786190"/>
            <a:ext cx="1604199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-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Myter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5786" y="1305342"/>
            <a:ext cx="792961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Things to remember: </a:t>
            </a:r>
            <a:endParaRPr lang="en-US" sz="3200" dirty="0" smtClean="0">
              <a:solidFill>
                <a:schemeClr val="tx1"/>
              </a:solidFill>
            </a:endParaRPr>
          </a:p>
          <a:p>
            <a:endParaRPr lang="en-US" sz="3200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• </a:t>
            </a:r>
            <a:r>
              <a:rPr lang="en-US" sz="2800" dirty="0" smtClean="0">
                <a:solidFill>
                  <a:schemeClr val="tx1"/>
                </a:solidFill>
              </a:rPr>
              <a:t>There is no silver bullet.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• Use the brain, Developer!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• Fun to follow the hype - but it does not </a:t>
            </a:r>
            <a:r>
              <a:rPr lang="en-US" sz="2800" dirty="0" smtClean="0">
                <a:solidFill>
                  <a:schemeClr val="tx1"/>
                </a:solidFill>
              </a:rPr>
              <a:t>create </a:t>
            </a:r>
            <a:r>
              <a:rPr lang="en-US" sz="2800" dirty="0" smtClean="0">
                <a:solidFill>
                  <a:schemeClr val="tx1"/>
                </a:solidFill>
              </a:rPr>
              <a:t>value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• Different problems </a:t>
            </a:r>
            <a:r>
              <a:rPr lang="en-US" sz="2800" dirty="0" smtClean="0">
                <a:solidFill>
                  <a:schemeClr val="tx1"/>
                </a:solidFill>
              </a:rPr>
              <a:t>require different solutions </a:t>
            </a:r>
            <a:br>
              <a:rPr lang="en-US" sz="2800" dirty="0" smtClean="0">
                <a:solidFill>
                  <a:schemeClr val="tx1"/>
                </a:solidFill>
              </a:rPr>
            </a:br>
            <a:r>
              <a:rPr lang="en-US" sz="2800" dirty="0" smtClean="0">
                <a:solidFill>
                  <a:schemeClr val="tx1"/>
                </a:solidFill>
              </a:rPr>
              <a:t>(</a:t>
            </a:r>
            <a:r>
              <a:rPr lang="en-US" sz="2800" dirty="0" smtClean="0">
                <a:solidFill>
                  <a:schemeClr val="tx1"/>
                </a:solidFill>
              </a:rPr>
              <a:t>like in the rest of the world)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smtClean="0">
                <a:solidFill>
                  <a:srgbClr val="FFFFFF"/>
                </a:solidFill>
              </a:rPr>
              <a:t>– Corporate Policies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662" y="1214422"/>
            <a:ext cx="707236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solidFill>
                  <a:schemeClr val="tx1"/>
                </a:solidFill>
              </a:rPr>
              <a:t>Thou </a:t>
            </a:r>
            <a:r>
              <a:rPr lang="en-US" b="1" i="1" dirty="0" err="1" smtClean="0">
                <a:solidFill>
                  <a:schemeClr val="tx1"/>
                </a:solidFill>
              </a:rPr>
              <a:t>shalt</a:t>
            </a:r>
            <a:r>
              <a:rPr lang="en-US" b="1" i="1" dirty="0" smtClean="0">
                <a:solidFill>
                  <a:schemeClr val="tx1"/>
                </a:solidFill>
              </a:rPr>
              <a:t> only use Java/J2EE/.NET/LAMP</a:t>
            </a:r>
            <a:r>
              <a:rPr lang="en-US" b="1" i="1" dirty="0" smtClean="0">
                <a:solidFill>
                  <a:schemeClr val="tx1"/>
                </a:solidFill>
              </a:rPr>
              <a:t>[...]!</a:t>
            </a:r>
          </a:p>
          <a:p>
            <a:endParaRPr lang="en-US" b="1" i="1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• Reduces the value created from </a:t>
            </a:r>
            <a:r>
              <a:rPr lang="en-US" dirty="0" smtClean="0">
                <a:solidFill>
                  <a:schemeClr val="tx1"/>
                </a:solidFill>
              </a:rPr>
              <a:t>technology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•  Increases the startup and training costs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You create a </a:t>
            </a:r>
            <a:r>
              <a:rPr lang="en-US" b="1" dirty="0" smtClean="0">
                <a:solidFill>
                  <a:schemeClr val="tx1"/>
                </a:solidFill>
              </a:rPr>
              <a:t>VERY big hammer </a:t>
            </a:r>
            <a:r>
              <a:rPr lang="en-US" dirty="0" smtClean="0">
                <a:solidFill>
                  <a:schemeClr val="tx1"/>
                </a:solidFill>
              </a:rPr>
              <a:t>that must </a:t>
            </a:r>
            <a:r>
              <a:rPr lang="en-US" dirty="0" smtClean="0">
                <a:solidFill>
                  <a:schemeClr val="tx1"/>
                </a:solidFill>
              </a:rPr>
              <a:t>be </a:t>
            </a:r>
            <a:r>
              <a:rPr lang="en-US" dirty="0" smtClean="0">
                <a:solidFill>
                  <a:schemeClr val="tx1"/>
                </a:solidFill>
              </a:rPr>
              <a:t>used for ALL tasks: hitting nails and </a:t>
            </a:r>
            <a:r>
              <a:rPr lang="en-US" dirty="0" smtClean="0">
                <a:solidFill>
                  <a:schemeClr val="tx1"/>
                </a:solidFill>
              </a:rPr>
              <a:t>changing </a:t>
            </a:r>
            <a:r>
              <a:rPr lang="en-US" dirty="0" err="1" smtClean="0">
                <a:solidFill>
                  <a:schemeClr val="tx1"/>
                </a:solidFill>
              </a:rPr>
              <a:t>lightbulbs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b="1" i="1" dirty="0" smtClean="0">
                <a:solidFill>
                  <a:schemeClr val="tx1"/>
                </a:solidFill>
              </a:rPr>
              <a:t>Special considerations regarding training costs.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Company policies increase them!  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Using inadequate tools create solutions that </a:t>
            </a:r>
            <a:r>
              <a:rPr lang="en-US" dirty="0" smtClean="0">
                <a:solidFill>
                  <a:schemeClr val="tx1"/>
                </a:solidFill>
              </a:rPr>
              <a:t>are </a:t>
            </a:r>
            <a:r>
              <a:rPr lang="en-US" dirty="0" smtClean="0">
                <a:solidFill>
                  <a:schemeClr val="tx1"/>
                </a:solidFill>
              </a:rPr>
              <a:t>hard to understand.  Training debt!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When problems seems hard to solve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  • </a:t>
            </a:r>
            <a:r>
              <a:rPr lang="en-US" b="1" dirty="0" smtClean="0">
                <a:solidFill>
                  <a:schemeClr val="tx1"/>
                </a:solidFill>
              </a:rPr>
              <a:t>Stop and think: Am I using the right tools </a:t>
            </a:r>
            <a:r>
              <a:rPr lang="en-US" b="1" dirty="0" smtClean="0">
                <a:solidFill>
                  <a:schemeClr val="tx1"/>
                </a:solidFill>
              </a:rPr>
              <a:t>for </a:t>
            </a:r>
            <a:r>
              <a:rPr lang="en-US" b="1" dirty="0" smtClean="0">
                <a:solidFill>
                  <a:schemeClr val="tx1"/>
                </a:solidFill>
              </a:rPr>
              <a:t>the job</a:t>
            </a:r>
            <a:r>
              <a:rPr lang="en-US" b="1" dirty="0" smtClean="0">
                <a:solidFill>
                  <a:schemeClr val="tx1"/>
                </a:solidFill>
              </a:rPr>
              <a:t>?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Special considerations regarding operations.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• </a:t>
            </a:r>
            <a:r>
              <a:rPr lang="en-US" dirty="0" smtClean="0">
                <a:solidFill>
                  <a:schemeClr val="tx1"/>
                </a:solidFill>
              </a:rPr>
              <a:t>Is it a good idea to be dictated by your </a:t>
            </a:r>
            <a:r>
              <a:rPr lang="en-US" dirty="0" smtClean="0">
                <a:solidFill>
                  <a:schemeClr val="tx1"/>
                </a:solidFill>
              </a:rPr>
              <a:t>operator </a:t>
            </a:r>
            <a:r>
              <a:rPr lang="en-US" dirty="0" smtClean="0">
                <a:solidFill>
                  <a:schemeClr val="tx1"/>
                </a:solidFill>
              </a:rPr>
              <a:t>when it comes to </a:t>
            </a:r>
            <a:r>
              <a:rPr lang="en-US" dirty="0" err="1" smtClean="0">
                <a:solidFill>
                  <a:schemeClr val="tx1"/>
                </a:solidFill>
              </a:rPr>
              <a:t>ﬁnding</a:t>
            </a:r>
            <a:r>
              <a:rPr lang="en-US" dirty="0" smtClean="0">
                <a:solidFill>
                  <a:schemeClr val="tx1"/>
                </a:solidFill>
              </a:rPr>
              <a:t> the right </a:t>
            </a:r>
            <a:r>
              <a:rPr lang="en-US" dirty="0" smtClean="0">
                <a:solidFill>
                  <a:schemeClr val="tx1"/>
                </a:solidFill>
              </a:rPr>
              <a:t>tools </a:t>
            </a:r>
            <a:r>
              <a:rPr lang="en-US" dirty="0" smtClean="0">
                <a:solidFill>
                  <a:schemeClr val="tx1"/>
                </a:solidFill>
              </a:rPr>
              <a:t>for your job.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-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Psykologi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4348" y="1571612"/>
            <a:ext cx="735811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Fear of making wrong decisions: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Sartre: "Med </a:t>
            </a:r>
            <a:r>
              <a:rPr lang="en-US" sz="2000" dirty="0" err="1" smtClean="0">
                <a:solidFill>
                  <a:schemeClr val="tx1"/>
                </a:solidFill>
              </a:rPr>
              <a:t>valg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følger</a:t>
            </a:r>
            <a:r>
              <a:rPr lang="en-US" sz="2000" dirty="0" smtClean="0">
                <a:solidFill>
                  <a:schemeClr val="tx1"/>
                </a:solidFill>
              </a:rPr>
              <a:t> angst"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"Nobody has ever been </a:t>
            </a:r>
            <a:r>
              <a:rPr lang="en-US" sz="2000" dirty="0" err="1" smtClean="0">
                <a:solidFill>
                  <a:schemeClr val="tx1"/>
                </a:solidFill>
              </a:rPr>
              <a:t>ﬁred</a:t>
            </a:r>
            <a:r>
              <a:rPr lang="en-US" sz="2000" dirty="0" smtClean="0">
                <a:solidFill>
                  <a:schemeClr val="tx1"/>
                </a:solidFill>
              </a:rPr>
              <a:t> for </a:t>
            </a:r>
            <a:r>
              <a:rPr lang="en-US" sz="2000" dirty="0" smtClean="0">
                <a:solidFill>
                  <a:schemeClr val="tx1"/>
                </a:solidFill>
              </a:rPr>
              <a:t>choosing </a:t>
            </a:r>
            <a:r>
              <a:rPr lang="en-US" sz="2000" dirty="0" smtClean="0">
                <a:solidFill>
                  <a:schemeClr val="tx1"/>
                </a:solidFill>
              </a:rPr>
              <a:t>IBM"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"You can´t go wrong with </a:t>
            </a:r>
            <a:r>
              <a:rPr lang="en-US" sz="2000" dirty="0" smtClean="0">
                <a:solidFill>
                  <a:schemeClr val="tx1"/>
                </a:solidFill>
              </a:rPr>
              <a:t>beige“</a:t>
            </a: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b="1" dirty="0" smtClean="0">
                <a:solidFill>
                  <a:schemeClr val="tx1"/>
                </a:solidFill>
              </a:rPr>
              <a:t>Polarization  </a:t>
            </a:r>
            <a:endParaRPr lang="en-US" sz="2000" b="1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• Lightweight </a:t>
            </a:r>
            <a:r>
              <a:rPr lang="en-US" sz="2000" dirty="0" err="1" smtClean="0">
                <a:solidFill>
                  <a:schemeClr val="tx1"/>
                </a:solidFill>
              </a:rPr>
              <a:t>vs</a:t>
            </a:r>
            <a:r>
              <a:rPr lang="en-US" sz="2000" dirty="0" smtClean="0">
                <a:solidFill>
                  <a:schemeClr val="tx1"/>
                </a:solidFill>
              </a:rPr>
              <a:t> Suites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Linux </a:t>
            </a:r>
            <a:r>
              <a:rPr lang="en-US" sz="2000" dirty="0" err="1" smtClean="0">
                <a:solidFill>
                  <a:schemeClr val="tx1"/>
                </a:solidFill>
              </a:rPr>
              <a:t>vs</a:t>
            </a:r>
            <a:r>
              <a:rPr lang="en-US" sz="2000" dirty="0" smtClean="0">
                <a:solidFill>
                  <a:schemeClr val="tx1"/>
                </a:solidFill>
              </a:rPr>
              <a:t> Microsoft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Remember: There can be only one!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A religion war!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Easier to get attention when crying out loud.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Most effective way to create a revolution.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For mange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alternativer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472" y="1428736"/>
            <a:ext cx="77153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RDBMS     </a:t>
            </a:r>
            <a:r>
              <a:rPr lang="en-US" sz="2800" dirty="0" err="1" smtClean="0">
                <a:solidFill>
                  <a:schemeClr val="tx1"/>
                </a:solidFill>
              </a:rPr>
              <a:t>Soa</a:t>
            </a:r>
            <a:r>
              <a:rPr lang="en-US" sz="2800" dirty="0" smtClean="0">
                <a:solidFill>
                  <a:schemeClr val="tx1"/>
                </a:solidFill>
              </a:rPr>
              <a:t>   </a:t>
            </a:r>
            <a:r>
              <a:rPr lang="en-US" sz="2800" dirty="0" err="1" smtClean="0">
                <a:solidFill>
                  <a:schemeClr val="tx1"/>
                </a:solidFill>
              </a:rPr>
              <a:t>WebLogic</a:t>
            </a:r>
            <a:r>
              <a:rPr lang="en-US" sz="2800" dirty="0" smtClean="0">
                <a:solidFill>
                  <a:schemeClr val="tx1"/>
                </a:solidFill>
              </a:rPr>
              <a:t>        EJB          ORM         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JPA     JDO   JINI Fat clients 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mobile clients     </a:t>
            </a:r>
            <a:r>
              <a:rPr lang="en-US" sz="2800" dirty="0" err="1" smtClean="0">
                <a:solidFill>
                  <a:schemeClr val="tx1"/>
                </a:solidFill>
              </a:rPr>
              <a:t>TopLink</a:t>
            </a:r>
            <a:r>
              <a:rPr lang="en-US" sz="2800" dirty="0" smtClean="0">
                <a:solidFill>
                  <a:schemeClr val="tx1"/>
                </a:solidFill>
              </a:rPr>
              <a:t>   SOA EJB Spring ORM JPA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JDO JINI      distributed systems       ODBMS      MVC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chubby/smart thin clients  </a:t>
            </a:r>
            <a:r>
              <a:rPr lang="en-US" sz="2800" dirty="0" err="1" smtClean="0">
                <a:solidFill>
                  <a:schemeClr val="tx1"/>
                </a:solidFill>
              </a:rPr>
              <a:t>clients</a:t>
            </a:r>
            <a:r>
              <a:rPr lang="en-US" sz="2800" dirty="0" smtClean="0">
                <a:solidFill>
                  <a:schemeClr val="tx1"/>
                </a:solidFill>
              </a:rPr>
              <a:t>  OO SOP     GRAILS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ESB AOP  CMS REST  </a:t>
            </a:r>
            <a:r>
              <a:rPr lang="en-US" sz="2800" dirty="0" err="1" smtClean="0">
                <a:solidFill>
                  <a:schemeClr val="tx1"/>
                </a:solidFill>
              </a:rPr>
              <a:t>WebServices</a:t>
            </a:r>
            <a:r>
              <a:rPr lang="en-US" sz="2800" dirty="0" smtClean="0">
                <a:solidFill>
                  <a:schemeClr val="tx1"/>
                </a:solidFill>
              </a:rPr>
              <a:t>  Mule </a:t>
            </a:r>
            <a:r>
              <a:rPr lang="en-US" sz="2800" dirty="0" err="1" smtClean="0">
                <a:solidFill>
                  <a:schemeClr val="tx1"/>
                </a:solidFill>
              </a:rPr>
              <a:t>Glassﬁsh</a:t>
            </a:r>
            <a:r>
              <a:rPr lang="en-US" sz="2800" dirty="0" smtClean="0">
                <a:solidFill>
                  <a:schemeClr val="tx1"/>
                </a:solidFill>
              </a:rPr>
              <a:t>, Jetty,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Tomcat      Hibernate Oracle DB </a:t>
            </a:r>
          </a:p>
          <a:p>
            <a:r>
              <a:rPr lang="en-US" sz="2800" dirty="0" err="1" smtClean="0">
                <a:solidFill>
                  <a:schemeClr val="tx1"/>
                </a:solidFill>
              </a:rPr>
              <a:t>MySQL</a:t>
            </a:r>
            <a:r>
              <a:rPr lang="en-US" sz="2800" dirty="0" smtClean="0">
                <a:solidFill>
                  <a:schemeClr val="tx1"/>
                </a:solidFill>
              </a:rPr>
              <a:t> Derby      RAILS </a:t>
            </a:r>
            <a:r>
              <a:rPr lang="en-US" sz="2800" dirty="0" err="1" smtClean="0">
                <a:solidFill>
                  <a:schemeClr val="tx1"/>
                </a:solidFill>
              </a:rPr>
              <a:t>JUnit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TestNG</a:t>
            </a:r>
            <a:r>
              <a:rPr lang="en-US" sz="2800" dirty="0" smtClean="0">
                <a:solidFill>
                  <a:schemeClr val="tx1"/>
                </a:solidFill>
              </a:rPr>
              <a:t>  AOP  </a:t>
            </a:r>
            <a:r>
              <a:rPr lang="en-US" sz="2800" dirty="0" err="1" smtClean="0">
                <a:solidFill>
                  <a:schemeClr val="tx1"/>
                </a:solidFill>
              </a:rPr>
              <a:t>XFire</a:t>
            </a:r>
            <a:r>
              <a:rPr lang="en-US" sz="2800" dirty="0" smtClean="0">
                <a:solidFill>
                  <a:schemeClr val="tx1"/>
                </a:solidFill>
              </a:rPr>
              <a:t> Axis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Spring WS Client server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For mange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alternativer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472" y="1428736"/>
            <a:ext cx="77153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RDBMS     </a:t>
            </a:r>
            <a:r>
              <a:rPr lang="en-US" sz="2800" dirty="0" err="1" smtClean="0">
                <a:solidFill>
                  <a:schemeClr val="tx1"/>
                </a:solidFill>
              </a:rPr>
              <a:t>Soa</a:t>
            </a:r>
            <a:r>
              <a:rPr lang="en-US" sz="2800" dirty="0" smtClean="0">
                <a:solidFill>
                  <a:schemeClr val="tx1"/>
                </a:solidFill>
              </a:rPr>
              <a:t>   </a:t>
            </a:r>
            <a:r>
              <a:rPr lang="en-US" sz="2800" dirty="0" err="1" smtClean="0">
                <a:solidFill>
                  <a:schemeClr val="tx1"/>
                </a:solidFill>
              </a:rPr>
              <a:t>WebLogic</a:t>
            </a:r>
            <a:r>
              <a:rPr lang="en-US" sz="2800" dirty="0" smtClean="0">
                <a:solidFill>
                  <a:schemeClr val="tx1"/>
                </a:solidFill>
              </a:rPr>
              <a:t>        EJB          ORM         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JPA     JDO   JINI Fat clients 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mobile clients     </a:t>
            </a:r>
            <a:r>
              <a:rPr lang="en-US" sz="2800" dirty="0" err="1" smtClean="0">
                <a:solidFill>
                  <a:schemeClr val="tx1"/>
                </a:solidFill>
              </a:rPr>
              <a:t>TopLink</a:t>
            </a:r>
            <a:r>
              <a:rPr lang="en-US" sz="2800" dirty="0" smtClean="0">
                <a:solidFill>
                  <a:schemeClr val="tx1"/>
                </a:solidFill>
              </a:rPr>
              <a:t>   SOA EJB Spring ORM JPA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JDO JINI      distributed systems       ODBMS      MVC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chubby/smart thin clients  </a:t>
            </a:r>
            <a:r>
              <a:rPr lang="en-US" sz="2800" dirty="0" err="1" smtClean="0">
                <a:solidFill>
                  <a:schemeClr val="tx1"/>
                </a:solidFill>
              </a:rPr>
              <a:t>clients</a:t>
            </a:r>
            <a:r>
              <a:rPr lang="en-US" sz="2800" dirty="0" smtClean="0">
                <a:solidFill>
                  <a:schemeClr val="tx1"/>
                </a:solidFill>
              </a:rPr>
              <a:t>  OO SOP     GRAILS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ESB AOP  CMS REST  </a:t>
            </a:r>
            <a:r>
              <a:rPr lang="en-US" sz="2800" dirty="0" err="1" smtClean="0">
                <a:solidFill>
                  <a:schemeClr val="tx1"/>
                </a:solidFill>
              </a:rPr>
              <a:t>WebServices</a:t>
            </a:r>
            <a:r>
              <a:rPr lang="en-US" sz="2800" dirty="0" smtClean="0">
                <a:solidFill>
                  <a:schemeClr val="tx1"/>
                </a:solidFill>
              </a:rPr>
              <a:t>  Mule </a:t>
            </a:r>
            <a:r>
              <a:rPr lang="en-US" sz="2800" dirty="0" err="1" smtClean="0">
                <a:solidFill>
                  <a:schemeClr val="tx1"/>
                </a:solidFill>
              </a:rPr>
              <a:t>Glassﬁsh</a:t>
            </a:r>
            <a:r>
              <a:rPr lang="en-US" sz="2800" dirty="0" smtClean="0">
                <a:solidFill>
                  <a:schemeClr val="tx1"/>
                </a:solidFill>
              </a:rPr>
              <a:t>, Jetty,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Tomcat      Hibernate Oracle DB </a:t>
            </a:r>
          </a:p>
          <a:p>
            <a:r>
              <a:rPr lang="en-US" sz="2800" dirty="0" err="1" smtClean="0">
                <a:solidFill>
                  <a:schemeClr val="tx1"/>
                </a:solidFill>
              </a:rPr>
              <a:t>MySQL</a:t>
            </a:r>
            <a:r>
              <a:rPr lang="en-US" sz="2800" dirty="0" smtClean="0">
                <a:solidFill>
                  <a:schemeClr val="tx1"/>
                </a:solidFill>
              </a:rPr>
              <a:t> Derby      RAILS </a:t>
            </a:r>
            <a:r>
              <a:rPr lang="en-US" sz="2800" dirty="0" err="1" smtClean="0">
                <a:solidFill>
                  <a:schemeClr val="tx1"/>
                </a:solidFill>
              </a:rPr>
              <a:t>JUnit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TestNG</a:t>
            </a:r>
            <a:r>
              <a:rPr lang="en-US" sz="2800" dirty="0" smtClean="0">
                <a:solidFill>
                  <a:schemeClr val="tx1"/>
                </a:solidFill>
              </a:rPr>
              <a:t>  AOP  </a:t>
            </a:r>
            <a:r>
              <a:rPr lang="en-US" sz="2800" dirty="0" err="1" smtClean="0">
                <a:solidFill>
                  <a:schemeClr val="tx1"/>
                </a:solidFill>
              </a:rPr>
              <a:t>XFire</a:t>
            </a:r>
            <a:r>
              <a:rPr lang="en-US" sz="2800" dirty="0" smtClean="0">
                <a:solidFill>
                  <a:schemeClr val="tx1"/>
                </a:solidFill>
              </a:rPr>
              <a:t> Axis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Spring WS Client server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158" y="1142984"/>
            <a:ext cx="807249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JDO </a:t>
            </a:r>
            <a:r>
              <a:rPr lang="en-US" sz="2800" dirty="0" smtClean="0">
                <a:solidFill>
                  <a:schemeClr val="tx1"/>
                </a:solidFill>
              </a:rPr>
              <a:t>JINI      distributed systems       ODBMS      MVC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chubby/smart thin clients  </a:t>
            </a:r>
            <a:r>
              <a:rPr lang="en-US" sz="2800" dirty="0" err="1" smtClean="0">
                <a:solidFill>
                  <a:schemeClr val="tx1"/>
                </a:solidFill>
              </a:rPr>
              <a:t>clients</a:t>
            </a:r>
            <a:r>
              <a:rPr lang="en-US" sz="2800" dirty="0" smtClean="0">
                <a:solidFill>
                  <a:schemeClr val="tx1"/>
                </a:solidFill>
              </a:rPr>
              <a:t>  OO SOP     GRAILS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ESB AOP  CMS REST  </a:t>
            </a:r>
            <a:r>
              <a:rPr lang="en-US" sz="2800" dirty="0" err="1" smtClean="0">
                <a:solidFill>
                  <a:schemeClr val="tx1"/>
                </a:solidFill>
              </a:rPr>
              <a:t>WebServices</a:t>
            </a:r>
            <a:r>
              <a:rPr lang="en-US" sz="2800" dirty="0" smtClean="0">
                <a:solidFill>
                  <a:schemeClr val="tx1"/>
                </a:solidFill>
              </a:rPr>
              <a:t>  Mule </a:t>
            </a:r>
            <a:r>
              <a:rPr lang="en-US" sz="2800" dirty="0" err="1" smtClean="0">
                <a:solidFill>
                  <a:schemeClr val="tx1"/>
                </a:solidFill>
              </a:rPr>
              <a:t>Glassﬁsh</a:t>
            </a:r>
            <a:r>
              <a:rPr lang="en-US" sz="2800" dirty="0" smtClean="0">
                <a:solidFill>
                  <a:schemeClr val="tx1"/>
                </a:solidFill>
              </a:rPr>
              <a:t>, Jetty,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Tomcat      Hibernate Oracle DB </a:t>
            </a:r>
          </a:p>
          <a:p>
            <a:r>
              <a:rPr lang="en-US" sz="2800" dirty="0" err="1" smtClean="0">
                <a:solidFill>
                  <a:schemeClr val="tx1"/>
                </a:solidFill>
              </a:rPr>
              <a:t>MySQL</a:t>
            </a:r>
            <a:r>
              <a:rPr lang="en-US" sz="2800" dirty="0" smtClean="0">
                <a:solidFill>
                  <a:schemeClr val="tx1"/>
                </a:solidFill>
              </a:rPr>
              <a:t> Derby      RAILS </a:t>
            </a:r>
            <a:r>
              <a:rPr lang="en-US" sz="2800" dirty="0" err="1" smtClean="0">
                <a:solidFill>
                  <a:schemeClr val="tx1"/>
                </a:solidFill>
              </a:rPr>
              <a:t>JUnit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</a:rPr>
              <a:t>TestNG</a:t>
            </a:r>
            <a:r>
              <a:rPr lang="en-US" sz="2800" dirty="0" smtClean="0">
                <a:solidFill>
                  <a:schemeClr val="tx1"/>
                </a:solidFill>
              </a:rPr>
              <a:t>  AOP  </a:t>
            </a:r>
            <a:r>
              <a:rPr lang="en-US" sz="2800" dirty="0" err="1" smtClean="0">
                <a:solidFill>
                  <a:schemeClr val="tx1"/>
                </a:solidFill>
              </a:rPr>
              <a:t>XFire</a:t>
            </a:r>
            <a:r>
              <a:rPr lang="en-US" sz="2800" dirty="0" smtClean="0">
                <a:solidFill>
                  <a:schemeClr val="tx1"/>
                </a:solidFill>
              </a:rPr>
              <a:t> Axis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RDBMS     </a:t>
            </a:r>
            <a:r>
              <a:rPr lang="en-US" sz="2800" dirty="0" err="1" smtClean="0">
                <a:solidFill>
                  <a:schemeClr val="tx1"/>
                </a:solidFill>
              </a:rPr>
              <a:t>Soa</a:t>
            </a:r>
            <a:r>
              <a:rPr lang="en-US" sz="2800" dirty="0" smtClean="0">
                <a:solidFill>
                  <a:schemeClr val="tx1"/>
                </a:solidFill>
              </a:rPr>
              <a:t>   </a:t>
            </a:r>
            <a:r>
              <a:rPr lang="en-US" sz="2800" dirty="0" err="1" smtClean="0">
                <a:solidFill>
                  <a:schemeClr val="tx1"/>
                </a:solidFill>
              </a:rPr>
              <a:t>WebLogic</a:t>
            </a:r>
            <a:r>
              <a:rPr lang="en-US" sz="2800" dirty="0" smtClean="0">
                <a:solidFill>
                  <a:schemeClr val="tx1"/>
                </a:solidFill>
              </a:rPr>
              <a:t>        EJB          ORM         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JPA     JDO   JINI Fat clients  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mobile clients     </a:t>
            </a:r>
            <a:r>
              <a:rPr lang="en-US" sz="2800" dirty="0" err="1" smtClean="0">
                <a:solidFill>
                  <a:schemeClr val="tx1"/>
                </a:solidFill>
              </a:rPr>
              <a:t>TopLink</a:t>
            </a:r>
            <a:r>
              <a:rPr lang="en-US" sz="2800" dirty="0" smtClean="0">
                <a:solidFill>
                  <a:schemeClr val="tx1"/>
                </a:solidFill>
              </a:rPr>
              <a:t>   SOA EJB Spring ORM JPA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Spring </a:t>
            </a:r>
            <a:r>
              <a:rPr lang="en-US" sz="2800" dirty="0" smtClean="0">
                <a:solidFill>
                  <a:schemeClr val="tx1"/>
                </a:solidFill>
              </a:rPr>
              <a:t>WS Client server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</a:t>
            </a:r>
            <a:r>
              <a:rPr lang="en-US" sz="3300" baseline="30000" dirty="0" smtClean="0">
                <a:solidFill>
                  <a:srgbClr val="FFFFFF"/>
                </a:solidFill>
              </a:rPr>
              <a:t> et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..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2910" y="1255361"/>
            <a:ext cx="800105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tx1"/>
                </a:solidFill>
              </a:rPr>
              <a:t>Oppgave</a:t>
            </a:r>
            <a:r>
              <a:rPr lang="en-US" sz="2400" b="1" dirty="0" smtClean="0">
                <a:solidFill>
                  <a:schemeClr val="tx1"/>
                </a:solidFill>
              </a:rPr>
              <a:t>: </a:t>
            </a:r>
            <a:r>
              <a:rPr lang="en-US" sz="2400" b="1" dirty="0" err="1" smtClean="0">
                <a:solidFill>
                  <a:schemeClr val="tx1"/>
                </a:solidFill>
              </a:rPr>
              <a:t>Tilgjengeliggjøre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informasjon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på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webben</a:t>
            </a:r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b="1" dirty="0" err="1" smtClean="0">
                <a:solidFill>
                  <a:schemeClr val="tx1"/>
                </a:solidFill>
              </a:rPr>
              <a:t>Typiske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alternativer</a:t>
            </a:r>
            <a:r>
              <a:rPr lang="en-US" sz="2400" dirty="0" smtClean="0">
                <a:solidFill>
                  <a:schemeClr val="tx1"/>
                </a:solidFill>
              </a:rPr>
              <a:t>:  </a:t>
            </a:r>
          </a:p>
          <a:p>
            <a:r>
              <a:rPr lang="en-US" sz="2000" dirty="0" err="1" smtClean="0">
                <a:solidFill>
                  <a:schemeClr val="tx1"/>
                </a:solidFill>
              </a:rPr>
              <a:t>OpenCMS</a:t>
            </a:r>
            <a:r>
              <a:rPr lang="en-US" sz="2000" dirty="0" smtClean="0">
                <a:solidFill>
                  <a:schemeClr val="tx1"/>
                </a:solidFill>
              </a:rPr>
              <a:t>, Portal frameworks, Wikis, </a:t>
            </a:r>
            <a:r>
              <a:rPr lang="en-US" sz="2000" dirty="0" smtClean="0">
                <a:solidFill>
                  <a:schemeClr val="tx1"/>
                </a:solidFill>
              </a:rPr>
              <a:t>File-based</a:t>
            </a:r>
            <a:r>
              <a:rPr lang="en-US" sz="2000" dirty="0" smtClean="0">
                <a:solidFill>
                  <a:schemeClr val="tx1"/>
                </a:solidFill>
              </a:rPr>
              <a:t>, Web Publishing systems, Document Management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systems, Collaboration Systems, </a:t>
            </a:r>
            <a:r>
              <a:rPr lang="en-US" sz="2000" dirty="0" err="1" smtClean="0">
                <a:solidFill>
                  <a:schemeClr val="tx1"/>
                </a:solidFill>
              </a:rPr>
              <a:t>EzPublish</a:t>
            </a:r>
            <a:r>
              <a:rPr lang="en-US" sz="2000" dirty="0" smtClean="0">
                <a:solidFill>
                  <a:schemeClr val="tx1"/>
                </a:solidFill>
              </a:rPr>
              <a:t>, SharePoint, </a:t>
            </a:r>
          </a:p>
          <a:p>
            <a:r>
              <a:rPr lang="en-US" sz="2000" dirty="0" err="1" smtClean="0">
                <a:solidFill>
                  <a:schemeClr val="tx1"/>
                </a:solidFill>
              </a:rPr>
              <a:t>MediaWiki</a:t>
            </a:r>
            <a:r>
              <a:rPr lang="en-US" sz="2000" dirty="0" smtClean="0">
                <a:solidFill>
                  <a:schemeClr val="tx1"/>
                </a:solidFill>
              </a:rPr>
              <a:t>, Homegrown, Alfresco, [...] : 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Vi </a:t>
            </a:r>
            <a:r>
              <a:rPr lang="en-US" sz="2400" dirty="0" err="1" smtClean="0">
                <a:solidFill>
                  <a:schemeClr val="tx1"/>
                </a:solidFill>
              </a:rPr>
              <a:t>sammenligner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epler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og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bananer</a:t>
            </a:r>
            <a:r>
              <a:rPr lang="en-US" sz="2400" dirty="0" smtClean="0">
                <a:solidFill>
                  <a:schemeClr val="tx1"/>
                </a:solidFill>
              </a:rPr>
              <a:t>.. </a:t>
            </a:r>
            <a:r>
              <a:rPr lang="en-US" sz="2400" dirty="0" err="1" smtClean="0">
                <a:solidFill>
                  <a:schemeClr val="tx1"/>
                </a:solidFill>
              </a:rPr>
              <a:t>og</a:t>
            </a:r>
            <a:r>
              <a:rPr lang="en-US" sz="2400" dirty="0" smtClean="0">
                <a:solidFill>
                  <a:schemeClr val="tx1"/>
                </a:solidFill>
              </a:rPr>
              <a:t> ender </a:t>
            </a:r>
            <a:r>
              <a:rPr lang="en-US" sz="2400" dirty="0" err="1" smtClean="0">
                <a:solidFill>
                  <a:schemeClr val="tx1"/>
                </a:solidFill>
              </a:rPr>
              <a:t>opp</a:t>
            </a:r>
            <a:r>
              <a:rPr lang="en-US" sz="2400" dirty="0" smtClean="0">
                <a:solidFill>
                  <a:schemeClr val="tx1"/>
                </a:solidFill>
              </a:rPr>
              <a:t> med å </a:t>
            </a:r>
            <a:r>
              <a:rPr lang="en-US" sz="2400" dirty="0" err="1" smtClean="0">
                <a:solidFill>
                  <a:schemeClr val="tx1"/>
                </a:solidFill>
              </a:rPr>
              <a:t>velge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enten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    • </a:t>
            </a:r>
            <a:r>
              <a:rPr lang="en-US" sz="2000" dirty="0" err="1" smtClean="0">
                <a:solidFill>
                  <a:schemeClr val="tx1"/>
                </a:solidFill>
              </a:rPr>
              <a:t>alternativet</a:t>
            </a:r>
            <a:r>
              <a:rPr lang="en-US" sz="2000" dirty="0" smtClean="0">
                <a:solidFill>
                  <a:schemeClr val="tx1"/>
                </a:solidFill>
              </a:rPr>
              <a:t> med </a:t>
            </a:r>
            <a:r>
              <a:rPr lang="en-US" sz="2000" dirty="0" err="1" smtClean="0">
                <a:solidFill>
                  <a:schemeClr val="tx1"/>
                </a:solidFill>
              </a:rPr>
              <a:t>flest</a:t>
            </a:r>
            <a:r>
              <a:rPr lang="en-US" sz="2000" dirty="0" smtClean="0">
                <a:solidFill>
                  <a:schemeClr val="tx1"/>
                </a:solidFill>
              </a:rPr>
              <a:t> features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    • </a:t>
            </a:r>
            <a:r>
              <a:rPr lang="en-US" sz="2000" dirty="0" err="1" smtClean="0">
                <a:solidFill>
                  <a:schemeClr val="tx1"/>
                </a:solidFill>
              </a:rPr>
              <a:t>eller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produktet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fra</a:t>
            </a:r>
            <a:r>
              <a:rPr lang="en-US" sz="2000" dirty="0" smtClean="0">
                <a:solidFill>
                  <a:schemeClr val="tx1"/>
                </a:solidFill>
              </a:rPr>
              <a:t> den </a:t>
            </a:r>
            <a:r>
              <a:rPr lang="en-US" sz="2000" dirty="0" err="1" smtClean="0">
                <a:solidFill>
                  <a:schemeClr val="tx1"/>
                </a:solidFill>
              </a:rPr>
              <a:t>største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leverandøren</a:t>
            </a:r>
            <a:r>
              <a:rPr lang="en-US" sz="2000" dirty="0" smtClean="0">
                <a:solidFill>
                  <a:schemeClr val="tx1"/>
                </a:solidFill>
              </a:rPr>
              <a:t>…</a:t>
            </a:r>
          </a:p>
          <a:p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• </a:t>
            </a:r>
            <a:r>
              <a:rPr lang="en-US" sz="2400" dirty="0" err="1" smtClean="0">
                <a:solidFill>
                  <a:schemeClr val="tx1"/>
                </a:solidFill>
              </a:rPr>
              <a:t>Og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glemmer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helt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problemet</a:t>
            </a:r>
            <a:r>
              <a:rPr lang="en-US" sz="2400" dirty="0" smtClean="0">
                <a:solidFill>
                  <a:schemeClr val="tx1"/>
                </a:solidFill>
              </a:rPr>
              <a:t> vi </a:t>
            </a:r>
            <a:r>
              <a:rPr lang="en-US" sz="2400" dirty="0" err="1" smtClean="0">
                <a:solidFill>
                  <a:schemeClr val="tx1"/>
                </a:solidFill>
              </a:rPr>
              <a:t>skal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løse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</a:rPr>
              <a:t>- </a:t>
            </a:r>
            <a:r>
              <a:rPr lang="en-US" sz="2400" b="1" dirty="0" smtClean="0">
                <a:solidFill>
                  <a:schemeClr val="tx1"/>
                </a:solidFill>
              </a:rPr>
              <a:t>The context.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=&gt;</a:t>
            </a:r>
            <a:r>
              <a:rPr lang="en-US" sz="2800" b="1" dirty="0" smtClean="0">
                <a:solidFill>
                  <a:schemeClr val="tx1"/>
                </a:solidFill>
              </a:rPr>
              <a:t> Vi </a:t>
            </a:r>
            <a:r>
              <a:rPr lang="en-US" sz="2800" b="1" dirty="0" err="1" smtClean="0">
                <a:solidFill>
                  <a:schemeClr val="tx1"/>
                </a:solidFill>
              </a:rPr>
              <a:t>har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fullstendig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mistet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 err="1" smtClean="0">
                <a:solidFill>
                  <a:schemeClr val="tx1"/>
                </a:solidFill>
              </a:rPr>
              <a:t>kontrollen</a:t>
            </a:r>
            <a:r>
              <a:rPr lang="en-US" sz="2800" b="1" dirty="0" smtClean="0">
                <a:solidFill>
                  <a:schemeClr val="tx1"/>
                </a:solidFill>
              </a:rPr>
              <a:t>!!</a:t>
            </a:r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For mange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alternativer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472" y="1428736"/>
            <a:ext cx="77153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We mix implementations, technology and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context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• Publish articles to the web(Context)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• Content management system (Technology)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• </a:t>
            </a:r>
            <a:r>
              <a:rPr lang="en-US" sz="2800" dirty="0" err="1" smtClean="0">
                <a:solidFill>
                  <a:schemeClr val="tx1"/>
                </a:solidFill>
              </a:rPr>
              <a:t>OpenCMS</a:t>
            </a:r>
            <a:r>
              <a:rPr lang="en-US" sz="2800" dirty="0" smtClean="0">
                <a:solidFill>
                  <a:schemeClr val="tx1"/>
                </a:solidFill>
              </a:rPr>
              <a:t>  (Implementation)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Hvordan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tas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valg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smtClean="0">
                <a:solidFill>
                  <a:srgbClr val="FFFFFF"/>
                </a:solidFill>
              </a:rPr>
              <a:t>Andre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strategier</a:t>
            </a:r>
            <a:r>
              <a:rPr lang="en-US" sz="3300" baseline="30000" dirty="0" smtClean="0">
                <a:solidFill>
                  <a:srgbClr val="FFFFFF"/>
                </a:solidFill>
              </a:rPr>
              <a:t>…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5786" y="1882210"/>
            <a:ext cx="764386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• </a:t>
            </a:r>
            <a:r>
              <a:rPr lang="en-US" sz="3200" dirty="0" smtClean="0">
                <a:solidFill>
                  <a:schemeClr val="tx1"/>
                </a:solidFill>
              </a:rPr>
              <a:t>Read </a:t>
            </a:r>
            <a:r>
              <a:rPr lang="en-US" sz="3200" dirty="0" smtClean="0">
                <a:solidFill>
                  <a:schemeClr val="tx1"/>
                </a:solidFill>
              </a:rPr>
              <a:t>the white papers? 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• Try out demos 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• Create prototypes?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• Experience, own or others?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• Implement more than one solution?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• Go with the </a:t>
            </a:r>
            <a:r>
              <a:rPr lang="en-US" sz="3200" dirty="0" err="1" smtClean="0">
                <a:solidFill>
                  <a:schemeClr val="tx1"/>
                </a:solidFill>
              </a:rPr>
              <a:t>ﬂow</a:t>
            </a:r>
            <a:r>
              <a:rPr lang="en-US" sz="3200" dirty="0" smtClean="0">
                <a:solidFill>
                  <a:schemeClr val="tx1"/>
                </a:solidFill>
              </a:rPr>
              <a:t>?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714348" y="2357430"/>
            <a:ext cx="8143932" cy="31393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nb-NO" dirty="0" smtClean="0">
              <a:solidFill>
                <a:schemeClr val="tx1"/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		</a:t>
            </a:r>
            <a:r>
              <a:rPr lang="en-US" b="1" i="1" dirty="0" smtClean="0">
                <a:solidFill>
                  <a:schemeClr val="tx1"/>
                </a:solidFill>
              </a:rPr>
              <a:t>*</a:t>
            </a:r>
            <a:r>
              <a:rPr lang="en-US" b="1" i="1" dirty="0" smtClean="0">
                <a:solidFill>
                  <a:schemeClr val="tx1"/>
                </a:solidFill>
              </a:rPr>
              <a:t>Sigh* .... This is hard stuff</a:t>
            </a:r>
            <a:r>
              <a:rPr lang="en-US" b="1" i="1" dirty="0" smtClean="0">
                <a:solidFill>
                  <a:schemeClr val="tx1"/>
                </a:solidFill>
              </a:rPr>
              <a:t>...</a:t>
            </a: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r>
              <a:rPr lang="nb-NO" b="1" dirty="0" smtClean="0">
                <a:solidFill>
                  <a:schemeClr val="tx1"/>
                </a:solidFill>
              </a:rPr>
              <a:t>Del 2. Arkitektur.</a:t>
            </a:r>
            <a:endParaRPr lang="nb-NO" dirty="0" smtClean="0">
              <a:solidFill>
                <a:schemeClr val="tx1"/>
              </a:solidFill>
            </a:endParaRPr>
          </a:p>
          <a:p>
            <a:r>
              <a:rPr lang="nb-NO" dirty="0" smtClean="0">
                <a:solidFill>
                  <a:schemeClr val="tx1"/>
                </a:solidFill>
              </a:rPr>
              <a:t>Arkitektur er en brannfakkel om dagen, og det ikke uten grunn. Det skrives opp og i mente om arkitektur og anti-arkitektur. Vi vil i denne delen av presentasjonen undersøke og sette spørsmålstegnet på om vi kanskje i 2009 begynner å se konturene av gode mulige </a:t>
            </a:r>
            <a:r>
              <a:rPr lang="nb-NO" dirty="0" err="1" smtClean="0">
                <a:solidFill>
                  <a:schemeClr val="tx1"/>
                </a:solidFill>
              </a:rPr>
              <a:t>arkitekturelle</a:t>
            </a:r>
            <a:r>
              <a:rPr lang="nb-NO" dirty="0" smtClean="0">
                <a:solidFill>
                  <a:schemeClr val="tx1"/>
                </a:solidFill>
              </a:rPr>
              <a:t> byggesteiner som faktisk er forutsetningen for å investere i arkitekturen i et system og hvordan disse kombinert med å ta bedre valg kan være en måte å skape mye mere verdi enn dagens norm i softwareprosjekter</a:t>
            </a:r>
            <a:r>
              <a:rPr lang="nb-NO"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- for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mye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eller</a:t>
            </a:r>
            <a:r>
              <a:rPr lang="en-US" sz="3300" baseline="30000" dirty="0" smtClean="0">
                <a:solidFill>
                  <a:srgbClr val="FFFFFF"/>
                </a:solidFill>
              </a:rPr>
              <a:t> for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lite</a:t>
            </a:r>
            <a:r>
              <a:rPr lang="en-US" sz="3300" baseline="30000" dirty="0" smtClean="0">
                <a:solidFill>
                  <a:srgbClr val="FFFFFF"/>
                </a:solidFill>
              </a:rPr>
              <a:t>?</a:t>
            </a:r>
            <a:r>
              <a:rPr lang="en-US" sz="3300" dirty="0" smtClean="0">
                <a:solidFill>
                  <a:srgbClr val="FFFFFF"/>
                </a:solidFill>
              </a:rPr>
              <a:t> 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500174"/>
            <a:ext cx="53578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Ting </a:t>
            </a:r>
            <a:r>
              <a:rPr lang="en-US" sz="2400" dirty="0" err="1" smtClean="0">
                <a:solidFill>
                  <a:schemeClr val="tx1"/>
                </a:solidFill>
              </a:rPr>
              <a:t>vellykede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arkitekturer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har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til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felles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2400" b="1" dirty="0" smtClean="0">
                <a:solidFill>
                  <a:schemeClr val="tx1"/>
                </a:solidFill>
              </a:rPr>
              <a:t>Clear and consistent responsibilities powers all great architectures</a:t>
            </a:r>
          </a:p>
          <a:p>
            <a:pPr>
              <a:buFont typeface="Arial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2400" b="1" dirty="0" err="1" smtClean="0">
                <a:solidFill>
                  <a:schemeClr val="tx1"/>
                </a:solidFill>
              </a:rPr>
              <a:t>Tjenestene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må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gjøre</a:t>
            </a:r>
            <a:r>
              <a:rPr lang="en-US" sz="2400" b="1" dirty="0" smtClean="0">
                <a:solidFill>
                  <a:schemeClr val="tx1"/>
                </a:solidFill>
              </a:rPr>
              <a:t> en ting </a:t>
            </a:r>
            <a:r>
              <a:rPr lang="en-US" sz="2400" b="1" dirty="0" err="1" smtClean="0">
                <a:solidFill>
                  <a:schemeClr val="tx1"/>
                </a:solidFill>
              </a:rPr>
              <a:t>og</a:t>
            </a:r>
            <a:r>
              <a:rPr lang="en-US" sz="2400" b="1" dirty="0" smtClean="0">
                <a:solidFill>
                  <a:schemeClr val="tx1"/>
                </a:solidFill>
              </a:rPr>
              <a:t> en ting </a:t>
            </a:r>
            <a:r>
              <a:rPr lang="en-US" sz="2400" b="1" dirty="0" err="1" smtClean="0">
                <a:solidFill>
                  <a:schemeClr val="tx1"/>
                </a:solidFill>
              </a:rPr>
              <a:t>godt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(northbound simplicity is paramount)</a:t>
            </a:r>
          </a:p>
          <a:p>
            <a:pPr>
              <a:buFont typeface="Arial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sz="2400" dirty="0" err="1" smtClean="0">
                <a:solidFill>
                  <a:schemeClr val="tx1"/>
                </a:solidFill>
              </a:rPr>
              <a:t>Spørsmål</a:t>
            </a:r>
            <a:r>
              <a:rPr lang="en-US" sz="2400" dirty="0" smtClean="0">
                <a:solidFill>
                  <a:schemeClr val="tx1"/>
                </a:solidFill>
              </a:rPr>
              <a:t>: 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>  Lever </a:t>
            </a:r>
            <a:r>
              <a:rPr lang="en-US" sz="2400" dirty="0" err="1" smtClean="0">
                <a:solidFill>
                  <a:schemeClr val="tx1"/>
                </a:solidFill>
              </a:rPr>
              <a:t>dagens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arkitekturartifakter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opp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til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disse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egenskapene</a:t>
            </a:r>
            <a:r>
              <a:rPr lang="en-US" sz="2400" dirty="0" smtClean="0">
                <a:solidFill>
                  <a:schemeClr val="tx1"/>
                </a:solidFill>
              </a:rPr>
              <a:t>?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2" descr="C:\Documents and Settings\mads.nissen\Desktop\SOA\Dagen@IFI\service_manifes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84983" y="1285860"/>
            <a:ext cx="3359017" cy="36727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-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Rammeverk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662" y="1428736"/>
            <a:ext cx="69294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chemeClr val="tx1"/>
                </a:solidFill>
              </a:rPr>
              <a:t>Mennesker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har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alltid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ønsket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seg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oppskrifter</a:t>
            </a:r>
            <a:r>
              <a:rPr lang="en-US" sz="2400" dirty="0" smtClean="0">
                <a:solidFill>
                  <a:schemeClr val="tx1"/>
                </a:solidFill>
              </a:rPr>
              <a:t>. Men de </a:t>
            </a:r>
            <a:r>
              <a:rPr lang="en-US" sz="2400" dirty="0" err="1" smtClean="0">
                <a:solidFill>
                  <a:schemeClr val="tx1"/>
                </a:solidFill>
              </a:rPr>
              <a:t>fleste</a:t>
            </a:r>
            <a:r>
              <a:rPr lang="en-US" sz="2400" dirty="0" smtClean="0">
                <a:solidFill>
                  <a:schemeClr val="tx1"/>
                </a:solidFill>
              </a:rPr>
              <a:t> IT </a:t>
            </a:r>
            <a:r>
              <a:rPr lang="en-US" sz="2400" dirty="0" err="1" smtClean="0">
                <a:solidFill>
                  <a:schemeClr val="tx1"/>
                </a:solidFill>
              </a:rPr>
              <a:t>prosjektene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forskjellige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spesielt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er</a:t>
            </a:r>
            <a:r>
              <a:rPr lang="en-US" sz="2400" dirty="0" smtClean="0">
                <a:solidFill>
                  <a:schemeClr val="tx1"/>
                </a:solidFill>
              </a:rPr>
              <a:t> de </a:t>
            </a:r>
            <a:r>
              <a:rPr lang="en-US" sz="2400" dirty="0" err="1" smtClean="0">
                <a:solidFill>
                  <a:schemeClr val="tx1"/>
                </a:solidFill>
              </a:rPr>
              <a:t>utsatt</a:t>
            </a:r>
            <a:r>
              <a:rPr lang="en-US" sz="2400" dirty="0" smtClean="0">
                <a:solidFill>
                  <a:schemeClr val="tx1"/>
                </a:solidFill>
              </a:rPr>
              <a:t> for </a:t>
            </a:r>
            <a:r>
              <a:rPr lang="en-US" sz="2400" dirty="0" err="1" smtClean="0">
                <a:solidFill>
                  <a:schemeClr val="tx1"/>
                </a:solidFill>
              </a:rPr>
              <a:t>mennesker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makt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og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styringsprinsipper</a:t>
            </a:r>
            <a:r>
              <a:rPr lang="en-US" sz="2400" dirty="0" smtClean="0">
                <a:solidFill>
                  <a:schemeClr val="tx1"/>
                </a:solidFill>
              </a:rPr>
              <a:t>.  De </a:t>
            </a:r>
            <a:r>
              <a:rPr lang="en-US" sz="2400" dirty="0" err="1" smtClean="0">
                <a:solidFill>
                  <a:schemeClr val="tx1"/>
                </a:solidFill>
              </a:rPr>
              <a:t>fleste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oppskriftene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forenkler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bort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denne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virkeligheten</a:t>
            </a:r>
            <a:r>
              <a:rPr lang="en-US" sz="2400" dirty="0" smtClean="0">
                <a:solidFill>
                  <a:schemeClr val="tx1"/>
                </a:solidFill>
              </a:rPr>
              <a:t>…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5786446" y="4086236"/>
            <a:ext cx="2143140" cy="1285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TOGAF?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143372" y="3729046"/>
            <a:ext cx="2428892" cy="1214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ZACHMAN?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3857620" y="4657740"/>
            <a:ext cx="2928958" cy="12144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GOVERNANCE?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071670" y="3657608"/>
            <a:ext cx="2771788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PROSJEKT-METODIKK?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643042" y="4514864"/>
            <a:ext cx="2771788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ITIL?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928926" y="5157806"/>
            <a:ext cx="162878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ISO?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357950" y="3443294"/>
            <a:ext cx="162878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CMM?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0" y="4229112"/>
            <a:ext cx="3286148" cy="178595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ENTERPRISE DNA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Axiomer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og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prinsipper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60609" y="1389063"/>
            <a:ext cx="4058416" cy="4453508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449263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nb-NO" sz="2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49263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kumimoji="0" lang="nb-NO" sz="2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Clear and consistant responsibillity powers all great architectures</a:t>
            </a:r>
            <a:endParaRPr kumimoji="0" lang="nb-NO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mban1828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60510" y="1383025"/>
            <a:ext cx="4132881" cy="461774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Mulige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nye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byggesteiner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2910" y="1285860"/>
            <a:ext cx="878687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A counter measure to faith, culture and </a:t>
            </a:r>
            <a:r>
              <a:rPr lang="en-US" sz="2400" b="1" dirty="0" smtClean="0">
                <a:solidFill>
                  <a:schemeClr val="tx1"/>
                </a:solidFill>
              </a:rPr>
              <a:t>religion.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We </a:t>
            </a:r>
            <a:r>
              <a:rPr lang="en-US" sz="2400" dirty="0" smtClean="0">
                <a:solidFill>
                  <a:schemeClr val="tx1"/>
                </a:solidFill>
              </a:rPr>
              <a:t>need some kind of help in order to </a:t>
            </a:r>
            <a:r>
              <a:rPr lang="en-US" sz="2400" dirty="0" smtClean="0">
                <a:solidFill>
                  <a:schemeClr val="tx1"/>
                </a:solidFill>
              </a:rPr>
              <a:t>resist </a:t>
            </a:r>
            <a:r>
              <a:rPr lang="en-US" sz="2400" dirty="0" smtClean="0">
                <a:solidFill>
                  <a:schemeClr val="tx1"/>
                </a:solidFill>
              </a:rPr>
              <a:t>the temptation of religion politics and </a:t>
            </a:r>
            <a:r>
              <a:rPr lang="en-US" sz="2400" dirty="0" smtClean="0">
                <a:solidFill>
                  <a:schemeClr val="tx1"/>
                </a:solidFill>
              </a:rPr>
              <a:t>other </a:t>
            </a:r>
            <a:r>
              <a:rPr lang="en-US" sz="2400" dirty="0" smtClean="0">
                <a:solidFill>
                  <a:schemeClr val="tx1"/>
                </a:solidFill>
              </a:rPr>
              <a:t>lies</a:t>
            </a:r>
            <a:r>
              <a:rPr lang="en-US" sz="2400" dirty="0" smtClean="0">
                <a:solidFill>
                  <a:schemeClr val="tx1"/>
                </a:solidFill>
              </a:rPr>
              <a:t>!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Categorization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To make good selections, we need to </a:t>
            </a:r>
            <a:r>
              <a:rPr lang="en-US" sz="2000" dirty="0" smtClean="0">
                <a:solidFill>
                  <a:schemeClr val="tx1"/>
                </a:solidFill>
              </a:rPr>
              <a:t>categorize </a:t>
            </a:r>
            <a:r>
              <a:rPr lang="en-US" sz="2000" dirty="0" smtClean="0">
                <a:solidFill>
                  <a:schemeClr val="tx1"/>
                </a:solidFill>
              </a:rPr>
              <a:t>the problems and </a:t>
            </a:r>
            <a:r>
              <a:rPr lang="en-US" sz="2000" dirty="0" smtClean="0">
                <a:solidFill>
                  <a:schemeClr val="tx1"/>
                </a:solidFill>
              </a:rPr>
              <a:t>Contexts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We </a:t>
            </a:r>
            <a:r>
              <a:rPr lang="en-US" sz="2000" dirty="0" smtClean="0">
                <a:solidFill>
                  <a:schemeClr val="tx1"/>
                </a:solidFill>
              </a:rPr>
              <a:t>tried to make a simple guide to </a:t>
            </a:r>
            <a:r>
              <a:rPr lang="en-US" sz="2000" dirty="0" smtClean="0">
                <a:solidFill>
                  <a:schemeClr val="tx1"/>
                </a:solidFill>
              </a:rPr>
              <a:t>this </a:t>
            </a:r>
            <a:r>
              <a:rPr lang="en-US" sz="2000" dirty="0" smtClean="0">
                <a:solidFill>
                  <a:schemeClr val="tx1"/>
                </a:solidFill>
              </a:rPr>
              <a:t>process by </a:t>
            </a:r>
            <a:r>
              <a:rPr lang="en-US" sz="2000" dirty="0" smtClean="0">
                <a:solidFill>
                  <a:schemeClr val="tx1"/>
                </a:solidFill>
              </a:rPr>
              <a:t>focusing </a:t>
            </a:r>
            <a:r>
              <a:rPr lang="en-US" sz="2000" dirty="0" smtClean="0">
                <a:solidFill>
                  <a:schemeClr val="tx1"/>
                </a:solidFill>
              </a:rPr>
              <a:t>on the </a:t>
            </a:r>
            <a:r>
              <a:rPr lang="en-US" sz="2000" dirty="0" smtClean="0">
                <a:solidFill>
                  <a:schemeClr val="tx1"/>
                </a:solidFill>
              </a:rPr>
              <a:t>matrix </a:t>
            </a:r>
            <a:r>
              <a:rPr lang="en-US" sz="2000" dirty="0" smtClean="0">
                <a:solidFill>
                  <a:schemeClr val="tx1"/>
                </a:solidFill>
              </a:rPr>
              <a:t>of contexts, solution qualities </a:t>
            </a:r>
            <a:r>
              <a:rPr lang="en-US" sz="2000" dirty="0" smtClean="0">
                <a:solidFill>
                  <a:schemeClr val="tx1"/>
                </a:solidFill>
              </a:rPr>
              <a:t>and </a:t>
            </a:r>
            <a:r>
              <a:rPr lang="en-US" sz="2000" dirty="0" smtClean="0">
                <a:solidFill>
                  <a:schemeClr val="tx1"/>
                </a:solidFill>
              </a:rPr>
              <a:t>technologies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Mulige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nye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byggesteiner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26" y="1285860"/>
            <a:ext cx="878687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To make good selections, we need to </a:t>
            </a:r>
            <a:r>
              <a:rPr lang="en-US" sz="2400" dirty="0" smtClean="0">
                <a:solidFill>
                  <a:schemeClr val="tx1"/>
                </a:solidFill>
              </a:rPr>
              <a:t>categorize </a:t>
            </a:r>
            <a:r>
              <a:rPr lang="en-US" sz="2400" dirty="0" smtClean="0">
                <a:solidFill>
                  <a:schemeClr val="tx1"/>
                </a:solidFill>
              </a:rPr>
              <a:t>the problems and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Contexts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We tried to make a simple guide to </a:t>
            </a:r>
            <a:r>
              <a:rPr lang="en-US" sz="2400" dirty="0" smtClean="0">
                <a:solidFill>
                  <a:schemeClr val="tx1"/>
                </a:solidFill>
              </a:rPr>
              <a:t>this </a:t>
            </a:r>
            <a:r>
              <a:rPr lang="en-US" sz="2400" dirty="0" smtClean="0">
                <a:solidFill>
                  <a:schemeClr val="tx1"/>
                </a:solidFill>
              </a:rPr>
              <a:t>process by </a:t>
            </a:r>
            <a:r>
              <a:rPr lang="en-US" sz="2400" dirty="0" smtClean="0">
                <a:solidFill>
                  <a:schemeClr val="tx1"/>
                </a:solidFill>
              </a:rPr>
              <a:t>focusing </a:t>
            </a:r>
            <a:r>
              <a:rPr lang="en-US" sz="2400" dirty="0" smtClean="0">
                <a:solidFill>
                  <a:schemeClr val="tx1"/>
                </a:solidFill>
              </a:rPr>
              <a:t>on the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matrix of contexts, solution qualities </a:t>
            </a:r>
            <a:r>
              <a:rPr lang="en-US" sz="2400" dirty="0" smtClean="0">
                <a:solidFill>
                  <a:schemeClr val="tx1"/>
                </a:solidFill>
              </a:rPr>
              <a:t>and technologies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Remember: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We need architectural building blocks which represent the mantra: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sz="2400" b="1" i="1" dirty="0" smtClean="0">
                <a:solidFill>
                  <a:schemeClr val="tx1"/>
                </a:solidFill>
              </a:rPr>
              <a:t>Do one thing and one thing well!!</a:t>
            </a:r>
            <a:endParaRPr lang="en-US" sz="2400" b="1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smtClean="0">
                <a:solidFill>
                  <a:srgbClr val="FFFFFF"/>
                </a:solidFill>
              </a:rPr>
              <a:t>Server functionality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25" y="933450"/>
            <a:ext cx="9124950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smtClean="0">
                <a:solidFill>
                  <a:srgbClr val="FFFFFF"/>
                </a:solidFill>
              </a:rPr>
              <a:t>Context – Server functionality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681399"/>
            <a:ext cx="9144000" cy="5576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err="1" smtClean="0">
                <a:solidFill>
                  <a:srgbClr val="FFFFFF"/>
                </a:solidFill>
              </a:rPr>
              <a:t>Arkitektur</a:t>
            </a:r>
            <a:r>
              <a:rPr lang="en-US" sz="3300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Produkt</a:t>
            </a:r>
            <a:r>
              <a:rPr lang="en-US" sz="3300" baseline="30000" dirty="0" smtClean="0">
                <a:solidFill>
                  <a:srgbClr val="FFFFFF"/>
                </a:solidFill>
              </a:rPr>
              <a:t> versus å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bygge</a:t>
            </a:r>
            <a:r>
              <a:rPr lang="en-US" sz="3300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selv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" y="1062038"/>
            <a:ext cx="8915400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smtClean="0">
                <a:solidFill>
                  <a:srgbClr val="FFFFFF"/>
                </a:solidFill>
              </a:rPr>
              <a:t>V</a:t>
            </a:r>
            <a:r>
              <a:rPr lang="en-US" sz="3300" baseline="30000" dirty="0" smtClean="0">
                <a:solidFill>
                  <a:srgbClr val="FFFFFF"/>
                </a:solidFill>
              </a:rPr>
              <a:t>isualized as landscape model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928669"/>
            <a:ext cx="9144000" cy="5253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aseline="30000" dirty="0" smtClean="0">
                <a:solidFill>
                  <a:srgbClr val="FFFFFF"/>
                </a:solidFill>
              </a:rPr>
              <a:t>Or visualized as a</a:t>
            </a:r>
            <a:r>
              <a:rPr lang="en-US" sz="3300" dirty="0" smtClean="0">
                <a:solidFill>
                  <a:srgbClr val="FFFFFF"/>
                </a:solidFill>
              </a:rPr>
              <a:t> </a:t>
            </a:r>
            <a:r>
              <a:rPr lang="en-US" sz="3300" baseline="30000" dirty="0" err="1" smtClean="0">
                <a:solidFill>
                  <a:srgbClr val="FFFFFF"/>
                </a:solidFill>
              </a:rPr>
              <a:t>Spidergraph</a:t>
            </a:r>
            <a:endParaRPr lang="en-US" sz="3300" baseline="30000" dirty="0">
              <a:solidFill>
                <a:srgbClr val="FFFFFF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812692"/>
            <a:ext cx="9144000" cy="5526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smtClean="0">
                <a:solidFill>
                  <a:srgbClr val="FFFFFF"/>
                </a:solidFill>
              </a:rPr>
              <a:t>WTF?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746958"/>
            <a:ext cx="850112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Keep focus on the right things</a:t>
            </a:r>
            <a:r>
              <a:rPr lang="en-US" sz="3200" dirty="0" smtClean="0">
                <a:solidFill>
                  <a:schemeClr val="tx1"/>
                </a:solidFill>
              </a:rPr>
              <a:t>!</a:t>
            </a:r>
          </a:p>
          <a:p>
            <a:endParaRPr lang="en-US" sz="3200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• Divide and conquer</a:t>
            </a:r>
          </a:p>
          <a:p>
            <a:r>
              <a:rPr lang="en-US" sz="3200" dirty="0" smtClean="0">
                <a:solidFill>
                  <a:schemeClr val="tx1"/>
                </a:solidFill>
              </a:rPr>
              <a:t>• Prioritize and rate qualities </a:t>
            </a:r>
          </a:p>
          <a:p>
            <a:endParaRPr lang="en-US" sz="3200" dirty="0" smtClean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</a:rPr>
              <a:t>And </a:t>
            </a:r>
            <a:r>
              <a:rPr lang="en-US" sz="3200" dirty="0" smtClean="0">
                <a:solidFill>
                  <a:schemeClr val="tx1"/>
                </a:solidFill>
              </a:rPr>
              <a:t>remember technology have </a:t>
            </a:r>
            <a:r>
              <a:rPr lang="en-US" sz="3200" dirty="0" smtClean="0">
                <a:solidFill>
                  <a:schemeClr val="tx1"/>
                </a:solidFill>
              </a:rPr>
              <a:t>different </a:t>
            </a:r>
            <a:r>
              <a:rPr lang="en-US" sz="3200" dirty="0" smtClean="0">
                <a:solidFill>
                  <a:schemeClr val="tx1"/>
                </a:solidFill>
              </a:rPr>
              <a:t>strengths in </a:t>
            </a:r>
            <a:r>
              <a:rPr lang="en-US" sz="3200" dirty="0" smtClean="0">
                <a:solidFill>
                  <a:schemeClr val="tx1"/>
                </a:solidFill>
              </a:rPr>
              <a:t>different contexts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Web-based customer system for </a:t>
            </a:r>
            <a:r>
              <a:rPr lang="en-US" sz="2400" dirty="0" smtClean="0">
                <a:solidFill>
                  <a:schemeClr val="tx1"/>
                </a:solidFill>
              </a:rPr>
              <a:t>department </a:t>
            </a:r>
            <a:r>
              <a:rPr lang="en-US" sz="2400" dirty="0" smtClean="0">
                <a:solidFill>
                  <a:schemeClr val="tx1"/>
                </a:solidFill>
              </a:rPr>
              <a:t>in large enterprise (10k+ emp.)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Existing database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No suitable API´s to integrate with.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Yet another database driven web </a:t>
            </a:r>
            <a:r>
              <a:rPr lang="en-US" sz="2400" dirty="0" smtClean="0">
                <a:solidFill>
                  <a:schemeClr val="tx1"/>
                </a:solidFill>
              </a:rPr>
              <a:t>application.</a:t>
            </a: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Which </a:t>
            </a:r>
            <a:r>
              <a:rPr lang="en-US" sz="2400" b="1" dirty="0" smtClean="0">
                <a:solidFill>
                  <a:schemeClr val="tx1"/>
                </a:solidFill>
              </a:rPr>
              <a:t>translates to the following qualities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Database layer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</a:t>
            </a:r>
            <a:r>
              <a:rPr lang="en-US" sz="2000" dirty="0" smtClean="0">
                <a:solidFill>
                  <a:schemeClr val="tx1"/>
                </a:solidFill>
              </a:rPr>
              <a:t>No though requirements in Scalability, </a:t>
            </a:r>
            <a:r>
              <a:rPr lang="en-US" sz="2000" dirty="0" smtClean="0">
                <a:solidFill>
                  <a:schemeClr val="tx1"/>
                </a:solidFill>
              </a:rPr>
              <a:t>Availability</a:t>
            </a:r>
            <a:r>
              <a:rPr lang="en-US" sz="2000" dirty="0" smtClean="0">
                <a:solidFill>
                  <a:schemeClr val="tx1"/>
                </a:solidFill>
              </a:rPr>
              <a:t>, Integrity, Query functionality, </a:t>
            </a:r>
            <a:r>
              <a:rPr lang="en-US" sz="2000" dirty="0" smtClean="0">
                <a:solidFill>
                  <a:schemeClr val="tx1"/>
                </a:solidFill>
              </a:rPr>
              <a:t>Latency</a:t>
            </a:r>
            <a:r>
              <a:rPr lang="en-US" sz="2000" dirty="0" smtClean="0">
                <a:solidFill>
                  <a:schemeClr val="tx1"/>
                </a:solidFill>
              </a:rPr>
              <a:t>, Persistence and Transactions.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Service </a:t>
            </a:r>
            <a:r>
              <a:rPr lang="en-US" sz="2000" dirty="0" smtClean="0">
                <a:solidFill>
                  <a:schemeClr val="tx1"/>
                </a:solidFill>
              </a:rPr>
              <a:t>layer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• </a:t>
            </a:r>
            <a:r>
              <a:rPr lang="en-US" sz="2000" dirty="0" smtClean="0">
                <a:solidFill>
                  <a:schemeClr val="tx1"/>
                </a:solidFill>
              </a:rPr>
              <a:t>No though requirements in Integration, </a:t>
            </a:r>
            <a:r>
              <a:rPr lang="en-US" sz="2000" dirty="0" smtClean="0">
                <a:solidFill>
                  <a:schemeClr val="tx1"/>
                </a:solidFill>
              </a:rPr>
              <a:t>Versioning</a:t>
            </a:r>
            <a:r>
              <a:rPr lang="en-US" sz="2000" dirty="0" smtClean="0">
                <a:solidFill>
                  <a:schemeClr val="tx1"/>
                </a:solidFill>
              </a:rPr>
              <a:t>, Reusability, Scalability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Contekst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detaljer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Java server environment. 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All developers know Java.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Corporate policy: Java, Oracle </a:t>
            </a:r>
            <a:r>
              <a:rPr lang="en-US" sz="2400" dirty="0" err="1" smtClean="0">
                <a:solidFill>
                  <a:schemeClr val="tx1"/>
                </a:solidFill>
              </a:rPr>
              <a:t>og</a:t>
            </a:r>
            <a:r>
              <a:rPr lang="en-US" sz="2400" dirty="0" smtClean="0">
                <a:solidFill>
                  <a:schemeClr val="tx1"/>
                </a:solidFill>
              </a:rPr>
              <a:t> JPA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Standard 3 layers </a:t>
            </a:r>
            <a:r>
              <a:rPr lang="en-US" sz="2400" dirty="0" err="1" smtClean="0">
                <a:solidFill>
                  <a:schemeClr val="tx1"/>
                </a:solidFill>
              </a:rPr>
              <a:t>webapp</a:t>
            </a:r>
            <a:r>
              <a:rPr lang="en-US" sz="2400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Frontend: JSF or Struts2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Domain logic: Spring framework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Persistence: Hibernate ORM to DB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Nobody got </a:t>
            </a:r>
            <a:r>
              <a:rPr lang="en-US" sz="2400" b="1" dirty="0" err="1" smtClean="0">
                <a:solidFill>
                  <a:schemeClr val="tx1"/>
                </a:solidFill>
              </a:rPr>
              <a:t>ﬁred</a:t>
            </a:r>
            <a:r>
              <a:rPr lang="en-US" sz="2400" b="1" dirty="0" smtClean="0">
                <a:solidFill>
                  <a:schemeClr val="tx1"/>
                </a:solidFill>
              </a:rPr>
              <a:t> from choosing </a:t>
            </a:r>
            <a:r>
              <a:rPr lang="en-US" sz="2400" b="1" dirty="0" smtClean="0">
                <a:solidFill>
                  <a:schemeClr val="tx1"/>
                </a:solidFill>
              </a:rPr>
              <a:t>IBM</a:t>
            </a: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err="1" smtClean="0">
                <a:solidFill>
                  <a:schemeClr val="tx1"/>
                </a:solidFill>
              </a:rPr>
              <a:t>Nei</a:t>
            </a:r>
            <a:r>
              <a:rPr lang="en-US" sz="2400" b="1" dirty="0" smtClean="0">
                <a:solidFill>
                  <a:schemeClr val="tx1"/>
                </a:solidFill>
              </a:rPr>
              <a:t>, NEI, NEI!!</a:t>
            </a:r>
          </a:p>
          <a:p>
            <a:endParaRPr lang="en-US" sz="24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Contekst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detaljer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Stop and think! 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There are much more suitable alternatives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much more fun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much more productive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and still open source and </a:t>
            </a:r>
            <a:r>
              <a:rPr lang="en-US" sz="2400" b="1" dirty="0" smtClean="0">
                <a:solidFill>
                  <a:schemeClr val="tx1"/>
                </a:solidFill>
              </a:rPr>
              <a:t>Java</a:t>
            </a: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Let´s look at 4 key Java open source </a:t>
            </a:r>
            <a:r>
              <a:rPr lang="en-US" sz="2400" b="1" dirty="0" smtClean="0">
                <a:solidFill>
                  <a:schemeClr val="tx1"/>
                </a:solidFill>
              </a:rPr>
              <a:t>alternatives </a:t>
            </a:r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• </a:t>
            </a:r>
            <a:r>
              <a:rPr lang="en-US" sz="2400" b="1" dirty="0" smtClean="0">
                <a:solidFill>
                  <a:schemeClr val="tx1"/>
                </a:solidFill>
              </a:rPr>
              <a:t>Groovy </a:t>
            </a:r>
            <a:r>
              <a:rPr lang="en-US" sz="2400" b="1" dirty="0" smtClean="0">
                <a:solidFill>
                  <a:schemeClr val="tx1"/>
                </a:solidFill>
              </a:rPr>
              <a:t>on Grails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</a:t>
            </a:r>
            <a:r>
              <a:rPr lang="en-US" sz="2400" b="1" dirty="0" err="1" smtClean="0">
                <a:solidFill>
                  <a:schemeClr val="tx1"/>
                </a:solidFill>
              </a:rPr>
              <a:t>JRuby</a:t>
            </a:r>
            <a:r>
              <a:rPr lang="en-US" sz="2400" b="1" dirty="0" smtClean="0">
                <a:solidFill>
                  <a:schemeClr val="tx1"/>
                </a:solidFill>
              </a:rPr>
              <a:t> on Rails 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</a:t>
            </a:r>
            <a:r>
              <a:rPr lang="en-US" sz="2400" b="1" dirty="0" err="1" smtClean="0">
                <a:solidFill>
                  <a:schemeClr val="tx1"/>
                </a:solidFill>
              </a:rPr>
              <a:t>Scala</a:t>
            </a:r>
            <a:r>
              <a:rPr lang="en-US" sz="2400" b="1" dirty="0" smtClean="0">
                <a:solidFill>
                  <a:schemeClr val="tx1"/>
                </a:solidFill>
              </a:rPr>
              <a:t> and Lift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• 4GL / model driven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Contekst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detaljer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tx1"/>
                </a:solidFill>
              </a:rPr>
              <a:t>JRuby</a:t>
            </a:r>
            <a:r>
              <a:rPr lang="en-US" sz="2400" b="1" dirty="0" smtClean="0">
                <a:solidFill>
                  <a:schemeClr val="tx1"/>
                </a:solidFill>
              </a:rPr>
              <a:t> on Rails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Productivity factor: Ten times as productive.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Fun factor: Five times more fun. 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Groovy on </a:t>
            </a:r>
            <a:r>
              <a:rPr lang="en-US" sz="2400" b="1" dirty="0" smtClean="0">
                <a:solidFill>
                  <a:schemeClr val="tx1"/>
                </a:solidFill>
              </a:rPr>
              <a:t>grails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</a:t>
            </a:r>
            <a:r>
              <a:rPr lang="en-US" dirty="0" smtClean="0">
                <a:solidFill>
                  <a:schemeClr val="tx1"/>
                </a:solidFill>
              </a:rPr>
              <a:t>Productivity </a:t>
            </a:r>
            <a:r>
              <a:rPr lang="en-US" dirty="0" smtClean="0">
                <a:solidFill>
                  <a:schemeClr val="tx1"/>
                </a:solidFill>
              </a:rPr>
              <a:t>factor: Six times as productive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</a:t>
            </a:r>
            <a:r>
              <a:rPr lang="en-US" dirty="0" smtClean="0">
                <a:solidFill>
                  <a:schemeClr val="tx1"/>
                </a:solidFill>
              </a:rPr>
              <a:t>Fun </a:t>
            </a:r>
            <a:r>
              <a:rPr lang="en-US" dirty="0" smtClean="0">
                <a:solidFill>
                  <a:schemeClr val="tx1"/>
                </a:solidFill>
              </a:rPr>
              <a:t>factor: Five times more fun</a:t>
            </a:r>
            <a:r>
              <a:rPr lang="en-US" dirty="0" smtClean="0">
                <a:solidFill>
                  <a:schemeClr val="tx1"/>
                </a:solidFill>
              </a:rPr>
              <a:t>..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2400" b="1" dirty="0" err="1" smtClean="0">
                <a:solidFill>
                  <a:schemeClr val="tx1"/>
                </a:solidFill>
              </a:rPr>
              <a:t>Scala</a:t>
            </a:r>
            <a:r>
              <a:rPr lang="en-US" sz="2400" b="1" dirty="0" smtClean="0">
                <a:solidFill>
                  <a:schemeClr val="tx1"/>
                </a:solidFill>
              </a:rPr>
              <a:t> and </a:t>
            </a:r>
            <a:r>
              <a:rPr lang="en-US" sz="2400" b="1" dirty="0" smtClean="0">
                <a:solidFill>
                  <a:schemeClr val="tx1"/>
                </a:solidFill>
              </a:rPr>
              <a:t>Lift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Productivity factor:  Two times as productive.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Fun factor: Ten times more fun.  On top of developers hype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curve.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4(5)GL </a:t>
            </a:r>
            <a:r>
              <a:rPr lang="en-US" sz="2400" b="1" dirty="0" smtClean="0">
                <a:solidFill>
                  <a:schemeClr val="tx1"/>
                </a:solidFill>
              </a:rPr>
              <a:t>/ model </a:t>
            </a:r>
            <a:r>
              <a:rPr lang="en-US" sz="2400" b="1" dirty="0" smtClean="0">
                <a:solidFill>
                  <a:schemeClr val="tx1"/>
                </a:solidFill>
              </a:rPr>
              <a:t>driven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Productivity factor:  </a:t>
            </a:r>
            <a:r>
              <a:rPr lang="en-US" dirty="0" err="1" smtClean="0">
                <a:solidFill>
                  <a:schemeClr val="tx1"/>
                </a:solidFill>
              </a:rPr>
              <a:t>ﬁve</a:t>
            </a:r>
            <a:r>
              <a:rPr lang="en-US" dirty="0" smtClean="0">
                <a:solidFill>
                  <a:schemeClr val="tx1"/>
                </a:solidFill>
              </a:rPr>
              <a:t> to twenty times as productive.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• Fun factor:  Developers hate them. below zero.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– What happens next...? 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Great success!!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80% of the department is using the app </a:t>
            </a:r>
            <a:r>
              <a:rPr lang="en-US" sz="2400" dirty="0" smtClean="0">
                <a:solidFill>
                  <a:schemeClr val="tx1"/>
                </a:solidFill>
              </a:rPr>
              <a:t>on </a:t>
            </a:r>
            <a:r>
              <a:rPr lang="en-US" sz="2400" dirty="0" smtClean="0">
                <a:solidFill>
                  <a:schemeClr val="tx1"/>
                </a:solidFill>
              </a:rPr>
              <a:t>weekly basis.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Rumors of the application spreads like </a:t>
            </a:r>
            <a:r>
              <a:rPr lang="en-US" sz="2400" dirty="0" smtClean="0">
                <a:solidFill>
                  <a:schemeClr val="tx1"/>
                </a:solidFill>
              </a:rPr>
              <a:t>wild </a:t>
            </a:r>
            <a:r>
              <a:rPr lang="en-US" sz="2400" dirty="0" err="1" smtClean="0">
                <a:solidFill>
                  <a:schemeClr val="tx1"/>
                </a:solidFill>
              </a:rPr>
              <a:t>ﬁre</a:t>
            </a:r>
            <a:r>
              <a:rPr lang="en-US" sz="2400" dirty="0" smtClean="0">
                <a:solidFill>
                  <a:schemeClr val="tx1"/>
                </a:solidFill>
              </a:rPr>
              <a:t>!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Developers and stakeholders are treated </a:t>
            </a:r>
            <a:r>
              <a:rPr lang="en-US" sz="2400" dirty="0" smtClean="0">
                <a:solidFill>
                  <a:schemeClr val="tx1"/>
                </a:solidFill>
              </a:rPr>
              <a:t>like </a:t>
            </a:r>
            <a:r>
              <a:rPr lang="en-US" sz="2400" dirty="0" smtClean="0">
                <a:solidFill>
                  <a:schemeClr val="tx1"/>
                </a:solidFill>
              </a:rPr>
              <a:t>heroes. 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... now everyone wants the application! </a:t>
            </a:r>
            <a:endParaRPr lang="en-US" sz="2400" b="1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dirty="0" smtClean="0">
                <a:solidFill>
                  <a:schemeClr val="tx1"/>
                </a:solidFill>
              </a:rPr>
              <a:t>landscape changes: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A large number of databases and CRM </a:t>
            </a:r>
            <a:r>
              <a:rPr lang="en-US" sz="2400" dirty="0" smtClean="0">
                <a:solidFill>
                  <a:schemeClr val="tx1"/>
                </a:solidFill>
              </a:rPr>
              <a:t>systems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A myriad of customer structures.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Off the shelf software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• 24/7 requirements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konsekvenser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tx1"/>
                </a:solidFill>
              </a:rPr>
              <a:t>Konsekvenser</a:t>
            </a:r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• </a:t>
            </a:r>
            <a:r>
              <a:rPr lang="en-US" sz="2000" dirty="0" smtClean="0">
                <a:solidFill>
                  <a:schemeClr val="tx1"/>
                </a:solidFill>
              </a:rPr>
              <a:t>Data mastering becomes a huge issue.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Not possible to do updates and/or de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Need some kind of data consolidation.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Rate of change in requirements </a:t>
            </a:r>
            <a:r>
              <a:rPr lang="en-US" sz="2000" dirty="0" smtClean="0">
                <a:solidFill>
                  <a:schemeClr val="tx1"/>
                </a:solidFill>
              </a:rPr>
              <a:t>skyrocket</a:t>
            </a: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000" dirty="0" smtClean="0">
                <a:solidFill>
                  <a:schemeClr val="tx1"/>
                </a:solidFill>
              </a:rPr>
              <a:t>• 24/7 requirements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Our simple integration strategy is now void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Which </a:t>
            </a:r>
            <a:r>
              <a:rPr lang="en-US" sz="2400" b="1" dirty="0" smtClean="0">
                <a:solidFill>
                  <a:schemeClr val="tx1"/>
                </a:solidFill>
              </a:rPr>
              <a:t>translates to the following qualities: </a:t>
            </a:r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Database layer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Though requirements in Scalability, Availability, </a:t>
            </a:r>
            <a:r>
              <a:rPr lang="en-US" sz="2000" dirty="0" smtClean="0">
                <a:solidFill>
                  <a:schemeClr val="tx1"/>
                </a:solidFill>
              </a:rPr>
              <a:t>Integrity</a:t>
            </a:r>
            <a:r>
              <a:rPr lang="en-US" sz="2000" dirty="0" smtClean="0">
                <a:solidFill>
                  <a:schemeClr val="tx1"/>
                </a:solidFill>
              </a:rPr>
              <a:t>, Latency.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Service layer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Though requirements in Integration and </a:t>
            </a:r>
            <a:r>
              <a:rPr lang="en-US" sz="2000" dirty="0" smtClean="0">
                <a:solidFill>
                  <a:schemeClr val="tx1"/>
                </a:solidFill>
              </a:rPr>
              <a:t>Versioning.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We are no longer free to pick and choose freely.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konsekvenser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Our </a:t>
            </a:r>
            <a:r>
              <a:rPr lang="en-US" sz="2400" dirty="0" smtClean="0">
                <a:solidFill>
                  <a:schemeClr val="tx1"/>
                </a:solidFill>
              </a:rPr>
              <a:t>context has changed </a:t>
            </a:r>
            <a:r>
              <a:rPr lang="en-US" sz="2400" dirty="0" smtClean="0">
                <a:solidFill>
                  <a:schemeClr val="tx1"/>
                </a:solidFill>
              </a:rPr>
              <a:t>dramatically</a:t>
            </a:r>
            <a:r>
              <a:rPr lang="en-US" sz="2400" dirty="0" smtClean="0">
                <a:solidFill>
                  <a:schemeClr val="tx1"/>
                </a:solidFill>
              </a:rPr>
              <a:t>!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Old</a:t>
            </a:r>
            <a:r>
              <a:rPr lang="en-US" sz="2400" dirty="0" smtClean="0">
                <a:solidFill>
                  <a:schemeClr val="tx1"/>
                </a:solidFill>
              </a:rPr>
              <a:t>: "Simple web-based customer system"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New: "Enterprise customer dashboard"</a:t>
            </a:r>
            <a:endParaRPr lang="en-US" sz="24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myter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142984"/>
            <a:ext cx="850112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“Our Enterprise Corporate policy would </a:t>
            </a:r>
            <a:r>
              <a:rPr lang="en-US" sz="2400" dirty="0" smtClean="0">
                <a:solidFill>
                  <a:schemeClr val="tx1"/>
                </a:solidFill>
              </a:rPr>
              <a:t>have </a:t>
            </a:r>
            <a:r>
              <a:rPr lang="en-US" sz="2400" dirty="0" smtClean="0">
                <a:solidFill>
                  <a:schemeClr val="tx1"/>
                </a:solidFill>
              </a:rPr>
              <a:t>prevented this</a:t>
            </a:r>
            <a:r>
              <a:rPr lang="en-US" sz="2400" dirty="0" smtClean="0">
                <a:solidFill>
                  <a:schemeClr val="tx1"/>
                </a:solidFill>
              </a:rPr>
              <a:t>!”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Wrong: No application, no problem!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Wrong: Poor application, same problem</a:t>
            </a:r>
            <a:r>
              <a:rPr lang="en-US" sz="2000" dirty="0" smtClean="0">
                <a:solidFill>
                  <a:schemeClr val="tx1"/>
                </a:solidFill>
              </a:rPr>
              <a:t>!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“We need to re-implement the solution on a platform 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that supports this new complex scenario!”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Wrong:  There is nothing wrong with the application! 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Wrong:  The new requirements can be handled on </a:t>
            </a:r>
            <a:r>
              <a:rPr lang="en-US" sz="2000" dirty="0" smtClean="0">
                <a:solidFill>
                  <a:schemeClr val="tx1"/>
                </a:solidFill>
              </a:rPr>
              <a:t>the </a:t>
            </a:r>
            <a:r>
              <a:rPr lang="en-US" sz="2000" dirty="0" smtClean="0">
                <a:solidFill>
                  <a:schemeClr val="tx1"/>
                </a:solidFill>
              </a:rPr>
              <a:t>existing platform.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Wrong:  The enterprise platform does not solve any </a:t>
            </a:r>
            <a:r>
              <a:rPr lang="en-US" sz="2000" dirty="0" smtClean="0">
                <a:solidFill>
                  <a:schemeClr val="tx1"/>
                </a:solidFill>
              </a:rPr>
              <a:t>problems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.... </a:t>
            </a:r>
            <a:r>
              <a:rPr lang="en-US" sz="2400" dirty="0" err="1" smtClean="0">
                <a:solidFill>
                  <a:schemeClr val="tx1"/>
                </a:solidFill>
              </a:rPr>
              <a:t>og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hvis</a:t>
            </a:r>
            <a:r>
              <a:rPr lang="en-US" sz="2400" dirty="0" smtClean="0">
                <a:solidFill>
                  <a:schemeClr val="tx1"/>
                </a:solidFill>
              </a:rPr>
              <a:t> vi </a:t>
            </a:r>
            <a:r>
              <a:rPr lang="en-US" sz="2400" dirty="0" err="1" smtClean="0">
                <a:solidFill>
                  <a:schemeClr val="tx1"/>
                </a:solidFill>
              </a:rPr>
              <a:t>velger</a:t>
            </a:r>
            <a:r>
              <a:rPr lang="en-US" sz="2400" dirty="0" smtClean="0">
                <a:solidFill>
                  <a:schemeClr val="tx1"/>
                </a:solidFill>
              </a:rPr>
              <a:t> å </a:t>
            </a:r>
            <a:r>
              <a:rPr lang="en-US" sz="2400" dirty="0" err="1" smtClean="0">
                <a:solidFill>
                  <a:schemeClr val="tx1"/>
                </a:solidFill>
              </a:rPr>
              <a:t>begynne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på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nytt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så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er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det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uansett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ikke</a:t>
            </a:r>
            <a:r>
              <a:rPr lang="en-US" sz="2400" dirty="0" smtClean="0">
                <a:solidFill>
                  <a:schemeClr val="tx1"/>
                </a:solidFill>
              </a:rPr>
              <a:t> den </a:t>
            </a:r>
            <a:r>
              <a:rPr lang="en-US" sz="2400" dirty="0" err="1" smtClean="0">
                <a:solidFill>
                  <a:schemeClr val="tx1"/>
                </a:solidFill>
              </a:rPr>
              <a:t>største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investeringen</a:t>
            </a:r>
            <a:r>
              <a:rPr lang="en-US" sz="2400" dirty="0" smtClean="0">
                <a:solidFill>
                  <a:schemeClr val="tx1"/>
                </a:solidFill>
              </a:rPr>
              <a:t> man </a:t>
            </a:r>
            <a:r>
              <a:rPr lang="en-US" sz="2400" dirty="0" err="1" smtClean="0">
                <a:solidFill>
                  <a:schemeClr val="tx1"/>
                </a:solidFill>
              </a:rPr>
              <a:t>kaster</a:t>
            </a:r>
            <a:r>
              <a:rPr lang="en-US" sz="2400" dirty="0" smtClean="0">
                <a:solidFill>
                  <a:schemeClr val="tx1"/>
                </a:solidFill>
              </a:rPr>
              <a:t>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myter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1214422"/>
            <a:ext cx="850112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Enterprise corporate policy did/will not </a:t>
            </a:r>
            <a:r>
              <a:rPr lang="en-US" sz="2400" dirty="0" smtClean="0">
                <a:solidFill>
                  <a:schemeClr val="tx1"/>
                </a:solidFill>
              </a:rPr>
              <a:t>save </a:t>
            </a:r>
            <a:r>
              <a:rPr lang="en-US" sz="2400" dirty="0" smtClean="0">
                <a:solidFill>
                  <a:schemeClr val="tx1"/>
                </a:solidFill>
              </a:rPr>
              <a:t>us (this time)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Let´s focus on the problems at hand: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Server layer: Integration, Versioning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Data layer: Scalability, Latency, </a:t>
            </a:r>
            <a:r>
              <a:rPr lang="en-US" sz="2000" dirty="0" smtClean="0">
                <a:solidFill>
                  <a:schemeClr val="tx1"/>
                </a:solidFill>
              </a:rPr>
              <a:t>Availability,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We can use the landscape to rate integration </a:t>
            </a:r>
            <a:r>
              <a:rPr lang="en-US" sz="2400" dirty="0" smtClean="0">
                <a:solidFill>
                  <a:schemeClr val="tx1"/>
                </a:solidFill>
              </a:rPr>
              <a:t>technologies </a:t>
            </a:r>
            <a:r>
              <a:rPr lang="en-US" sz="2400" dirty="0" smtClean="0">
                <a:solidFill>
                  <a:schemeClr val="tx1"/>
                </a:solidFill>
              </a:rPr>
              <a:t>for each individual data source.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Keep focus on the problems at hand.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Server component need to extend its </a:t>
            </a:r>
            <a:r>
              <a:rPr lang="en-US" sz="2000" dirty="0" smtClean="0">
                <a:solidFill>
                  <a:schemeClr val="tx1"/>
                </a:solidFill>
              </a:rPr>
              <a:t>responsibility 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  (</a:t>
            </a:r>
            <a:r>
              <a:rPr lang="en-US" sz="2000" dirty="0" smtClean="0">
                <a:solidFill>
                  <a:schemeClr val="tx1"/>
                </a:solidFill>
              </a:rPr>
              <a:t>since we can´t control the data </a:t>
            </a:r>
            <a:r>
              <a:rPr lang="en-US" sz="2000" dirty="0" smtClean="0">
                <a:solidFill>
                  <a:schemeClr val="tx1"/>
                </a:solidFill>
              </a:rPr>
              <a:t>sources</a:t>
            </a:r>
            <a:r>
              <a:rPr lang="en-US" sz="2000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caching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domain objects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• correlation and mapping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300" b="1" baseline="30000" dirty="0" err="1" smtClean="0">
                <a:solidFill>
                  <a:srgbClr val="FFFFFF"/>
                </a:solidFill>
              </a:rPr>
              <a:t>Tankeeksperiment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 </a:t>
            </a:r>
            <a:r>
              <a:rPr lang="en-US" sz="3300" b="1" baseline="30000" dirty="0" smtClean="0">
                <a:solidFill>
                  <a:srgbClr val="FFFFFF"/>
                </a:solidFill>
              </a:rPr>
              <a:t>– </a:t>
            </a:r>
            <a:r>
              <a:rPr lang="en-US" sz="3300" b="1" baseline="30000" dirty="0" err="1" smtClean="0">
                <a:solidFill>
                  <a:srgbClr val="FFFFFF"/>
                </a:solidFill>
              </a:rPr>
              <a:t>myter</a:t>
            </a:r>
            <a:endParaRPr lang="en-US" sz="3300" b="1" baseline="30000" dirty="0">
              <a:solidFill>
                <a:srgbClr val="FFFFFF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904875"/>
            <a:ext cx="9172575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714348" y="2000240"/>
            <a:ext cx="8143932" cy="41857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i="1" baseline="30000" dirty="0" err="1" smtClean="0">
                <a:solidFill>
                  <a:schemeClr val="tx1"/>
                </a:solidFill>
              </a:rPr>
              <a:t>Oppsummering</a:t>
            </a:r>
            <a:r>
              <a:rPr lang="en-US" sz="3200" b="1" i="1" baseline="30000" dirty="0" smtClean="0">
                <a:solidFill>
                  <a:schemeClr val="tx1"/>
                </a:solidFill>
              </a:rPr>
              <a:t> </a:t>
            </a:r>
            <a:r>
              <a:rPr lang="en-US" sz="3200" b="1" i="1" baseline="30000" dirty="0" err="1" smtClean="0">
                <a:solidFill>
                  <a:schemeClr val="tx1"/>
                </a:solidFill>
              </a:rPr>
              <a:t>og</a:t>
            </a:r>
            <a:r>
              <a:rPr lang="en-US" sz="3200" b="1" i="1" baseline="30000" dirty="0" smtClean="0">
                <a:solidFill>
                  <a:schemeClr val="tx1"/>
                </a:solidFill>
              </a:rPr>
              <a:t> </a:t>
            </a:r>
            <a:r>
              <a:rPr lang="en-US" sz="3200" b="1" i="1" baseline="30000" dirty="0" err="1" smtClean="0">
                <a:solidFill>
                  <a:schemeClr val="tx1"/>
                </a:solidFill>
              </a:rPr>
              <a:t>konklusjoner</a:t>
            </a:r>
            <a:endParaRPr lang="en-US" b="1" i="1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Vi </a:t>
            </a:r>
            <a:r>
              <a:rPr lang="en-US" b="1" dirty="0" err="1" smtClean="0">
                <a:solidFill>
                  <a:schemeClr val="tx1"/>
                </a:solidFill>
              </a:rPr>
              <a:t>er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blitt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flinke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og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produktive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som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utviklere</a:t>
            </a:r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 Men vi lager </a:t>
            </a:r>
            <a:r>
              <a:rPr lang="en-US" b="1" dirty="0" err="1" smtClean="0">
                <a:solidFill>
                  <a:schemeClr val="tx1"/>
                </a:solidFill>
              </a:rPr>
              <a:t>feil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løsninger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 Med </a:t>
            </a:r>
            <a:r>
              <a:rPr lang="en-US" b="1" dirty="0" err="1" smtClean="0">
                <a:solidFill>
                  <a:schemeClr val="tx1"/>
                </a:solidFill>
              </a:rPr>
              <a:t>feil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egenskaper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Siden</a:t>
            </a:r>
            <a:r>
              <a:rPr lang="en-US" b="1" dirty="0" smtClean="0">
                <a:solidFill>
                  <a:schemeClr val="tx1"/>
                </a:solidFill>
              </a:rPr>
              <a:t> vi </a:t>
            </a:r>
            <a:r>
              <a:rPr lang="en-US" b="1" dirty="0" err="1" smtClean="0">
                <a:solidFill>
                  <a:schemeClr val="tx1"/>
                </a:solidFill>
              </a:rPr>
              <a:t>har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mistet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kontrollen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på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valgene</a:t>
            </a:r>
            <a:r>
              <a:rPr lang="en-US" b="1" dirty="0" smtClean="0">
                <a:solidFill>
                  <a:schemeClr val="tx1"/>
                </a:solidFill>
              </a:rPr>
              <a:t> vi </a:t>
            </a:r>
            <a:r>
              <a:rPr lang="en-US" b="1" dirty="0" err="1" smtClean="0">
                <a:solidFill>
                  <a:schemeClr val="tx1"/>
                </a:solidFill>
              </a:rPr>
              <a:t>gjør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Og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produserer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derfor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langt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mindre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verdi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enn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det</a:t>
            </a:r>
            <a:r>
              <a:rPr lang="en-US" b="1" dirty="0" smtClean="0">
                <a:solidFill>
                  <a:schemeClr val="tx1"/>
                </a:solidFill>
              </a:rPr>
              <a:t> vi </a:t>
            </a:r>
            <a:r>
              <a:rPr lang="en-US" b="1" dirty="0" err="1" smtClean="0">
                <a:solidFill>
                  <a:schemeClr val="tx1"/>
                </a:solidFill>
              </a:rPr>
              <a:t>burde</a:t>
            </a:r>
            <a:r>
              <a:rPr lang="en-US" b="1" dirty="0" smtClean="0">
                <a:solidFill>
                  <a:schemeClr val="tx1"/>
                </a:solidFill>
              </a:rPr>
              <a:t> ha </a:t>
            </a:r>
            <a:r>
              <a:rPr lang="en-US" b="1" dirty="0" err="1" smtClean="0">
                <a:solidFill>
                  <a:schemeClr val="tx1"/>
                </a:solidFill>
              </a:rPr>
              <a:t>gjort</a:t>
            </a:r>
            <a:r>
              <a:rPr lang="en-US" b="1" dirty="0" smtClean="0">
                <a:solidFill>
                  <a:schemeClr val="tx1"/>
                </a:solidFill>
              </a:rPr>
              <a:t>…</a:t>
            </a:r>
          </a:p>
          <a:p>
            <a:pPr>
              <a:buFont typeface="Arial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For å </a:t>
            </a:r>
            <a:r>
              <a:rPr lang="en-US" b="1" dirty="0" err="1" smtClean="0">
                <a:solidFill>
                  <a:schemeClr val="tx1"/>
                </a:solidFill>
              </a:rPr>
              <a:t>snu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trenden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trenger</a:t>
            </a:r>
            <a:r>
              <a:rPr lang="en-US" b="1" dirty="0" smtClean="0">
                <a:solidFill>
                  <a:schemeClr val="tx1"/>
                </a:solidFill>
              </a:rPr>
              <a:t> vi </a:t>
            </a:r>
            <a:r>
              <a:rPr lang="en-US" b="1" dirty="0" err="1" smtClean="0">
                <a:solidFill>
                  <a:schemeClr val="tx1"/>
                </a:solidFill>
              </a:rPr>
              <a:t>arkitekturkomponenter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som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kan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hjelpe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oss</a:t>
            </a:r>
            <a:r>
              <a:rPr lang="en-US" b="1" dirty="0" smtClean="0">
                <a:solidFill>
                  <a:schemeClr val="tx1"/>
                </a:solidFill>
              </a:rPr>
              <a:t> med å </a:t>
            </a:r>
            <a:r>
              <a:rPr lang="en-US" b="1" dirty="0" err="1" smtClean="0">
                <a:solidFill>
                  <a:schemeClr val="tx1"/>
                </a:solidFill>
              </a:rPr>
              <a:t>ta</a:t>
            </a:r>
            <a:r>
              <a:rPr lang="en-US" b="1" dirty="0" smtClean="0">
                <a:solidFill>
                  <a:schemeClr val="tx1"/>
                </a:solidFill>
              </a:rPr>
              <a:t> de </a:t>
            </a:r>
            <a:r>
              <a:rPr lang="en-US" b="1" dirty="0" err="1" smtClean="0">
                <a:solidFill>
                  <a:schemeClr val="tx1"/>
                </a:solidFill>
              </a:rPr>
              <a:t>rette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valgene</a:t>
            </a:r>
            <a:endParaRPr lang="en-US" b="1" dirty="0" smtClean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</a:pP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Different </a:t>
            </a:r>
            <a:r>
              <a:rPr lang="en-US" b="1" dirty="0" smtClean="0">
                <a:solidFill>
                  <a:schemeClr val="tx1"/>
                </a:solidFill>
              </a:rPr>
              <a:t>problems require different solutions and technologies. 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ＭＳ Ｐゴシック"/>
        <a:cs typeface=""/>
      </a:majorFont>
      <a:minorFont>
        <a:latin typeface="Calibr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Calibri" charset="0"/>
            <a:ea typeface="ＭＳ Ｐゴシック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2657</Words>
  <Application>Microsoft Office PowerPoint</Application>
  <PresentationFormat>On-screen Show (4:3)</PresentationFormat>
  <Paragraphs>412</Paragraphs>
  <Slides>44</Slides>
  <Notes>44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Mature and empower the Norwegian software market                              En kort introduksjon til Cantara AS og Stiftelsen                                              for fremme av programvareutvikling i Norge</dc:title>
  <dc:creator>iMac</dc:creator>
  <cp:lastModifiedBy>totto</cp:lastModifiedBy>
  <cp:revision>36</cp:revision>
  <cp:lastPrinted>1601-01-01T00:00:00Z</cp:lastPrinted>
  <dcterms:created xsi:type="dcterms:W3CDTF">2009-04-14T13:23:25Z</dcterms:created>
  <dcterms:modified xsi:type="dcterms:W3CDTF">2009-09-10T10:06:32Z</dcterms:modified>
</cp:coreProperties>
</file>