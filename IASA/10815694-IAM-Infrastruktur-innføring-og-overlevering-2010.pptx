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gif" ContentType="image/gif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6" r:id="rId3"/>
    <p:sldId id="257" r:id="rId4"/>
    <p:sldId id="272" r:id="rId5"/>
    <p:sldId id="275" r:id="rId6"/>
    <p:sldId id="268" r:id="rId7"/>
    <p:sldId id="259" r:id="rId8"/>
    <p:sldId id="260" r:id="rId9"/>
    <p:sldId id="276" r:id="rId10"/>
    <p:sldId id="270" r:id="rId11"/>
    <p:sldId id="284" r:id="rId12"/>
    <p:sldId id="280" r:id="rId13"/>
    <p:sldId id="281" r:id="rId14"/>
    <p:sldId id="282" r:id="rId15"/>
    <p:sldId id="285" r:id="rId16"/>
    <p:sldId id="287" r:id="rId17"/>
    <p:sldId id="288" r:id="rId18"/>
    <p:sldId id="289" r:id="rId19"/>
  </p:sldIdLst>
  <p:sldSz cx="9144000" cy="6858000" type="screen4x3"/>
  <p:notesSz cx="6794500" cy="9931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rgbClr val="B60027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rgbClr val="B60027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rgbClr val="B60027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rgbClr val="B60027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rgbClr val="B60027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rgbClr val="B60027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rgbClr val="B60027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rgbClr val="B60027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rgbClr val="B60027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82C2E"/>
    <a:srgbClr val="8B100F"/>
    <a:srgbClr val="4D4D4D"/>
    <a:srgbClr val="C00000"/>
    <a:srgbClr val="FF0000"/>
    <a:srgbClr val="7D955F"/>
    <a:srgbClr val="B5C4A2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0" autoAdjust="0"/>
    <p:restoredTop sz="75550" autoAdjust="0"/>
  </p:normalViewPr>
  <p:slideViewPr>
    <p:cSldViewPr>
      <p:cViewPr>
        <p:scale>
          <a:sx n="80" d="100"/>
          <a:sy n="80" d="100"/>
        </p:scale>
        <p:origin x="-212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-3360" y="-96"/>
      </p:cViewPr>
      <p:guideLst>
        <p:guide orient="horz" pos="3128"/>
        <p:guide pos="214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815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57" tIns="45779" rIns="91557" bIns="45779" numCol="1" anchor="t" anchorCtr="0" compatLnSpc="1">
            <a:prstTxWarp prst="textNoShape">
              <a:avLst/>
            </a:prstTxWarp>
          </a:bodyPr>
          <a:lstStyle>
            <a:lvl1pPr defTabSz="915934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78150" cy="53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57" tIns="45779" rIns="91557" bIns="45779" numCol="1" anchor="t" anchorCtr="0" compatLnSpc="1">
            <a:prstTxWarp prst="textNoShape">
              <a:avLst/>
            </a:prstTxWarp>
          </a:bodyPr>
          <a:lstStyle>
            <a:lvl1pPr algn="r" defTabSz="915934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59913"/>
            <a:ext cx="29781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57" tIns="45779" rIns="91557" bIns="45779" numCol="1" anchor="b" anchorCtr="0" compatLnSpc="1">
            <a:prstTxWarp prst="textNoShape">
              <a:avLst/>
            </a:prstTxWarp>
          </a:bodyPr>
          <a:lstStyle>
            <a:lvl1pPr defTabSz="915934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692" tIns="46346" rIns="92692" bIns="46346" numCol="1" anchor="t" anchorCtr="0" compatLnSpc="1">
            <a:prstTxWarp prst="textNoShape">
              <a:avLst/>
            </a:prstTxWarp>
          </a:bodyPr>
          <a:lstStyle>
            <a:lvl1pPr defTabSz="927045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8749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692" tIns="46346" rIns="92692" bIns="46346" numCol="1" anchor="t" anchorCtr="0" compatLnSpc="1">
            <a:prstTxWarp prst="textNoShape">
              <a:avLst/>
            </a:prstTxWarp>
          </a:bodyPr>
          <a:lstStyle>
            <a:lvl1pPr algn="r" defTabSz="927045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2025" y="769938"/>
            <a:ext cx="4924425" cy="3694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4695825"/>
            <a:ext cx="4973638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692" tIns="46346" rIns="92692" bIns="463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n-NO" noProof="0" smtClean="0"/>
              <a:t>Click to edit Master text styles</a:t>
            </a:r>
          </a:p>
          <a:p>
            <a:pPr lvl="1"/>
            <a:r>
              <a:rPr lang="en-US" altLang="nn-NO" noProof="0" smtClean="0"/>
              <a:t>Second level</a:t>
            </a:r>
          </a:p>
          <a:p>
            <a:pPr lvl="2"/>
            <a:r>
              <a:rPr lang="en-US" altLang="nn-NO" noProof="0" smtClean="0"/>
              <a:t>Third level</a:t>
            </a:r>
          </a:p>
          <a:p>
            <a:pPr lvl="3"/>
            <a:r>
              <a:rPr lang="en-US" altLang="nn-NO" noProof="0" smtClean="0"/>
              <a:t>Fourth level</a:t>
            </a:r>
          </a:p>
          <a:p>
            <a:pPr lvl="4"/>
            <a:r>
              <a:rPr lang="en-US" altLang="nn-NO" noProof="0" smtClean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6263"/>
            <a:ext cx="29527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692" tIns="46346" rIns="92692" bIns="46346" numCol="1" anchor="b" anchorCtr="0" compatLnSpc="1">
            <a:prstTxWarp prst="textNoShape">
              <a:avLst/>
            </a:prstTxWarp>
          </a:bodyPr>
          <a:lstStyle>
            <a:lvl1pPr defTabSz="927045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GB" altLang="nn-NO" dirty="0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66263"/>
            <a:ext cx="28749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692" tIns="46346" rIns="92692" bIns="46346" numCol="1" anchor="b" anchorCtr="0" compatLnSpc="1">
            <a:prstTxWarp prst="textNoShape">
              <a:avLst/>
            </a:prstTxWarp>
          </a:bodyPr>
          <a:lstStyle>
            <a:lvl1pPr algn="r" defTabSz="927045" eaLnBrk="0" hangingPunct="0">
              <a:defRPr sz="1200">
                <a:solidFill>
                  <a:schemeClr val="tx1"/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07D74794-10A3-4543-8402-B449F7E23ACE}" type="slidenum">
              <a:rPr lang="en-GB" altLang="nn-NO"/>
              <a:pPr>
                <a:defRPr/>
              </a:pPr>
              <a:t>‹#›</a:t>
            </a:fld>
            <a:endParaRPr lang="en-GB" altLang="nn-N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2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3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4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6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7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8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9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10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11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12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13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14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15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nb-N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16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17</a:t>
            </a:fld>
            <a:endParaRPr lang="en-GB" altLang="nn-NO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74794-10A3-4543-8402-B449F7E23ACE}" type="slidenum">
              <a:rPr lang="en-GB" altLang="nn-NO" smtClean="0"/>
              <a:pPr>
                <a:defRPr/>
              </a:pPr>
              <a:t>18</a:t>
            </a:fld>
            <a:endParaRPr lang="en-GB" altLang="nn-NO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mailto:vis.iti@visiti.no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2" descr="C:\Documents and Settings\hkvam\My Documents\Business\Prosjekter\Software Innovation\siBg.gif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-32" y="-24"/>
            <a:ext cx="9203133" cy="687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C:\Documents and Settings\hkvam\My Documents\Business\Prosjekter\Software Innovation\Bilder\Logo\logo_for_web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539750" y="2561917"/>
            <a:ext cx="3673475" cy="1137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11"/>
          <p:cNvCxnSpPr>
            <a:cxnSpLocks noChangeShapeType="1"/>
          </p:cNvCxnSpPr>
          <p:nvPr/>
        </p:nvCxnSpPr>
        <p:spPr bwMode="auto">
          <a:xfrm rot="5400000">
            <a:off x="3350419" y="3129756"/>
            <a:ext cx="2444750" cy="1588"/>
          </a:xfrm>
          <a:prstGeom prst="line">
            <a:avLst/>
          </a:prstGeom>
          <a:noFill/>
          <a:ln w="9525" algn="ctr">
            <a:solidFill>
              <a:schemeClr val="accent2"/>
            </a:solidFill>
            <a:round/>
            <a:headEnd/>
            <a:tailEnd/>
          </a:ln>
        </p:spPr>
      </p:cxnSp>
      <p:sp>
        <p:nvSpPr>
          <p:cNvPr id="12698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43439" y="2411323"/>
            <a:ext cx="3960812" cy="1017677"/>
          </a:xfrm>
        </p:spPr>
        <p:txBody>
          <a:bodyPr tIns="0" anchor="t"/>
          <a:lstStyle>
            <a:lvl1pPr>
              <a:defRPr sz="2800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altLang="nn-NO" noProof="0" smtClean="0"/>
              <a:t>Click to edit Master title style</a:t>
            </a:r>
            <a:endParaRPr lang="nb-NO" altLang="nn-NO" noProof="0" dirty="0"/>
          </a:p>
        </p:txBody>
      </p:sp>
      <p:sp>
        <p:nvSpPr>
          <p:cNvPr id="126999" name="Rectangle 2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643439" y="3429000"/>
            <a:ext cx="3960812" cy="792164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800">
                <a:solidFill>
                  <a:schemeClr val="accent3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subtitle style</a:t>
            </a:r>
            <a:endParaRPr lang="nb-NO" noProof="0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itchFamily="34" charset="0"/>
              <a:buChar char="•"/>
              <a:defRPr sz="2000" baseline="0">
                <a:solidFill>
                  <a:schemeClr val="accent3">
                    <a:lumMod val="50000"/>
                  </a:schemeClr>
                </a:solidFill>
              </a:defRPr>
            </a:lvl1pPr>
            <a:lvl2pPr>
              <a:buFont typeface="Arial" pitchFamily="34" charset="0"/>
              <a:buChar char="•"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 marL="714375" indent="-171450"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b-NO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773237"/>
            <a:ext cx="3956050" cy="4351337"/>
          </a:xfrm>
          <a:noFill/>
          <a:ln w="6350">
            <a:solidFill>
              <a:schemeClr val="bg1"/>
            </a:solidFill>
          </a:ln>
        </p:spPr>
        <p:txBody>
          <a:bodyPr/>
          <a:lstStyle>
            <a:lvl1pPr>
              <a:buFont typeface="Arial" pitchFamily="34" charset="0"/>
              <a:buChar char="•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0"/>
          </p:nvPr>
        </p:nvSpPr>
        <p:spPr>
          <a:xfrm>
            <a:off x="539750" y="1412875"/>
            <a:ext cx="3956050" cy="360363"/>
          </a:xfrm>
          <a:solidFill>
            <a:schemeClr val="accent3"/>
          </a:solidFill>
          <a:ln w="6350">
            <a:solidFill>
              <a:schemeClr val="bg1"/>
            </a:solidFill>
          </a:ln>
        </p:spPr>
        <p:txBody>
          <a:bodyPr anchor="ctr"/>
          <a:lstStyle>
            <a:lvl1pPr algn="ctr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/>
          </p:nvPr>
        </p:nvSpPr>
        <p:spPr>
          <a:xfrm>
            <a:off x="4648200" y="1773237"/>
            <a:ext cx="3956050" cy="4351337"/>
          </a:xfrm>
          <a:noFill/>
          <a:ln w="6350">
            <a:solidFill>
              <a:schemeClr val="bg1"/>
            </a:solidFill>
          </a:ln>
        </p:spPr>
        <p:txBody>
          <a:bodyPr/>
          <a:lstStyle>
            <a:lvl1pPr>
              <a:buFont typeface="Arial" pitchFamily="34" charset="0"/>
              <a:buChar char="•"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2"/>
          </p:nvPr>
        </p:nvSpPr>
        <p:spPr>
          <a:xfrm>
            <a:off x="4648200" y="1412875"/>
            <a:ext cx="3956050" cy="360363"/>
          </a:xfrm>
          <a:solidFill>
            <a:schemeClr val="accent3"/>
          </a:solidFill>
          <a:ln w="6350">
            <a:solidFill>
              <a:schemeClr val="bg1"/>
            </a:solidFill>
          </a:ln>
        </p:spPr>
        <p:txBody>
          <a:bodyPr anchor="ctr"/>
          <a:lstStyle>
            <a:lvl1pPr algn="ctr">
              <a:buFontTx/>
              <a:buNone/>
              <a:defRPr sz="1600" b="1" baseline="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Arial" pitchFamily="34" charset="0"/>
              <a:buChar char="•"/>
              <a:defRPr sz="2000" baseline="0">
                <a:solidFill>
                  <a:schemeClr val="accent3">
                    <a:lumMod val="50000"/>
                  </a:schemeClr>
                </a:solidFill>
              </a:defRPr>
            </a:lvl1pPr>
            <a:lvl2pPr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accent3">
                    <a:lumMod val="50000"/>
                  </a:schemeClr>
                </a:solidFill>
              </a:defRPr>
            </a:lvl3pPr>
            <a:lvl4pPr marL="714375" indent="-171450"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b-NO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gnatur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000100" y="2071678"/>
            <a:ext cx="7286676" cy="3071834"/>
          </a:xfrm>
          <a:prstGeom prst="rect">
            <a:avLst/>
          </a:prstGeom>
          <a:noFill/>
        </p:spPr>
        <p:txBody>
          <a:bodyPr wrap="square" lIns="72000" rIns="72000" rtlCol="0" anchor="ctr">
            <a:noAutofit/>
          </a:bodyPr>
          <a:lstStyle/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r>
              <a:rPr lang="nb-NO" sz="2000" b="1" dirty="0" smtClean="0">
                <a:solidFill>
                  <a:schemeClr val="tx1"/>
                </a:solidFill>
                <a:latin typeface="Adobe Garamond Pro" pitchFamily="18" charset="0"/>
              </a:rPr>
              <a:t>Vis </a:t>
            </a:r>
            <a:r>
              <a:rPr lang="nb-NO" sz="2000" b="1" dirty="0" err="1" smtClean="0">
                <a:solidFill>
                  <a:schemeClr val="tx1"/>
                </a:solidFill>
                <a:latin typeface="Adobe Garamond Pro" pitchFamily="18" charset="0"/>
              </a:rPr>
              <a:t>Iti</a:t>
            </a:r>
            <a:endParaRPr lang="nb-NO" sz="2000" b="1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r>
              <a:rPr lang="nb-NO" sz="2000" b="0" dirty="0" smtClean="0">
                <a:solidFill>
                  <a:schemeClr val="tx1"/>
                </a:solidFill>
                <a:latin typeface="Adobe Garamond Pro" pitchFamily="18" charset="0"/>
              </a:rPr>
              <a:t>Senior konsulent</a:t>
            </a:r>
            <a:endParaRPr lang="nb-NO" sz="2000" b="0" baseline="0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r>
              <a:rPr lang="nb-NO" sz="1800" b="0" spc="300" baseline="0" dirty="0" smtClean="0">
                <a:solidFill>
                  <a:schemeClr val="tx1"/>
                </a:solidFill>
                <a:latin typeface="Adobe Garamond Pro" pitchFamily="18" charset="0"/>
              </a:rPr>
              <a:t>+</a:t>
            </a:r>
            <a:r>
              <a:rPr lang="nb-NO" sz="1800" b="0" spc="0" baseline="0" dirty="0" smtClean="0">
                <a:solidFill>
                  <a:schemeClr val="tx1"/>
                </a:solidFill>
                <a:latin typeface="Adobe Garamond Pro" pitchFamily="18" charset="0"/>
              </a:rPr>
              <a:t>47 000 00 00</a:t>
            </a: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r>
              <a:rPr lang="nb-NO" sz="2000" b="0" baseline="0" dirty="0" err="1" smtClean="0">
                <a:solidFill>
                  <a:schemeClr val="tx1"/>
                </a:solidFill>
                <a:latin typeface="Adobe Garamond Pro" pitchFamily="18" charset="0"/>
                <a:hlinkClick r:id="rId2"/>
              </a:rPr>
              <a:t>vis.iti@visiti.no</a:t>
            </a:r>
            <a:endParaRPr lang="nb-NO" sz="2000" b="0" baseline="0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endParaRPr lang="nb-NO" sz="2000" b="0" baseline="0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endParaRPr lang="nb-NO" sz="2000" b="0" baseline="0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endParaRPr lang="nb-NO" sz="2000" b="0" baseline="0" dirty="0" smtClean="0">
              <a:solidFill>
                <a:schemeClr val="tx1"/>
              </a:solidFill>
              <a:latin typeface="Adobe Garamond Pro" pitchFamily="18" charset="0"/>
            </a:endParaRPr>
          </a:p>
          <a:p>
            <a:pPr marL="180975" marR="0" indent="-180975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/>
            </a:pPr>
            <a:r>
              <a:rPr lang="nb-NO" sz="1200" b="0" kern="1200" dirty="0" smtClean="0">
                <a:solidFill>
                  <a:schemeClr val="tx1"/>
                </a:solidFill>
                <a:latin typeface="Adobe Garamond Pro" pitchFamily="18" charset="0"/>
                <a:ea typeface="+mn-ea"/>
                <a:cs typeface="Arial" charset="0"/>
              </a:rPr>
              <a:t>VISITI AS </a:t>
            </a:r>
          </a:p>
          <a:p>
            <a:pPr marL="180975" marR="0" indent="-180975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/>
            </a:pPr>
            <a:r>
              <a:rPr lang="nb-NO" sz="1200" b="0" kern="1200" dirty="0" smtClean="0">
                <a:solidFill>
                  <a:schemeClr val="tx1"/>
                </a:solidFill>
                <a:latin typeface="Adobe Garamond Pro" pitchFamily="18" charset="0"/>
                <a:ea typeface="+mn-ea"/>
                <a:cs typeface="Arial" charset="0"/>
              </a:rPr>
              <a:t>PHILIP</a:t>
            </a:r>
            <a:r>
              <a:rPr lang="nb-NO" sz="1200" b="0" kern="1200" baseline="0" dirty="0" smtClean="0">
                <a:solidFill>
                  <a:schemeClr val="tx1"/>
                </a:solidFill>
                <a:latin typeface="Adobe Garamond Pro" pitchFamily="18" charset="0"/>
                <a:ea typeface="+mn-ea"/>
                <a:cs typeface="Arial" charset="0"/>
              </a:rPr>
              <a:t> PEDERSENS VEI 1, 1366 LYSAKER. WWW.VISITI.NO</a:t>
            </a:r>
            <a:endParaRPr lang="nb-NO" sz="1200" b="0" kern="1200" dirty="0" smtClean="0">
              <a:solidFill>
                <a:schemeClr val="tx1"/>
              </a:solidFill>
              <a:latin typeface="Adobe Garamond Pro" pitchFamily="18" charset="0"/>
              <a:ea typeface="+mn-ea"/>
              <a:cs typeface="Arial" charset="0"/>
            </a:endParaRPr>
          </a:p>
          <a:p>
            <a:pPr marL="180975" indent="-180975" algn="ctr">
              <a:buClr>
                <a:srgbClr val="C00000"/>
              </a:buClr>
              <a:buFont typeface="Wingdings" pitchFamily="2" charset="2"/>
              <a:buNone/>
            </a:pPr>
            <a:endParaRPr lang="nb-NO" sz="2000" b="0" dirty="0" smtClean="0">
              <a:solidFill>
                <a:schemeClr val="tx1"/>
              </a:solidFill>
              <a:latin typeface="Adobe Garamond Pro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 bwMode="auto">
          <a:xfrm>
            <a:off x="466725" y="260350"/>
            <a:ext cx="8210550" cy="792163"/>
          </a:xfrm>
          <a:prstGeom prst="roundRect">
            <a:avLst>
              <a:gd name="adj" fmla="val 8614"/>
            </a:avLst>
          </a:prstGeom>
          <a:solidFill>
            <a:schemeClr val="accent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en-US" sz="1400" dirty="0">
              <a:cs typeface="+mn-cs"/>
            </a:endParaRP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260350"/>
            <a:ext cx="821055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45720" rIns="72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n-NO" smtClean="0"/>
              <a:t>Click to edit Master title style</a:t>
            </a:r>
            <a:endParaRPr lang="en-GB" altLang="nn-NO" dirty="0" smtClean="0"/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12875"/>
            <a:ext cx="8064500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dirty="0" smtClean="0"/>
          </a:p>
        </p:txBody>
      </p:sp>
      <p:sp>
        <p:nvSpPr>
          <p:cNvPr id="125968" name="Text Box 16"/>
          <p:cNvSpPr txBox="1">
            <a:spLocks noChangeArrowheads="1"/>
          </p:cNvSpPr>
          <p:nvPr/>
        </p:nvSpPr>
        <p:spPr bwMode="auto">
          <a:xfrm>
            <a:off x="466725" y="6381750"/>
            <a:ext cx="55340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2000" tIns="0" rIns="72000" bIns="0" anchor="b"/>
          <a:lstStyle/>
          <a:p>
            <a:pPr eaLnBrk="0" hangingPunct="0">
              <a:tabLst>
                <a:tab pos="3859213" algn="l"/>
              </a:tabLst>
              <a:defRPr/>
            </a:pPr>
            <a:endParaRPr lang="en-GB" sz="1000" b="1" i="1" dirty="0">
              <a:solidFill>
                <a:srgbClr val="A6A6A6"/>
              </a:solidFill>
              <a:latin typeface="Arial Narrow" pitchFamily="34" charset="0"/>
            </a:endParaRPr>
          </a:p>
        </p:txBody>
      </p:sp>
      <p:pic>
        <p:nvPicPr>
          <p:cNvPr id="1030" name="Picture 2" descr="C:\Documents and Settings\hkvam\My Documents\Business\Prosjekter\Software Innovation\Bilder\Logo\logo_for_web.jpg"/>
          <p:cNvPicPr>
            <a:picLocks noChangeAspect="1" noChangeArrowheads="1"/>
          </p:cNvPicPr>
          <p:nvPr/>
        </p:nvPicPr>
        <p:blipFill>
          <a:blip r:embed="rId8" cstate="print"/>
          <a:stretch>
            <a:fillRect/>
          </a:stretch>
        </p:blipFill>
        <p:spPr bwMode="auto">
          <a:xfrm>
            <a:off x="7693025" y="6252412"/>
            <a:ext cx="984250" cy="304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7"/>
          <p:cNvSpPr/>
          <p:nvPr/>
        </p:nvSpPr>
        <p:spPr bwMode="auto">
          <a:xfrm>
            <a:off x="500063" y="1071563"/>
            <a:ext cx="8099425" cy="17462"/>
          </a:xfrm>
          <a:prstGeom prst="rect">
            <a:avLst/>
          </a:prstGeom>
          <a:solidFill>
            <a:schemeClr val="accent2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en-US" sz="1400" dirty="0"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466725" y="6396038"/>
            <a:ext cx="7105650" cy="17462"/>
          </a:xfrm>
          <a:prstGeom prst="rect">
            <a:avLst/>
          </a:prstGeom>
          <a:solidFill>
            <a:schemeClr val="accent2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en-US" sz="1400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7" r:id="rId2"/>
    <p:sldLayoutId id="2147483719" r:id="rId3"/>
    <p:sldLayoutId id="2147483725" r:id="rId4"/>
    <p:sldLayoutId id="2147483724" r:id="rId5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4D4D4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4D4D4D"/>
          </a:solidFill>
          <a:latin typeface="Arial Narrow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4D4D4D"/>
          </a:solidFill>
          <a:latin typeface="Arial Narrow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4D4D4D"/>
          </a:solidFill>
          <a:latin typeface="Arial Narrow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rgbClr val="4D4D4D"/>
          </a:solidFill>
          <a:latin typeface="Arial Narrow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4D4D4D"/>
          </a:solidFill>
          <a:latin typeface="Arial Narrow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4D4D4D"/>
          </a:solidFill>
          <a:latin typeface="Arial Narrow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4D4D4D"/>
          </a:solidFill>
          <a:latin typeface="Arial Narrow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4D4D4D"/>
          </a:solidFill>
          <a:latin typeface="Arial Narrow" pitchFamily="34" charset="0"/>
        </a:defRPr>
      </a:lvl9pPr>
    </p:titleStyle>
    <p:bodyStyle>
      <a:lvl1pPr marL="180975" indent="-1809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400">
          <a:solidFill>
            <a:srgbClr val="454C50"/>
          </a:solidFill>
          <a:latin typeface="+mj-lt"/>
          <a:ea typeface="+mn-ea"/>
          <a:cs typeface="+mn-cs"/>
        </a:defRPr>
      </a:lvl1pPr>
      <a:lvl2pPr marL="361950" indent="-1809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Arial Narrow" pitchFamily="34" charset="0"/>
        <a:buChar char="–"/>
        <a:defRPr sz="2000">
          <a:solidFill>
            <a:srgbClr val="454C50"/>
          </a:solidFill>
          <a:latin typeface="+mj-lt"/>
        </a:defRPr>
      </a:lvl2pPr>
      <a:lvl3pPr marL="542925" indent="-1809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1600">
          <a:solidFill>
            <a:srgbClr val="454C50"/>
          </a:solidFill>
          <a:latin typeface="+mj-lt"/>
        </a:defRPr>
      </a:lvl3pPr>
      <a:lvl4pPr marL="714375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1400">
          <a:solidFill>
            <a:srgbClr val="454C50"/>
          </a:solidFill>
          <a:latin typeface="+mj-lt"/>
        </a:defRPr>
      </a:lvl4pPr>
      <a:lvl5pPr marL="895350" indent="-18097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1400">
          <a:solidFill>
            <a:srgbClr val="4D4D4D"/>
          </a:solidFill>
          <a:latin typeface="+mj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3388"/>
        </a:buClr>
        <a:buFont typeface="Arial" charset="0"/>
        <a:buChar char="-"/>
        <a:defRPr sz="1400">
          <a:solidFill>
            <a:srgbClr val="4D4D4D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3388"/>
        </a:buClr>
        <a:buFont typeface="Arial" charset="0"/>
        <a:buChar char="-"/>
        <a:defRPr sz="1400">
          <a:solidFill>
            <a:srgbClr val="4D4D4D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3388"/>
        </a:buClr>
        <a:buFont typeface="Arial" charset="0"/>
        <a:buChar char="-"/>
        <a:defRPr sz="1400">
          <a:solidFill>
            <a:srgbClr val="4D4D4D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3388"/>
        </a:buClr>
        <a:buFont typeface="Arial" charset="0"/>
        <a:buChar char="-"/>
        <a:defRPr sz="14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etup.com/opensso/calendar/12815255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ragna.fossen@gmail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visiti.n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IAM Infrastruktur, innføring og overlevering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4643439" y="3779844"/>
            <a:ext cx="3960812" cy="792164"/>
          </a:xfrm>
        </p:spPr>
        <p:txBody>
          <a:bodyPr/>
          <a:lstStyle/>
          <a:p>
            <a:r>
              <a:rPr lang="nb-NO" dirty="0" smtClean="0"/>
              <a:t>Ragna Fossen, 18.03.2010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Brukerorganisasjoner og leverandører av </a:t>
            </a:r>
            <a:r>
              <a:rPr lang="nb-NO" dirty="0" err="1" smtClean="0"/>
              <a:t>OpenSSO</a:t>
            </a:r>
            <a:r>
              <a:rPr lang="nb-NO" dirty="0" smtClean="0"/>
              <a:t> i Norge</a:t>
            </a:r>
          </a:p>
          <a:p>
            <a:r>
              <a:rPr lang="nb-NO" dirty="0" smtClean="0"/>
              <a:t>Etablert høsten 2009</a:t>
            </a:r>
          </a:p>
          <a:p>
            <a:endParaRPr lang="nb-NO" dirty="0" smtClean="0"/>
          </a:p>
          <a:p>
            <a:r>
              <a:rPr lang="nb-NO" dirty="0" smtClean="0"/>
              <a:t>Hva er </a:t>
            </a:r>
            <a:r>
              <a:rPr lang="nb-NO" dirty="0" err="1" smtClean="0"/>
              <a:t>OpenSSO</a:t>
            </a:r>
            <a:r>
              <a:rPr lang="nb-NO" dirty="0" smtClean="0"/>
              <a:t>?</a:t>
            </a:r>
          </a:p>
          <a:p>
            <a:r>
              <a:rPr lang="nb-NO" dirty="0" smtClean="0"/>
              <a:t>Hvem bruker </a:t>
            </a:r>
            <a:r>
              <a:rPr lang="nb-NO" dirty="0" err="1" smtClean="0"/>
              <a:t>OpenSSO</a:t>
            </a:r>
            <a:r>
              <a:rPr lang="nb-NO" dirty="0" smtClean="0"/>
              <a:t>?</a:t>
            </a:r>
          </a:p>
          <a:p>
            <a:r>
              <a:rPr lang="nb-NO" dirty="0" smtClean="0"/>
              <a:t>Hvem eier </a:t>
            </a:r>
            <a:r>
              <a:rPr lang="nb-NO" dirty="0" err="1" smtClean="0"/>
              <a:t>OpenSSO</a:t>
            </a:r>
            <a:r>
              <a:rPr lang="nb-NO" dirty="0" smtClean="0"/>
              <a:t>?</a:t>
            </a:r>
          </a:p>
          <a:p>
            <a:r>
              <a:rPr lang="nb-NO" dirty="0" smtClean="0"/>
              <a:t>Hvem </a:t>
            </a:r>
            <a:r>
              <a:rPr lang="nb-NO" dirty="0" err="1" smtClean="0"/>
              <a:t>supporterer</a:t>
            </a:r>
            <a:r>
              <a:rPr lang="nb-NO" dirty="0" smtClean="0"/>
              <a:t> </a:t>
            </a:r>
            <a:r>
              <a:rPr lang="nb-NO" dirty="0" err="1" smtClean="0"/>
              <a:t>OpenSSO</a:t>
            </a:r>
            <a:r>
              <a:rPr lang="nb-NO" dirty="0" smtClean="0"/>
              <a:t>?</a:t>
            </a:r>
          </a:p>
          <a:p>
            <a:endParaRPr lang="nb-NO" dirty="0" smtClean="0"/>
          </a:p>
          <a:p>
            <a:r>
              <a:rPr lang="nb-NO" dirty="0" smtClean="0"/>
              <a:t>Neste brukergruppemøte er torsdag 22. april, meld deg på</a:t>
            </a:r>
          </a:p>
          <a:p>
            <a:pPr lvl="1"/>
            <a:r>
              <a:rPr lang="nb-NO" sz="1400" dirty="0" smtClean="0">
                <a:hlinkClick r:id="rId3"/>
              </a:rPr>
              <a:t>http://www.meetup.com/opensso/calendar/12815255/</a:t>
            </a:r>
            <a:endParaRPr lang="nb-NO" sz="1400" dirty="0" smtClean="0"/>
          </a:p>
          <a:p>
            <a:pPr lvl="1"/>
            <a:endParaRPr lang="nb-NO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OpenSSO</a:t>
            </a:r>
            <a:r>
              <a:rPr lang="nb-NO" dirty="0" smtClean="0"/>
              <a:t> </a:t>
            </a:r>
            <a:r>
              <a:rPr lang="nb-NO" dirty="0" err="1" smtClean="0"/>
              <a:t>User</a:t>
            </a:r>
            <a:r>
              <a:rPr lang="nb-NO" dirty="0" smtClean="0"/>
              <a:t> Group Norge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260350"/>
            <a:ext cx="8210550" cy="792163"/>
          </a:xfrm>
        </p:spPr>
        <p:txBody>
          <a:bodyPr/>
          <a:lstStyle/>
          <a:p>
            <a:r>
              <a:rPr lang="nb-NO" dirty="0" smtClean="0"/>
              <a:t>Innhold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Hva</a:t>
            </a:r>
            <a:r>
              <a:rPr lang="en-US" dirty="0" smtClean="0"/>
              <a:t> </a:t>
            </a:r>
            <a:r>
              <a:rPr lang="en-US" dirty="0" err="1" smtClean="0"/>
              <a:t>er</a:t>
            </a:r>
            <a:r>
              <a:rPr lang="en-US" dirty="0" smtClean="0"/>
              <a:t> IAM?</a:t>
            </a:r>
          </a:p>
          <a:p>
            <a:pPr lvl="0"/>
            <a:endParaRPr lang="en-US" dirty="0" smtClean="0"/>
          </a:p>
          <a:p>
            <a:pPr lvl="0"/>
            <a:r>
              <a:rPr lang="en-US" dirty="0" err="1" smtClean="0"/>
              <a:t>Hva</a:t>
            </a:r>
            <a:r>
              <a:rPr lang="en-US" dirty="0" smtClean="0"/>
              <a:t> </a:t>
            </a:r>
            <a:r>
              <a:rPr lang="en-US" dirty="0" err="1" smtClean="0"/>
              <a:t>trenger</a:t>
            </a:r>
            <a:r>
              <a:rPr lang="en-US" dirty="0" smtClean="0"/>
              <a:t> vi </a:t>
            </a:r>
            <a:r>
              <a:rPr lang="en-US" dirty="0" err="1" smtClean="0"/>
              <a:t>av</a:t>
            </a:r>
            <a:endParaRPr lang="en-US" dirty="0" smtClean="0"/>
          </a:p>
          <a:p>
            <a:pPr lvl="1"/>
            <a:r>
              <a:rPr lang="en-US" dirty="0" err="1" smtClean="0"/>
              <a:t>Infrastruktur</a:t>
            </a:r>
            <a:endParaRPr lang="en-US" dirty="0" smtClean="0"/>
          </a:p>
          <a:p>
            <a:pPr lvl="1"/>
            <a:r>
              <a:rPr lang="en-US" dirty="0" err="1" smtClean="0"/>
              <a:t>Innføringsplaner</a:t>
            </a:r>
            <a:endParaRPr lang="en-US" dirty="0" smtClean="0"/>
          </a:p>
          <a:p>
            <a:pPr lvl="1"/>
            <a:r>
              <a:rPr lang="en-US" dirty="0" err="1" smtClean="0"/>
              <a:t>Overleveringsaktiviteter</a:t>
            </a: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Single </a:t>
            </a:r>
            <a:r>
              <a:rPr lang="nb-NO" dirty="0" err="1" smtClean="0"/>
              <a:t>Sign-On</a:t>
            </a:r>
            <a:r>
              <a:rPr lang="nb-NO" dirty="0" smtClean="0"/>
              <a:t> – løsninger der brukeren får tilgang til flere separate systemer ved å logge seg på en gang.</a:t>
            </a:r>
          </a:p>
          <a:p>
            <a:endParaRPr lang="nb-NO" dirty="0" smtClean="0"/>
          </a:p>
          <a:p>
            <a:r>
              <a:rPr lang="nb-NO" dirty="0" smtClean="0"/>
              <a:t>Føderering – løsninger som tilbyr SSO på tvers av organisasjoner/sikkerhetsdomener. Den åpne standarden SAMLv2 er mye brukt.</a:t>
            </a:r>
          </a:p>
          <a:p>
            <a:endParaRPr lang="nb-NO" dirty="0" smtClean="0"/>
          </a:p>
          <a:p>
            <a:r>
              <a:rPr lang="nb-NO" dirty="0" smtClean="0"/>
              <a:t>Baserer seg på prinsippet om IDP og SP – </a:t>
            </a:r>
            <a:r>
              <a:rPr lang="nb-NO" dirty="0" err="1" smtClean="0"/>
              <a:t>Identity</a:t>
            </a:r>
            <a:r>
              <a:rPr lang="nb-NO" dirty="0" smtClean="0"/>
              <a:t> Provider og Service Provider. Autentiseringslaget flyttes ut av applikasjonen.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Føderering og Single </a:t>
            </a:r>
            <a:r>
              <a:rPr lang="nb-NO" dirty="0" err="1" smtClean="0"/>
              <a:t>Sign-On</a:t>
            </a:r>
            <a:r>
              <a:rPr lang="nb-NO" dirty="0" smtClean="0"/>
              <a:t> - Hva er det?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Føderering – SAML2</a:t>
            </a:r>
            <a:endParaRPr lang="nb-NO" dirty="0"/>
          </a:p>
        </p:txBody>
      </p:sp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309688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62025" y="1262063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6762" y="1257315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66762" y="1262048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6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66762" y="1266810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7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66762" y="1262048"/>
            <a:ext cx="7200900" cy="423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Identity</a:t>
            </a:r>
            <a:r>
              <a:rPr lang="nb-NO" dirty="0" smtClean="0"/>
              <a:t> Management – hva er det?</a:t>
            </a:r>
            <a:endParaRPr lang="nb-NO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539750" y="1357298"/>
            <a:ext cx="7032646" cy="4767276"/>
          </a:xfrm>
        </p:spPr>
        <p:txBody>
          <a:bodyPr/>
          <a:lstStyle/>
          <a:p>
            <a:pPr>
              <a:buNone/>
            </a:pPr>
            <a:endParaRPr lang="nb-NO" dirty="0" smtClean="0"/>
          </a:p>
          <a:p>
            <a:r>
              <a:rPr lang="nb-NO" dirty="0" smtClean="0"/>
              <a:t>Hovedprinsippet er at man har en autoritativ kilde til brukerdata, som ligger til grunn for alle endringer i brukerdata i andre systemer</a:t>
            </a:r>
          </a:p>
          <a:p>
            <a:pPr>
              <a:buNone/>
            </a:pPr>
            <a:endParaRPr lang="nb-NO" dirty="0" smtClean="0"/>
          </a:p>
          <a:p>
            <a:r>
              <a:rPr lang="nb-NO" dirty="0" smtClean="0"/>
              <a:t>Bruker standard teknologi for å kommunisere med tilknyttede systemer</a:t>
            </a:r>
          </a:p>
          <a:p>
            <a:endParaRPr lang="nb-NO" dirty="0" smtClean="0"/>
          </a:p>
          <a:p>
            <a:r>
              <a:rPr lang="nb-NO" dirty="0" smtClean="0"/>
              <a:t>Oppdaterer (</a:t>
            </a:r>
            <a:r>
              <a:rPr lang="nb-NO" dirty="0" err="1" smtClean="0"/>
              <a:t>provisjonerer</a:t>
            </a:r>
            <a:r>
              <a:rPr lang="nb-NO" dirty="0" smtClean="0"/>
              <a:t>) brukerdata automatisk basert på autoritativ kilde (gjerne et </a:t>
            </a:r>
            <a:r>
              <a:rPr lang="nb-NO" dirty="0" err="1" smtClean="0"/>
              <a:t>HR-system</a:t>
            </a:r>
            <a:r>
              <a:rPr lang="nb-NO" dirty="0" smtClean="0"/>
              <a:t>)</a:t>
            </a:r>
          </a:p>
          <a:p>
            <a:endParaRPr lang="nb-NO" dirty="0" smtClean="0"/>
          </a:p>
          <a:p>
            <a:r>
              <a:rPr lang="nb-NO" dirty="0" smtClean="0"/>
              <a:t>Samler all informasjon om endringer i brukerdata til rapportering og avviksdeteksjon</a:t>
            </a:r>
          </a:p>
          <a:p>
            <a:endParaRPr lang="nb-NO" dirty="0" smtClean="0"/>
          </a:p>
          <a:p>
            <a:r>
              <a:rPr lang="nb-NO" dirty="0" smtClean="0"/>
              <a:t>Tilbyr brukergrensesnitt for administrasjon og </a:t>
            </a:r>
            <a:r>
              <a:rPr lang="nb-NO" dirty="0" err="1" smtClean="0"/>
              <a:t>self</a:t>
            </a:r>
            <a:r>
              <a:rPr lang="nb-NO" dirty="0" smtClean="0"/>
              <a:t> service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nb-NO"/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0" y="0"/>
          <a:ext cx="6457950" cy="6275387"/>
        </p:xfrm>
        <a:graphic>
          <a:graphicData uri="http://schemas.openxmlformats.org/presentationml/2006/ole">
            <p:oleObj spid="_x0000_s7173" name="Visio" r:id="rId4" imgW="6461808" imgH="6258782" progId="Visio.Drawing.11">
              <p:embed/>
            </p:oleObj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-32" y="-24"/>
          <a:ext cx="6457950" cy="6275388"/>
        </p:xfrm>
        <a:graphic>
          <a:graphicData uri="http://schemas.openxmlformats.org/presentationml/2006/ole">
            <p:oleObj spid="_x0000_s7174" name="Visio" r:id="rId5" imgW="6461808" imgH="6258782" progId="Visio.Drawing.11">
              <p:embed/>
            </p:oleObj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-32" y="-24"/>
          <a:ext cx="6457950" cy="6275388"/>
        </p:xfrm>
        <a:graphic>
          <a:graphicData uri="http://schemas.openxmlformats.org/presentationml/2006/ole">
            <p:oleObj spid="_x0000_s7175" name="Visio" r:id="rId6" imgW="6461808" imgH="6258782" progId="Visio.Drawing.11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5" name="Object 1"/>
          <p:cNvGraphicFramePr>
            <a:graphicFrameLocks noChangeAspect="1"/>
          </p:cNvGraphicFramePr>
          <p:nvPr/>
        </p:nvGraphicFramePr>
        <p:xfrm>
          <a:off x="0" y="285728"/>
          <a:ext cx="7425304" cy="5857916"/>
        </p:xfrm>
        <a:graphic>
          <a:graphicData uri="http://schemas.openxmlformats.org/presentationml/2006/ole">
            <p:oleObj spid="_x0000_s6145" name="Visio" r:id="rId4" imgW="7422428" imgH="5849231" progId="Visio.Drawing.11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Infrastruktur for utvikling av en IDP</a:t>
            </a:r>
            <a:endParaRPr lang="nb-NO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b-NO" dirty="0" smtClean="0"/>
              <a:t>Utviklingsmiljø</a:t>
            </a:r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r>
              <a:rPr lang="nb-NO" dirty="0" smtClean="0"/>
              <a:t>Systemtestmiljø</a:t>
            </a:r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endParaRPr lang="nb-NO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nb-NO" dirty="0" smtClean="0"/>
              <a:t>Utvikling</a:t>
            </a:r>
            <a:endParaRPr lang="nb-NO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r>
              <a:rPr lang="nb-NO" dirty="0" err="1" smtClean="0"/>
              <a:t>Akseptansetestmiljø</a:t>
            </a:r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 smtClean="0"/>
          </a:p>
          <a:p>
            <a:r>
              <a:rPr lang="nb-NO" dirty="0" smtClean="0"/>
              <a:t>Produksjonsmiljø</a:t>
            </a:r>
          </a:p>
          <a:p>
            <a:endParaRPr lang="nb-NO" dirty="0" smtClean="0"/>
          </a:p>
          <a:p>
            <a:endParaRPr lang="nb-NO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nb-NO" dirty="0" smtClean="0"/>
              <a:t>Leveranser</a:t>
            </a:r>
            <a:endParaRPr lang="nb-NO" dirty="0"/>
          </a:p>
        </p:txBody>
      </p:sp>
      <p:sp>
        <p:nvSpPr>
          <p:cNvPr id="7" name="Content Placeholder 1"/>
          <p:cNvSpPr txBox="1">
            <a:spLocks/>
          </p:cNvSpPr>
          <p:nvPr/>
        </p:nvSpPr>
        <p:spPr bwMode="auto">
          <a:xfrm>
            <a:off x="500034" y="1785926"/>
            <a:ext cx="3956050" cy="4351337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nb-NO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Eventuelt ytelsestestmiljø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nb-NO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Eventuelt integrasjonstestmiljø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Content Placeholder 4"/>
          <p:cNvSpPr txBox="1">
            <a:spLocks/>
          </p:cNvSpPr>
          <p:nvPr/>
        </p:nvSpPr>
        <p:spPr bwMode="auto">
          <a:xfrm>
            <a:off x="4608484" y="1785926"/>
            <a:ext cx="3956050" cy="4351337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nb-NO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Eventuelt verifikasjonsmiljø for produksjon</a:t>
            </a: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Content Placeholder 1"/>
          <p:cNvSpPr txBox="1">
            <a:spLocks/>
          </p:cNvSpPr>
          <p:nvPr/>
        </p:nvSpPr>
        <p:spPr bwMode="auto">
          <a:xfrm>
            <a:off x="500034" y="1785926"/>
            <a:ext cx="3956050" cy="4351337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U-IDP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U-SP1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U-SP2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S-IDP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S-SP1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S-SP2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nb-NO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Eventuelt ytelsestestmiljø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Y-IDP, Y-SP1 (Dummy), Y-SP2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I-IDP, I-SP1 (Dummy), I-SP2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 bwMode="auto">
          <a:xfrm>
            <a:off x="4608484" y="1785926"/>
            <a:ext cx="3956050" cy="4351337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A-IDP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A-SP1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A-SP2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P-IDP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P-SP1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P-SP2 (Dummy)</a:t>
            </a:r>
          </a:p>
          <a:p>
            <a:pPr marL="361950" marR="0" lvl="1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 Narrow" pitchFamily="34" charset="0"/>
              <a:buChar char="–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2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6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</a:endParaRPr>
          </a:p>
          <a:p>
            <a:pPr marL="361950" marR="0" lvl="2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lang="nb-NO" kern="0" dirty="0" smtClean="0">
              <a:solidFill>
                <a:srgbClr val="454C50"/>
              </a:solidFill>
              <a:latin typeface="+mj-lt"/>
            </a:endParaRPr>
          </a:p>
          <a:p>
            <a:pPr marL="361950" marR="0" lvl="2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nb-NO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454C50"/>
                </a:solidFill>
                <a:effectLst/>
                <a:uLnTx/>
                <a:uFillTx/>
                <a:latin typeface="+mj-lt"/>
              </a:rPr>
              <a:t>V-IDP, V-SP1 (Dummy), V-SP2 (Dummy)</a:t>
            </a: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180975" marR="0" lvl="0" indent="-1809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nb-NO" sz="1800" b="0" i="0" u="none" strike="noStrike" kern="0" cap="none" spc="0" normalizeH="0" baseline="0" noProof="0" dirty="0" smtClean="0">
              <a:ln>
                <a:noFill/>
              </a:ln>
              <a:solidFill>
                <a:srgbClr val="454C5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57488" y="2285992"/>
            <a:ext cx="4000528" cy="2428892"/>
          </a:xfrm>
          <a:prstGeom prst="rect">
            <a:avLst/>
          </a:prstGeom>
          <a:solidFill>
            <a:srgbClr val="FFFFFF">
              <a:alpha val="75000"/>
            </a:srgbClr>
          </a:solidFill>
          <a:ln w="15875">
            <a:solidFill>
              <a:schemeClr val="accent2"/>
            </a:solidFill>
          </a:ln>
        </p:spPr>
        <p:txBody>
          <a:bodyPr wrap="square" rtlCol="0" anchor="ctr">
            <a:noAutofit/>
          </a:bodyPr>
          <a:lstStyle/>
          <a:p>
            <a:r>
              <a:rPr lang="nb-NO" sz="1400" b="1" dirty="0" smtClean="0">
                <a:solidFill>
                  <a:schemeClr val="tx1"/>
                </a:solidFill>
                <a:latin typeface="+mj-lt"/>
              </a:rPr>
              <a:t>IDP (4-7 stk)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Proxy og lastbalansering,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Applikasjon med redundans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err="1" smtClean="0">
                <a:solidFill>
                  <a:schemeClr val="tx1"/>
                </a:solidFill>
                <a:latin typeface="+mj-lt"/>
              </a:rPr>
              <a:t>Brukerrepository</a:t>
            </a: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 med redundans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err="1" smtClean="0">
                <a:solidFill>
                  <a:schemeClr val="tx1"/>
                </a:solidFill>
                <a:latin typeface="+mj-lt"/>
              </a:rPr>
              <a:t>Evt</a:t>
            </a: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 kobling med sertifikatutstedere</a:t>
            </a:r>
          </a:p>
          <a:p>
            <a:endParaRPr lang="nb-NO" sz="1400" dirty="0" smtClean="0">
              <a:solidFill>
                <a:schemeClr val="tx1"/>
              </a:solidFill>
              <a:latin typeface="+mj-lt"/>
            </a:endParaRPr>
          </a:p>
          <a:p>
            <a:r>
              <a:rPr lang="nb-NO" sz="1400" b="1" dirty="0" smtClean="0">
                <a:solidFill>
                  <a:schemeClr val="tx1"/>
                </a:solidFill>
                <a:latin typeface="+mj-lt"/>
              </a:rPr>
              <a:t>SP (8-14 stk)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Applikasjon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Database</a:t>
            </a:r>
          </a:p>
          <a:p>
            <a:pPr>
              <a:buFont typeface="Arial" pitchFamily="34" charset="0"/>
              <a:buChar char="•"/>
            </a:pPr>
            <a:r>
              <a:rPr lang="nb-NO" sz="1400" dirty="0" err="1" smtClean="0">
                <a:solidFill>
                  <a:schemeClr val="tx1"/>
                </a:solidFill>
                <a:latin typeface="+mj-lt"/>
              </a:rPr>
              <a:t>Evt</a:t>
            </a: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nb-NO" sz="1400" dirty="0" err="1" smtClean="0">
                <a:solidFill>
                  <a:schemeClr val="tx1"/>
                </a:solidFill>
                <a:latin typeface="+mj-lt"/>
              </a:rPr>
              <a:t>proxy</a:t>
            </a:r>
            <a:r>
              <a:rPr lang="nb-NO" sz="1400" dirty="0" smtClean="0">
                <a:solidFill>
                  <a:schemeClr val="tx1"/>
                </a:solidFill>
                <a:latin typeface="+mj-lt"/>
              </a:rPr>
              <a:t>, lastbalansering og redundans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093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Anbefalinger for infrastruktur</a:t>
            </a:r>
            <a:endParaRPr lang="nb-NO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Still eksplisitte </a:t>
            </a:r>
            <a:r>
              <a:rPr lang="nb-NO" dirty="0" err="1" smtClean="0"/>
              <a:t>infrastruktur-krav</a:t>
            </a:r>
            <a:r>
              <a:rPr lang="nb-NO" dirty="0" smtClean="0"/>
              <a:t> til leverandøren før du kjøper et implementeringsprosjekt</a:t>
            </a:r>
          </a:p>
          <a:p>
            <a:r>
              <a:rPr lang="nb-NO" dirty="0" smtClean="0"/>
              <a:t>Planlegg konfigurasjonsstyring og automatisering av </a:t>
            </a:r>
            <a:r>
              <a:rPr lang="nb-NO" dirty="0" err="1" smtClean="0"/>
              <a:t>deployment</a:t>
            </a:r>
            <a:r>
              <a:rPr lang="nb-NO" dirty="0" smtClean="0"/>
              <a:t> nøye før du starter implementeringsprosjektet</a:t>
            </a:r>
          </a:p>
          <a:p>
            <a:r>
              <a:rPr lang="nb-NO" dirty="0" smtClean="0"/>
              <a:t>Test </a:t>
            </a:r>
            <a:r>
              <a:rPr lang="nb-NO" dirty="0" err="1" smtClean="0"/>
              <a:t>deployment</a:t>
            </a:r>
            <a:r>
              <a:rPr lang="nb-NO" dirty="0" smtClean="0"/>
              <a:t> inkludert </a:t>
            </a:r>
            <a:r>
              <a:rPr lang="nb-NO" dirty="0" err="1" smtClean="0"/>
              <a:t>oppdateringsdeployment</a:t>
            </a:r>
            <a:r>
              <a:rPr lang="nb-NO" dirty="0" smtClean="0"/>
              <a:t> grundig som del av </a:t>
            </a:r>
            <a:r>
              <a:rPr lang="nb-NO" dirty="0" err="1" smtClean="0"/>
              <a:t>akseptansetesten</a:t>
            </a:r>
            <a:r>
              <a:rPr lang="nb-NO" dirty="0" smtClean="0"/>
              <a:t> for implementeringsprosjektet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Innføring av fødereringsløsning for en SP</a:t>
            </a:r>
            <a:endParaRPr lang="nb-NO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Utviklingsmiljø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Systemtestmiljø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err="1" smtClean="0"/>
              <a:t>Akseptansetestmiljø</a:t>
            </a:r>
            <a:endParaRPr lang="nb-NO" dirty="0" smtClean="0"/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</a:t>
            </a:r>
          </a:p>
          <a:p>
            <a:pPr marL="342900" indent="-342900">
              <a:buNone/>
            </a:pPr>
            <a:endParaRPr lang="nb-NO" dirty="0" smtClean="0"/>
          </a:p>
          <a:p>
            <a:pPr marL="342900" indent="-342900">
              <a:buNone/>
            </a:pPr>
            <a:r>
              <a:rPr lang="nb-NO" dirty="0" smtClean="0"/>
              <a:t>”LANSERING av SP”</a:t>
            </a:r>
            <a:endParaRPr lang="nb-NO" dirty="0"/>
          </a:p>
        </p:txBody>
      </p:sp>
      <p:sp>
        <p:nvSpPr>
          <p:cNvPr id="14" name="Content Placeholder 1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nb-NO" dirty="0" smtClean="0"/>
              <a:t>SP</a:t>
            </a:r>
            <a:endParaRPr lang="nb-NO" dirty="0"/>
          </a:p>
        </p:txBody>
      </p:sp>
      <p:sp>
        <p:nvSpPr>
          <p:cNvPr id="15" name="Content Placeholder 1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Dummy IDP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nb-NO" dirty="0" smtClean="0"/>
              <a:t>IDP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Endring av fødereringsløsning for en SP</a:t>
            </a:r>
            <a:endParaRPr lang="nb-NO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Utviklingsmiljø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Systemtestmiljø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err="1" smtClean="0"/>
              <a:t>Akseptansetestmiljø</a:t>
            </a:r>
            <a:endParaRPr lang="nb-NO" dirty="0" smtClean="0"/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 (i aktiv bruk)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nb-NO" dirty="0" smtClean="0"/>
              <a:t>SP</a:t>
            </a:r>
            <a:endParaRPr lang="nb-NO" dirty="0"/>
          </a:p>
        </p:txBody>
      </p:sp>
      <p:sp>
        <p:nvSpPr>
          <p:cNvPr id="15" name="Content Placeholder 1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nb-NO" dirty="0" smtClean="0"/>
              <a:t>IDP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Endring av fødereringsløsning for en IDP</a:t>
            </a:r>
            <a:endParaRPr lang="nb-NO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Utviklingsmiljø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Systemtestmiljø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err="1" smtClean="0"/>
              <a:t>Akseptansetestmiljø</a:t>
            </a:r>
            <a:endParaRPr lang="nb-NO" dirty="0" smtClean="0"/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 og Verifikasjonsmiljø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nb-NO" dirty="0" smtClean="0"/>
              <a:t>IDP</a:t>
            </a:r>
            <a:endParaRPr lang="nb-NO" dirty="0"/>
          </a:p>
        </p:txBody>
      </p:sp>
      <p:sp>
        <p:nvSpPr>
          <p:cNvPr id="15" name="Content Placeholder 14"/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nb-NO" dirty="0" smtClean="0"/>
              <a:t>Dummy SP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Dummy SP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Testmiljø/Verifikasjonsmiljø</a:t>
            </a:r>
          </a:p>
          <a:p>
            <a:pPr marL="342900" indent="-342900">
              <a:buFont typeface="+mj-lt"/>
              <a:buAutoNum type="arabicPeriod"/>
            </a:pPr>
            <a:r>
              <a:rPr lang="nb-NO" dirty="0" smtClean="0"/>
              <a:t>Produksjonsmiljøer</a:t>
            </a:r>
          </a:p>
          <a:p>
            <a:pPr marL="342900" indent="-342900">
              <a:buFont typeface="+mj-lt"/>
              <a:buAutoNum type="arabicPeriod"/>
            </a:pPr>
            <a:endParaRPr lang="nb-NO" dirty="0"/>
          </a:p>
        </p:txBody>
      </p:sp>
      <p:sp>
        <p:nvSpPr>
          <p:cNvPr id="16" name="Content Placeholder 15"/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nb-NO" dirty="0" smtClean="0"/>
              <a:t>SP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Anbefalinger for innføring og endringsinnføring</a:t>
            </a:r>
            <a:endParaRPr lang="nb-NO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Sett opp tilstrekkelige prosjektaktiviteter til kommunikasjon mellom IDP og SP</a:t>
            </a:r>
          </a:p>
          <a:p>
            <a:r>
              <a:rPr lang="nb-NO" dirty="0" smtClean="0"/>
              <a:t>Planlegg nøye hvilke ressurspersoner som skal delta i aktivitetene. Du trenger brannmurfolk, nettverksfolk, applikasjonsfolk for både SP-applikasjonene og </a:t>
            </a:r>
            <a:r>
              <a:rPr lang="nb-NO" dirty="0" err="1" smtClean="0"/>
              <a:t>IDP-applikasjonene</a:t>
            </a:r>
            <a:r>
              <a:rPr lang="nb-NO" dirty="0" smtClean="0"/>
              <a:t>, testfolk for å teste funksjonalitet.</a:t>
            </a:r>
          </a:p>
          <a:p>
            <a:r>
              <a:rPr lang="nb-NO" dirty="0" smtClean="0"/>
              <a:t>Sett av nok tid til spesialcaser og sære tilfeller</a:t>
            </a:r>
          </a:p>
          <a:p>
            <a:r>
              <a:rPr lang="nb-NO" dirty="0" smtClean="0"/>
              <a:t>Lag en felles prosjektplan for IDP og SP gjennom prosjektets faser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Hva skal vi overlevere?</a:t>
            </a:r>
          </a:p>
          <a:p>
            <a:endParaRPr lang="nb-NO" dirty="0" smtClean="0"/>
          </a:p>
          <a:p>
            <a:r>
              <a:rPr lang="nb-NO" dirty="0" smtClean="0"/>
              <a:t>Hvem skal vi overlevere til?</a:t>
            </a:r>
          </a:p>
          <a:p>
            <a:endParaRPr lang="nb-NO" dirty="0" smtClean="0"/>
          </a:p>
          <a:p>
            <a:r>
              <a:rPr lang="nb-NO" dirty="0" smtClean="0"/>
              <a:t>Hvordan sikre kompetansen?</a:t>
            </a:r>
          </a:p>
          <a:p>
            <a:pPr lvl="2"/>
            <a:endParaRPr lang="nb-NO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Overlevering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Anbefalinger for overlevering</a:t>
            </a:r>
            <a:endParaRPr lang="nb-NO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Sett opp tilstrekkelige prosjektaktiviteter for overlevering</a:t>
            </a:r>
          </a:p>
          <a:p>
            <a:r>
              <a:rPr lang="nb-NO" dirty="0" smtClean="0"/>
              <a:t>Anbefal omfattende opplæringsaktiviteter for både brannmurfolk, nettverksfolk, applikasjonsfolk for både SP-applikasjonene og </a:t>
            </a:r>
            <a:r>
              <a:rPr lang="nb-NO" dirty="0" err="1" smtClean="0"/>
              <a:t>IDP-applikasjonene</a:t>
            </a:r>
            <a:r>
              <a:rPr lang="nb-NO" dirty="0" smtClean="0"/>
              <a:t>, og brukere / forretningseiere.</a:t>
            </a:r>
          </a:p>
          <a:p>
            <a:r>
              <a:rPr lang="nb-NO" dirty="0" smtClean="0"/>
              <a:t>Involver om mulig applikasjonens eiere og forvaltere i prosjektet. De kommer til å lære mye verdifullt av første innføringstest.</a:t>
            </a:r>
          </a:p>
          <a:p>
            <a:r>
              <a:rPr lang="nb-NO" dirty="0" smtClean="0"/>
              <a:t>Bruk innføringstesten som en anledning til å skrive en FAQ som kan brukes av applikasjonens driftspersonell ved senere feil.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Kontaktinformasjon:</a:t>
            </a:r>
          </a:p>
          <a:p>
            <a:pPr lvl="2">
              <a:buNone/>
            </a:pPr>
            <a:endParaRPr lang="nb-NO" dirty="0" smtClean="0"/>
          </a:p>
          <a:p>
            <a:pPr lvl="2">
              <a:buNone/>
            </a:pPr>
            <a:r>
              <a:rPr lang="nb-NO" dirty="0" smtClean="0"/>
              <a:t>Ragna Fossen,</a:t>
            </a:r>
          </a:p>
          <a:p>
            <a:pPr lvl="2">
              <a:buNone/>
            </a:pPr>
            <a:r>
              <a:rPr lang="nb-NO" dirty="0" err="1" smtClean="0"/>
              <a:t>Visiti</a:t>
            </a:r>
            <a:r>
              <a:rPr lang="nb-NO" dirty="0" smtClean="0"/>
              <a:t> AS</a:t>
            </a:r>
          </a:p>
          <a:p>
            <a:pPr lvl="2">
              <a:buNone/>
            </a:pPr>
            <a:endParaRPr lang="nb-NO" dirty="0" smtClean="0"/>
          </a:p>
          <a:p>
            <a:pPr lvl="2">
              <a:buNone/>
            </a:pPr>
            <a:r>
              <a:rPr lang="nb-NO" dirty="0" smtClean="0"/>
              <a:t>E-post: 	</a:t>
            </a:r>
            <a:r>
              <a:rPr lang="nb-NO" dirty="0" err="1" smtClean="0">
                <a:hlinkClick r:id="rId3"/>
              </a:rPr>
              <a:t>ragna.fossen@gmail.com</a:t>
            </a:r>
            <a:endParaRPr lang="nb-NO" dirty="0" smtClean="0"/>
          </a:p>
          <a:p>
            <a:pPr lvl="2">
              <a:buNone/>
            </a:pPr>
            <a:r>
              <a:rPr lang="nb-NO" dirty="0" smtClean="0"/>
              <a:t>Mobil:	+47 934 12 856</a:t>
            </a:r>
          </a:p>
          <a:p>
            <a:pPr lvl="2">
              <a:buNone/>
            </a:pPr>
            <a:endParaRPr lang="nb-NO" dirty="0" smtClean="0"/>
          </a:p>
          <a:p>
            <a:pPr lvl="2">
              <a:buNone/>
            </a:pPr>
            <a:r>
              <a:rPr lang="nb-NO" dirty="0" smtClean="0"/>
              <a:t>			</a:t>
            </a:r>
            <a:r>
              <a:rPr lang="nb-NO" dirty="0" smtClean="0">
                <a:hlinkClick r:id="rId4"/>
              </a:rPr>
              <a:t>http://www.visiti.no</a:t>
            </a:r>
            <a:endParaRPr lang="nb-NO" dirty="0" smtClean="0"/>
          </a:p>
          <a:p>
            <a:pPr lvl="2">
              <a:buNone/>
            </a:pPr>
            <a:endParaRPr lang="nb-NO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Spørsmål?</a:t>
            </a:r>
            <a:endParaRPr lang="nb-NO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yrker og svakheter Identitet og Sikkerhet juni 2009">
  <a:themeElements>
    <a:clrScheme name="Visiti">
      <a:dk1>
        <a:srgbClr val="000000"/>
      </a:dk1>
      <a:lt1>
        <a:srgbClr val="FFFFFF"/>
      </a:lt1>
      <a:dk2>
        <a:srgbClr val="E75612"/>
      </a:dk2>
      <a:lt2>
        <a:srgbClr val="F2F2F2"/>
      </a:lt2>
      <a:accent1>
        <a:srgbClr val="7F7F7F"/>
      </a:accent1>
      <a:accent2>
        <a:srgbClr val="7F7F7F"/>
      </a:accent2>
      <a:accent3>
        <a:srgbClr val="7F7F7F"/>
      </a:accent3>
      <a:accent4>
        <a:srgbClr val="7F7F7F"/>
      </a:accent4>
      <a:accent5>
        <a:srgbClr val="BFBFBF"/>
      </a:accent5>
      <a:accent6>
        <a:srgbClr val="FFFFFF"/>
      </a:accent6>
      <a:hlink>
        <a:srgbClr val="E75612"/>
      </a:hlink>
      <a:folHlink>
        <a:srgbClr val="FFFFFF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5875">
          <a:solidFill>
            <a:schemeClr val="accent2"/>
          </a:solidFill>
        </a:ln>
      </a:spPr>
      <a:bodyPr wrap="square" rtlCol="0" anchor="ctr">
        <a:noAutofit/>
      </a:bodyPr>
      <a:lstStyle>
        <a:defPPr algn="ctr">
          <a:defRPr sz="1200" dirty="0" smtClean="0">
            <a:solidFill>
              <a:schemeClr val="tx1"/>
            </a:solidFill>
            <a:latin typeface="+mj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rgbClr val="B60027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lIns="72000" rIns="72000" rtlCol="0" anchor="ctr">
        <a:noAutofit/>
      </a:bodyPr>
      <a:lstStyle>
        <a:defPPr marL="180975" marR="0" indent="-180975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C00000"/>
          </a:buClr>
          <a:buSzTx/>
          <a:buFont typeface="Wingdings" pitchFamily="2" charset="2"/>
          <a:buNone/>
          <a:tabLst/>
          <a:defRPr sz="1400" dirty="0" err="1" smtClean="0">
            <a:solidFill>
              <a:schemeClr val="tx1"/>
            </a:solidFill>
            <a:latin typeface="+mn-lt"/>
          </a:defRPr>
        </a:defPPr>
      </a:lstStyle>
    </a:txDef>
  </a:objectDefaults>
  <a:extraClrSchemeLst>
    <a:extraClrScheme>
      <a:clrScheme name="Generel SI PPskabelon 1">
        <a:dk1>
          <a:srgbClr val="000000"/>
        </a:dk1>
        <a:lt1>
          <a:srgbClr val="FFFFFF"/>
        </a:lt1>
        <a:dk2>
          <a:srgbClr val="000000"/>
        </a:dk2>
        <a:lt2>
          <a:srgbClr val="D9D9D9"/>
        </a:lt2>
        <a:accent1>
          <a:srgbClr val="003388"/>
        </a:accent1>
        <a:accent2>
          <a:srgbClr val="8C8C8C"/>
        </a:accent2>
        <a:accent3>
          <a:srgbClr val="FFFFFF"/>
        </a:accent3>
        <a:accent4>
          <a:srgbClr val="000000"/>
        </a:accent4>
        <a:accent5>
          <a:srgbClr val="AAADC3"/>
        </a:accent5>
        <a:accent6>
          <a:srgbClr val="7E7E7E"/>
        </a:accent6>
        <a:hlink>
          <a:srgbClr val="4D4D4D"/>
        </a:hlink>
        <a:folHlink>
          <a:srgbClr val="AA001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Styrker og svakheter Identitet og Sikkerhet juni 2009</Template>
  <TotalTime>1676</TotalTime>
  <Words>610</Words>
  <Application>Microsoft Office PowerPoint</Application>
  <PresentationFormat>On-screen Show (4:3)</PresentationFormat>
  <Paragraphs>209</Paragraphs>
  <Slides>18</Slides>
  <Notes>17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Styrker og svakheter Identitet og Sikkerhet juni 2009</vt:lpstr>
      <vt:lpstr>Visio</vt:lpstr>
      <vt:lpstr>IAM Infrastruktur, innføring og overlevering</vt:lpstr>
      <vt:lpstr>OpenSSO User Group Norge</vt:lpstr>
      <vt:lpstr>Innhold</vt:lpstr>
      <vt:lpstr>Føderering og Single Sign-On - Hva er det?</vt:lpstr>
      <vt:lpstr>Føderering – SAML2</vt:lpstr>
      <vt:lpstr>Identity Management – hva er det?</vt:lpstr>
      <vt:lpstr>Slide 7</vt:lpstr>
      <vt:lpstr>Slide 8</vt:lpstr>
      <vt:lpstr>Infrastruktur for utvikling av en IDP</vt:lpstr>
      <vt:lpstr>Slide 10</vt:lpstr>
      <vt:lpstr>Anbefalinger for infrastruktur</vt:lpstr>
      <vt:lpstr>Innføring av fødereringsløsning for en SP</vt:lpstr>
      <vt:lpstr>Endring av fødereringsløsning for en SP</vt:lpstr>
      <vt:lpstr>Endring av fødereringsløsning for en IDP</vt:lpstr>
      <vt:lpstr>Anbefalinger for innføring og endringsinnføring</vt:lpstr>
      <vt:lpstr>Overlevering</vt:lpstr>
      <vt:lpstr>Anbefalinger for overlevering</vt:lpstr>
      <vt:lpstr>Spørsmål?</vt:lpstr>
    </vt:vector>
  </TitlesOfParts>
  <Company>Software Innovation ASA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Medarbeiderunder-søkelsen juni 2009</dc:title>
  <dc:creator>Elling Klepp</dc:creator>
  <cp:lastModifiedBy>Ragna Fossen</cp:lastModifiedBy>
  <cp:revision>50</cp:revision>
  <cp:lastPrinted>2001-02-26T18:26:52Z</cp:lastPrinted>
  <dcterms:created xsi:type="dcterms:W3CDTF">2010-03-11T22:33:41Z</dcterms:created>
  <dcterms:modified xsi:type="dcterms:W3CDTF">2010-03-19T12:48:03Z</dcterms:modified>
</cp:coreProperties>
</file>